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10c37437d14846" /><Relationship Type="http://schemas.openxmlformats.org/officeDocument/2006/relationships/extended-properties" Target="/docProps/app.xml" Id="Rd61b02a88e674fc4" /><Relationship Type="http://schemas.openxmlformats.org/officeDocument/2006/relationships/officeDocument" Target="/ppt/presentation.xml" Id="Rba60489d33d74a42" /></Relationships>
</file>

<file path=ppt/presentation.xml><?xml version="1.0" encoding="utf-8"?>
<p:presentation xmlns:p="http://schemas.openxmlformats.org/presentationml/2006/main">
  <p:sldMasterIdLst>
    <p:sldMasterId xmlns:r="http://schemas.openxmlformats.org/officeDocument/2006/relationships" id="2147483648" r:id="R854c9ff14af942d6"/>
  </p:sldMasterIdLst>
  <p:notesMasterIdLst>
    <p:notesMasterId xmlns:r="http://schemas.openxmlformats.org/officeDocument/2006/relationships" r:id="Rcf28021082e04916"/>
  </p:notesMasterIdLst>
  <p:sldIdLst>
    <p:sldId xmlns:r="http://schemas.openxmlformats.org/officeDocument/2006/relationships" id="256" r:id="Rc16c3d6e6c3a45dd"/>
    <p:sldId xmlns:r="http://schemas.openxmlformats.org/officeDocument/2006/relationships" id="257" r:id="Rae2a201b71a54b3e"/>
    <p:sldId xmlns:r="http://schemas.openxmlformats.org/officeDocument/2006/relationships" id="258" r:id="Rf51307853d7c4d75"/>
    <p:sldId xmlns:r="http://schemas.openxmlformats.org/officeDocument/2006/relationships" id="259" r:id="R48235aaf83234120"/>
    <p:sldId xmlns:r="http://schemas.openxmlformats.org/officeDocument/2006/relationships" id="260" r:id="Ra326a46ca7584f2d"/>
    <p:sldId xmlns:r="http://schemas.openxmlformats.org/officeDocument/2006/relationships" id="261" r:id="R0d9d24a5526f4e6e"/>
    <p:sldId xmlns:r="http://schemas.openxmlformats.org/officeDocument/2006/relationships" id="262" r:id="Rb41e643572244e25"/>
    <p:sldId xmlns:r="http://schemas.openxmlformats.org/officeDocument/2006/relationships" id="263" r:id="R910a459d3e8b443b"/>
    <p:sldId xmlns:r="http://schemas.openxmlformats.org/officeDocument/2006/relationships" id="264" r:id="Rcc26fe087b7240fe"/>
    <p:sldId xmlns:r="http://schemas.openxmlformats.org/officeDocument/2006/relationships" id="265" r:id="R38d1e45d7df3432f"/>
    <p:sldId xmlns:r="http://schemas.openxmlformats.org/officeDocument/2006/relationships" id="266" r:id="R379a607b029c45d1"/>
    <p:sldId xmlns:r="http://schemas.openxmlformats.org/officeDocument/2006/relationships" id="267" r:id="R3fe4a04fbd894976"/>
    <p:sldId xmlns:r="http://schemas.openxmlformats.org/officeDocument/2006/relationships" id="268" r:id="R62e91388fda441a8"/>
    <p:sldId xmlns:r="http://schemas.openxmlformats.org/officeDocument/2006/relationships" id="269" r:id="Rfdf293ba084044cc"/>
    <p:sldId xmlns:r="http://schemas.openxmlformats.org/officeDocument/2006/relationships" id="270" r:id="Rc8cce2ec62c64ccd"/>
    <p:sldId xmlns:r="http://schemas.openxmlformats.org/officeDocument/2006/relationships" id="271" r:id="R97a3fef5f1fa463f"/>
    <p:sldId xmlns:r="http://schemas.openxmlformats.org/officeDocument/2006/relationships" id="272" r:id="R9b40c968bf484fd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adfbf5173647c9" /><Relationship Type="http://schemas.openxmlformats.org/officeDocument/2006/relationships/slideMaster" Target="/ppt/slideMasters/slideMaster1.xml" Id="R854c9ff14af942d6" /><Relationship Type="http://schemas.openxmlformats.org/officeDocument/2006/relationships/notesMaster" Target="/ppt/notesMasters/notesMaster1.xml" Id="Rcf28021082e04916" /><Relationship Type="http://schemas.openxmlformats.org/officeDocument/2006/relationships/presProps" Target="/ppt/presProps.xml" Id="Rbf3ce30775d54ce7" /><Relationship Type="http://schemas.openxmlformats.org/officeDocument/2006/relationships/tableStyles" Target="/ppt/tableStyles.xml" Id="Rb67a8405ff9f4624" /><Relationship Type="http://schemas.openxmlformats.org/officeDocument/2006/relationships/slide" Target="/ppt/slides/slide1.xml" Id="Rc16c3d6e6c3a45dd" /><Relationship Type="http://schemas.openxmlformats.org/officeDocument/2006/relationships/slide" Target="/ppt/slides/slide2.xml" Id="Rae2a201b71a54b3e" /><Relationship Type="http://schemas.openxmlformats.org/officeDocument/2006/relationships/slide" Target="/ppt/slides/slide3.xml" Id="Rf51307853d7c4d75" /><Relationship Type="http://schemas.openxmlformats.org/officeDocument/2006/relationships/slide" Target="/ppt/slides/slide4.xml" Id="R48235aaf83234120" /><Relationship Type="http://schemas.openxmlformats.org/officeDocument/2006/relationships/slide" Target="/ppt/slides/slide5.xml" Id="Ra326a46ca7584f2d" /><Relationship Type="http://schemas.openxmlformats.org/officeDocument/2006/relationships/slide" Target="/ppt/slides/slide6.xml" Id="R0d9d24a5526f4e6e" /><Relationship Type="http://schemas.openxmlformats.org/officeDocument/2006/relationships/slide" Target="/ppt/slides/slide7.xml" Id="Rb41e643572244e25" /><Relationship Type="http://schemas.openxmlformats.org/officeDocument/2006/relationships/slide" Target="/ppt/slides/slide8.xml" Id="R910a459d3e8b443b" /><Relationship Type="http://schemas.openxmlformats.org/officeDocument/2006/relationships/slide" Target="/ppt/slides/slide9.xml" Id="Rcc26fe087b7240fe" /><Relationship Type="http://schemas.openxmlformats.org/officeDocument/2006/relationships/slide" Target="/ppt/slides/slide10.xml" Id="R38d1e45d7df3432f" /><Relationship Type="http://schemas.openxmlformats.org/officeDocument/2006/relationships/slide" Target="/ppt/slides/slide11.xml" Id="R379a607b029c45d1" /><Relationship Type="http://schemas.openxmlformats.org/officeDocument/2006/relationships/slide" Target="/ppt/slides/slide12.xml" Id="R3fe4a04fbd894976" /><Relationship Type="http://schemas.openxmlformats.org/officeDocument/2006/relationships/slide" Target="/ppt/slides/slide13.xml" Id="R62e91388fda441a8" /><Relationship Type="http://schemas.openxmlformats.org/officeDocument/2006/relationships/slide" Target="/ppt/slides/slide14.xml" Id="Rfdf293ba084044cc" /><Relationship Type="http://schemas.openxmlformats.org/officeDocument/2006/relationships/slide" Target="/ppt/slides/slide15.xml" Id="Rc8cce2ec62c64ccd" /><Relationship Type="http://schemas.openxmlformats.org/officeDocument/2006/relationships/slide" Target="/ppt/slides/slide16.xml" Id="R97a3fef5f1fa463f" /><Relationship Type="http://schemas.openxmlformats.org/officeDocument/2006/relationships/slide" Target="/ppt/slides/slide17.xml" Id="R9b40c968bf484f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c424ad53054c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8fb5b581c44882" /><Relationship Type="http://schemas.openxmlformats.org/officeDocument/2006/relationships/notesMaster" Target="/ppt/notesMasters/notesMaster1.xml" Id="R93080e5dc2e744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7941ac8dda46fa" /><Relationship Type="http://schemas.openxmlformats.org/officeDocument/2006/relationships/notesMaster" Target="/ppt/notesMasters/notesMaster1.xml" Id="R1ae61087307446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4097e173ee40b8" /><Relationship Type="http://schemas.openxmlformats.org/officeDocument/2006/relationships/notesMaster" Target="/ppt/notesMasters/notesMaster1.xml" Id="Rf451b3af41114c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d4c91c12904bc4" /><Relationship Type="http://schemas.openxmlformats.org/officeDocument/2006/relationships/notesMaster" Target="/ppt/notesMasters/notesMaster1.xml" Id="R28d756f977f445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700ba71ba94630" /><Relationship Type="http://schemas.openxmlformats.org/officeDocument/2006/relationships/notesMaster" Target="/ppt/notesMasters/notesMaster1.xml" Id="Rbec1c1f4f93b4d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dc3ed534554394" /><Relationship Type="http://schemas.openxmlformats.org/officeDocument/2006/relationships/notesMaster" Target="/ppt/notesMasters/notesMaster1.xml" Id="R8efaa841735447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1f74954255489a" /><Relationship Type="http://schemas.openxmlformats.org/officeDocument/2006/relationships/notesMaster" Target="/ppt/notesMasters/notesMaster1.xml" Id="R1b3efb2106c245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889e48ef5947f9" /><Relationship Type="http://schemas.openxmlformats.org/officeDocument/2006/relationships/notesMaster" Target="/ppt/notesMasters/notesMaster1.xml" Id="Rbed42c7c470143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afe7bbc00c48ae" /><Relationship Type="http://schemas.openxmlformats.org/officeDocument/2006/relationships/notesMaster" Target="/ppt/notesMasters/notesMaster1.xml" Id="Rf47fcdc5362b40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2b196c9aca4a69" /><Relationship Type="http://schemas.openxmlformats.org/officeDocument/2006/relationships/notesMaster" Target="/ppt/notesMasters/notesMaster1.xml" Id="R0887156c723445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865f2dc305479f" /><Relationship Type="http://schemas.openxmlformats.org/officeDocument/2006/relationships/notesMaster" Target="/ppt/notesMasters/notesMaster1.xml" Id="R37040d96b06943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d102611bff453c" /><Relationship Type="http://schemas.openxmlformats.org/officeDocument/2006/relationships/notesMaster" Target="/ppt/notesMasters/notesMaster1.xml" Id="Rb0a2a290fae64d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abbfe8ce7c42b7" /><Relationship Type="http://schemas.openxmlformats.org/officeDocument/2006/relationships/notesMaster" Target="/ppt/notesMasters/notesMaster1.xml" Id="Recf1e063758f4e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a0d9a24530641c8" /><Relationship Type="http://schemas.openxmlformats.org/officeDocument/2006/relationships/notesMaster" Target="/ppt/notesMasters/notesMaster1.xml" Id="R50754770d2fa4a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df224df7f2451a" /><Relationship Type="http://schemas.openxmlformats.org/officeDocument/2006/relationships/notesMaster" Target="/ppt/notesMasters/notesMaster1.xml" Id="R63faacc0ffb64a5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7b192b83b394023" /><Relationship Type="http://schemas.openxmlformats.org/officeDocument/2006/relationships/notesMaster" Target="/ppt/notesMasters/notesMaster1.xml" Id="R792693763ca14bb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46aef4bb374870" /><Relationship Type="http://schemas.openxmlformats.org/officeDocument/2006/relationships/notesMaster" Target="/ppt/notesMasters/notesMaster1.xml" Id="R019d73889f9f4d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15 seconds. Introduce the project as a research-oriented banking-behavior analysis. State that the goal is to understand patterns, not to build another fraud-prediction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 Explain that the project translates a real-world banking question into four data-science questions. Emphasize that the analytical unit is the account and that observed behavior does not reveal intent.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 Explain that Berka is a relational dataset rather than one flat file. The account table is the central analytical unit. Transactions, orders, and loans connect through account_id; cards connect through dispositions; clients and accounts connect to district information. Notebook 1 validates these key relationships before any analysis begins.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75 seconds. Notebook 1 produces transactions_clean.parquet, accounts_clients.parquet, loans_clean.parquet, and account_analytical_base.parquet. Notebook 2 produces customer_behavior_features.parquet, monthly_banking_activity.parquet, and service_association_rules.parquet. Notebook 3 produces customer_segments.parquet, segment_profiles.parquet, behavioral_outliers.parquet, plus the preprocessing, PCA, and clustering model files. Notebook 4 produces validation figures and dashboard_summary.parquet, dashboard_segments.parquet, and dashboard_outliers.parquet.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 Explain that Bronze, Silver, and Gold describe the quality and purpose of data, not separate cloud services. Bronze preserves the source snapshot. Silver contains validated relational data. Gold contains purpose-built analytical and dashboard datasets. The local folders implement the same separation that could later be deployed to cloud storage, a warehouse, or a lakehouse. FastAPI separates analytical outputs from presentation, so Angular is only one possible client.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 The transaction history grows sharply, but so does the number of observed accounts. That is why the analysis also uses per-account and per-active-account rates. Call out January's withdrawal frequency as evidence of an annual pattern without claiming a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 Explain the chronological split: train on 1993 to 1997 and test on 1998. SARIMA had the lowest MAE in this declared comparison. Then distinguish association-rule lift from causation, customer interest, or product suitability.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 Summarize the preprocessing rather than listing every feature: Yeo-Johnson transformation, standardization, and PCA for interpretation. K equals five offered the strongest tested K-means silhouette score, stable assignments, workable sizes, and understandable profiles. No single metric proves that the clusters are natural customer types.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85 seconds. Give one sentence per group: established household users have higher balances and regular services; pension-associated households show recurring inflows and household payments; high-activity multi-service users have the most activity and variety; low-service cash users show fewer observed services; high-volatility cash users show greater cash use and balance variation. Do not infer intent or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 Explain that no single outlier score was accepted on its own. The consensus rule selected 16 cases for interpretation. The purpose is to understand why an account differs from its segment, not to accuse or automatically intervene.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 The target includes only completed loans and uses only information available before loan start. Accuracy alone was misleading because the dummy model predicted no problem loans. Logistic regression gave the clearest balance of recall, F1, ranking performance, and explanation, but the sample is too small for production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 Explain the separation between analysis, API, and presentation. FastAPI reads curated Gold-layer outputs and returns JSON. Angular is the current client, but it is not coupled to the notebooks. Another application can call the same endpoints. Read the endpoint list as examples only; do not read every path aloud unless asked.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 Explain that the dashboard translates Notebook 3 outputs into original-unit measures and plain-language profiles. The segment labels summarize observed historical behavior. They are not permanent customer identities or risk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 Return to the opening question. The project found meaningful and repeatable account-behavior patterns. Forecasts may support aggregate planning, while service rules and outlier cases create questions for further study. The dataset is historical, account-based, and non-causal, so the results should not automate lending, fraud, or customer-treatment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if asked about robustness. Explain that random initialization did not materially change assignments, but preprocessing choices did. Stability is necessary evidence, not proof that the segments are permanent or naturally occurring.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if asked about errors or explainability. Describe false alarms and missed cases directly. Coefficient signs show how standardized inputs move the fitted score, but small-sample instability and correlation prevent causal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Keep available during questions. The analytical evidence comes from the four project notebooks and the Berka dataset. The listed sources support the forecasting, association-rule, and clustering-validation methods.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89c5671fe149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a33c0506b34a5d" /><Relationship Type="http://schemas.openxmlformats.org/officeDocument/2006/relationships/slideLayout" Target="/ppt/slideLayouts/slideLayout1.xml" Id="R2b761c3812824f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761c3812824f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26352ff92d4e6e" /><Relationship Type="http://schemas.openxmlformats.org/officeDocument/2006/relationships/notesSlide" Target="/ppt/notesSlides/notesSlide1.xml" Id="R16800a96cc8f45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30131d75424e4b" /><Relationship Type="http://schemas.openxmlformats.org/officeDocument/2006/relationships/notesSlide" Target="/ppt/notesSlides/notesSlide2.xml" Id="R5e1cbb58fc3241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ebe42a338d4e21" /><Relationship Type="http://schemas.openxmlformats.org/officeDocument/2006/relationships/notesSlide" Target="/ppt/notesSlides/notesSlide3.xml" Id="R6864a8286c8f43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cfc090fdd14fde" /><Relationship Type="http://schemas.openxmlformats.org/officeDocument/2006/relationships/notesSlide" Target="/ppt/notesSlides/notesSlide4.xml" Id="R6452e1f2ca2a44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c45ca5988cb430d" /><Relationship Type="http://schemas.openxmlformats.org/officeDocument/2006/relationships/notesSlide" Target="/ppt/notesSlides/notesSlide5.xml" Id="R35eb7b71613b41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912beef6ca44d4" /><Relationship Type="http://schemas.openxmlformats.org/officeDocument/2006/relationships/chart" Target="/ppt/slides/charts/chart1.xml" Id="R9dfad64941c34cfa" /><Relationship Type="http://schemas.openxmlformats.org/officeDocument/2006/relationships/notesSlide" Target="/ppt/notesSlides/notesSlide6.xml" Id="R3106503959fa41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d700156d8b4554" /><Relationship Type="http://schemas.openxmlformats.org/officeDocument/2006/relationships/chart" Target="/ppt/slides/charts/chart2.xml" Id="R589d9e58a1434371" /><Relationship Type="http://schemas.openxmlformats.org/officeDocument/2006/relationships/notesSlide" Target="/ppt/notesSlides/notesSlide7.xml" Id="R38164ea25a984c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65c4ce4f9704d23" /><Relationship Type="http://schemas.openxmlformats.org/officeDocument/2006/relationships/chart" Target="/ppt/slides/charts/chart3.xml" Id="R4ff5d21d33154d25" /><Relationship Type="http://schemas.openxmlformats.org/officeDocument/2006/relationships/notesSlide" Target="/ppt/notesSlides/notesSlide8.xml" Id="R83648e3ef7a242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edb123a6e4435f" /><Relationship Type="http://schemas.openxmlformats.org/officeDocument/2006/relationships/chart" Target="/ppt/slides/charts/chart4.xml" Id="R354b197693334e6b" /><Relationship Type="http://schemas.openxmlformats.org/officeDocument/2006/relationships/notesSlide" Target="/ppt/notesSlides/notesSlide9.xml" Id="Rb97c8b570d4e4f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56febfe12c430c" /><Relationship Type="http://schemas.openxmlformats.org/officeDocument/2006/relationships/notesSlide" Target="/ppt/notesSlides/notesSlide10.xml" Id="R15b56455aaf449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49dc87d3c5a423f" /><Relationship Type="http://schemas.openxmlformats.org/officeDocument/2006/relationships/image" Target="/ppt/media/image.png" Id="R64c3e14d63f142d0" /><Relationship Type="http://schemas.openxmlformats.org/officeDocument/2006/relationships/notesSlide" Target="/ppt/notesSlides/notesSlide11.xml" Id="Rec09445164884f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fd4b0b8378b4395" /><Relationship Type="http://schemas.openxmlformats.org/officeDocument/2006/relationships/image" Target="/ppt/media/image.jpeg" Id="R16030ca2c68e4005" /><Relationship Type="http://schemas.openxmlformats.org/officeDocument/2006/relationships/notesSlide" Target="/ppt/notesSlides/notesSlide12.xml" Id="R88e865478bcb47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a1eda294254ff5" /><Relationship Type="http://schemas.openxmlformats.org/officeDocument/2006/relationships/image" Target="/ppt/media/image2.jpeg" Id="R403b35b422d844d3" /><Relationship Type="http://schemas.openxmlformats.org/officeDocument/2006/relationships/notesSlide" Target="/ppt/notesSlides/notesSlide13.xml" Id="Rf994dbf806114b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72774bfc51b42bf" /><Relationship Type="http://schemas.openxmlformats.org/officeDocument/2006/relationships/notesSlide" Target="/ppt/notesSlides/notesSlide14.xml" Id="Rad07dcd28d814e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885953ccf1d4c6d" /><Relationship Type="http://schemas.openxmlformats.org/officeDocument/2006/relationships/image" Target="/ppt/media/image2.png" Id="R60ffccd17af1481d" /><Relationship Type="http://schemas.openxmlformats.org/officeDocument/2006/relationships/notesSlide" Target="/ppt/notesSlides/notesSlide15.xml" Id="R4ee7fd71485540d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c4fd2c97478413e" /><Relationship Type="http://schemas.openxmlformats.org/officeDocument/2006/relationships/image" Target="/ppt/media/image3.png" Id="Ra7537ea3dfbc4bb9" /><Relationship Type="http://schemas.openxmlformats.org/officeDocument/2006/relationships/notesSlide" Target="/ppt/notesSlides/notesSlide16.xml" Id="R6bf1e21aed4f484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6a899360e7b4c09" /><Relationship Type="http://schemas.openxmlformats.org/officeDocument/2006/relationships/notesSlide" Target="/ppt/notesSlides/notesSlide17.xml" Id="R825d8319740f42cd" /></Relationships>
</file>

<file path=ppt/slides/charts/chart1.xml><?xml version="1.0" encoding="utf-8"?>
<c:chartSpace xmlns:c="http://schemas.openxmlformats.org/drawingml/2006/chart">
  <c:lang val="en-US"/>
  <c:chart>
    <c:plotArea>
      <c:lineChart>
        <c:grouping val="standard"/>
        <c:varyColors val="0"/>
        <c:ser>
          <c:idx val="0"/>
          <c:order val="0"/>
          <c:tx>
            <c:v>Transactions</c:v>
          </c:tx>
          <c:spPr>
            <a:ln xmlns:a="http://schemas.openxmlformats.org/drawingml/2006/main" w="38100">
              <a:solidFill>
                <a:srgbClr val="3D8DFF"/>
              </a:solidFill>
              <a:prstDash val="solid"/>
            </a:ln>
          </c:spPr>
          <c:marker>
            <c:symbol val="circle"/>
            <c:size val="7"/>
          </c:marker>
          <c:cat>
            <c:numLit>
              <c:formatCode>General</c:formatCode>
              <c:ptCount val="6"/>
              <c:pt idx="0">
                <c:v>1993</c:v>
              </c:pt>
              <c:pt idx="1">
                <c:v>1994</c:v>
              </c:pt>
              <c:pt idx="2">
                <c:v>1995</c:v>
              </c:pt>
              <c:pt idx="3">
                <c:v>1996</c:v>
              </c:pt>
              <c:pt idx="4">
                <c:v>1997</c:v>
              </c:pt>
              <c:pt idx="5">
                <c:v>1998</c:v>
              </c:pt>
            </c:numLit>
          </c:cat>
          <c:val>
            <c:numLit>
              <c:formatCode>0,"K"</c:formatCode>
              <c:ptCount val="6"/>
              <c:pt idx="0">
                <c:v>28205</c:v>
              </c:pt>
              <c:pt idx="1">
                <c:v>91628</c:v>
              </c:pt>
              <c:pt idx="2">
                <c:v>133022</c:v>
              </c:pt>
              <c:pt idx="3">
                <c:v>196779</c:v>
              </c:pt>
              <c:pt idx="4">
                <c:v>284409</c:v>
              </c:pt>
              <c:pt idx="5">
                <c:v>322277</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CD4D1"/>
            </a:solidFill>
            <a:prstDash val="solid"/>
          </a:ln>
        </c:spPr>
        <c:txPr>
          <a:bodyPr xmlns:a="http://schemas.openxmlformats.org/drawingml/2006/main" anchorCtr="1"/>
          <a:lstStyle xmlns:a="http://schemas.openxmlformats.org/drawingml/2006/main"/>
          <a:p xmlns:a="http://schemas.openxmlformats.org/drawingml/2006/main">
            <a:pPr>
              <a:defRPr sz="975">
                <a:solidFill>
                  <a:srgbClr val="60706D"/>
                </a:solidFill>
              </a:defRPr>
            </a:pPr>
          </a:p>
        </c:txPr>
        <c:crossAx val="48672768"/>
        <c:lblAlgn val="ctr"/>
        <c:lblOffset val="100"/>
        <c:noMultiLvlLbl val="0"/>
      </c:catAx>
      <c:valAx>
        <c:axId val="48672768"/>
        <c:scaling>
          <c:orientation val="minMax"/>
          <c:max val="350000"/>
          <c:min val="0"/>
        </c:scaling>
        <c:delete val="0"/>
        <c:axPos val="l"/>
        <c:majorGridlines>
          <c:spPr>
            <a:ln xmlns:a="http://schemas.openxmlformats.org/drawingml/2006/main" w="9525">
              <a:solidFill>
                <a:srgbClr val="E5E9E7"/>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60706D"/>
                    </a:solidFill>
                  </a:rPr>
                  <a:t>Transactions</a:t>
                </a:r>
              </a:p>
            </c:rich>
          </c:tx>
          <c:txPr>
            <a:bodyPr xmlns:a="http://schemas.openxmlformats.org/drawingml/2006/main" anchorCtr="1"/>
            <a:lstStyle xmlns:a="http://schemas.openxmlformats.org/drawingml/2006/main"/>
            <a:p xmlns:a="http://schemas.openxmlformats.org/drawingml/2006/main">
              <a:pPr>
                <a:defRPr sz="975">
                  <a:solidFill>
                    <a:srgbClr val="60706D"/>
                  </a:solidFill>
                </a:defRPr>
              </a:pPr>
            </a:p>
          </c:txPr>
        </c:title>
        <c:numFmt formatCode="0,&quot;K&quot;"/>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00">
                <a:solidFill>
                  <a:srgbClr val="60706D"/>
                </a:solidFill>
              </a:defRPr>
            </a:pPr>
          </a:p>
        </c:txPr>
        <c:crossAx val="48650112"/>
        <c:crossBetween val="between"/>
        <c:majorUnit val="5000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MAE</c:v>
          </c:tx>
          <c:spPr>
            <a:solidFill xmlns:a="http://schemas.openxmlformats.org/drawingml/2006/main">
              <a:srgbClr val="A8DDF4"/>
            </a:solidFill>
          </c:spPr>
          <c:dPt>
            <c:idx val="0"/>
            <c:spPr>
              <a:solidFill xmlns:a="http://schemas.openxmlformats.org/drawingml/2006/main">
                <a:srgbClr val="3D8DFF"/>
              </a:solidFill>
            </c:spPr>
          </c:dPt>
          <c:dPt>
            <c:idx val="1"/>
            <c:spPr>
              <a:solidFill xmlns:a="http://schemas.openxmlformats.org/drawingml/2006/main">
                <a:srgbClr val="A8DDF4"/>
              </a:solidFill>
            </c:spPr>
          </c:dPt>
          <c:dPt>
            <c:idx val="2"/>
            <c:spPr>
              <a:solidFill xmlns:a="http://schemas.openxmlformats.org/drawingml/2006/main">
                <a:srgbClr val="A8DDF4"/>
              </a:solidFill>
            </c:spPr>
          </c:dPt>
          <c:cat>
            <c:strLit>
              <c:ptCount val="3"/>
              <c:pt idx="0">
                <c:v>SARIMA</c:v>
              </c:pt>
              <c:pt idx="1">
                <c:v>Last-value</c:v>
              </c:pt>
              <c:pt idx="2">
                <c:v>Seasonal</c:v>
              </c:pt>
            </c:strLit>
          </c:cat>
          <c:val>
            <c:numLit>
              <c:formatCode>General</c:formatCode>
              <c:ptCount val="3"/>
              <c:pt idx="0">
                <c:v>2321</c:v>
              </c:pt>
              <c:pt idx="1">
                <c:v>3858</c:v>
              </c:pt>
              <c:pt idx="2">
                <c:v>3942</c:v>
              </c:pt>
            </c:numLit>
          </c:val>
        </c:ser>
        <c:dLbls>
          <c:txPr>
            <a:bodyPr xmlns:a="http://schemas.openxmlformats.org/drawingml/2006/main" anchorCtr="1"/>
            <a:lstStyle xmlns:a="http://schemas.openxmlformats.org/drawingml/2006/main"/>
            <a:p xmlns:a="http://schemas.openxmlformats.org/drawingml/2006/main">
              <a:pPr>
                <a:defRPr sz="975" b="1">
                  <a:solidFill>
                    <a:srgbClr val="101820"/>
                  </a:solidFill>
                </a:defRPr>
              </a:pPr>
            </a:p>
          </c:txPr>
          <c:dLblPos val="outEnd"/>
          <c:showLegendKey val="0"/>
          <c:showVal val="1"/>
          <c:showCatName val="0"/>
          <c:showSerName val="0"/>
          <c:showPercent val="0"/>
          <c:showBubbleSize val="0"/>
          <c:showLeaderLines val="0"/>
        </c:dLbls>
        <c:gapWidth val="7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4D1"/>
            </a:solidFill>
            <a:prstDash val="solid"/>
          </a:ln>
        </c:spPr>
        <c:txPr>
          <a:bodyPr xmlns:a="http://schemas.openxmlformats.org/drawingml/2006/main" anchorCtr="1"/>
          <a:lstStyle xmlns:a="http://schemas.openxmlformats.org/drawingml/2006/main"/>
          <a:p xmlns:a="http://schemas.openxmlformats.org/drawingml/2006/main">
            <a:pPr>
              <a:defRPr sz="900">
                <a:solidFill>
                  <a:srgbClr val="60706D"/>
                </a:solidFill>
              </a:defRPr>
            </a:pPr>
          </a:p>
        </c:txPr>
        <c:crossAx val="48672768"/>
        <c:lblAlgn val="ctr"/>
        <c:lblOffset val="100"/>
        <c:noMultiLvlLbl val="0"/>
      </c:catAx>
      <c:valAx>
        <c:axId val="48672768"/>
        <c:scaling>
          <c:orientation val="minMax"/>
          <c:max val="5000"/>
          <c:min val="0"/>
        </c:scaling>
        <c:delete val="0"/>
        <c:axPos val="l"/>
        <c:majorGridlines>
          <c:spPr>
            <a:ln xmlns:a="http://schemas.openxmlformats.org/drawingml/2006/main" w="9525">
              <a:solidFill>
                <a:srgbClr val="E5E9E7"/>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60706D"/>
                </a:solidFill>
              </a:defRPr>
            </a:pPr>
          </a:p>
        </c:txPr>
        <c:crossAx val="48650112"/>
        <c:crossBetween val="between"/>
        <c:majorUnit val="100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Silhouette</c:v>
          </c:tx>
          <c:spPr>
            <a:solidFill xmlns:a="http://schemas.openxmlformats.org/drawingml/2006/main">
              <a:srgbClr val="A8DDF4"/>
            </a:solidFill>
          </c:spPr>
          <c:dPt>
            <c:idx val="0"/>
            <c:spPr>
              <a:solidFill xmlns:a="http://schemas.openxmlformats.org/drawingml/2006/main">
                <a:srgbClr val="A8DDF4"/>
              </a:solidFill>
            </c:spPr>
          </c:dPt>
          <c:dPt>
            <c:idx val="1"/>
            <c:spPr>
              <a:solidFill xmlns:a="http://schemas.openxmlformats.org/drawingml/2006/main">
                <a:srgbClr val="A8DDF4"/>
              </a:solidFill>
            </c:spPr>
          </c:dPt>
          <c:dPt>
            <c:idx val="2"/>
            <c:spPr>
              <a:solidFill xmlns:a="http://schemas.openxmlformats.org/drawingml/2006/main">
                <a:srgbClr val="A8DDF4"/>
              </a:solidFill>
            </c:spPr>
          </c:dPt>
          <c:dPt>
            <c:idx val="3"/>
            <c:spPr>
              <a:solidFill xmlns:a="http://schemas.openxmlformats.org/drawingml/2006/main">
                <a:srgbClr val="3D8DFF"/>
              </a:solidFill>
            </c:spPr>
          </c:dPt>
          <c:dPt>
            <c:idx val="4"/>
            <c:spPr>
              <a:solidFill xmlns:a="http://schemas.openxmlformats.org/drawingml/2006/main">
                <a:srgbClr val="A8DDF4"/>
              </a:solidFill>
            </c:spPr>
          </c:dPt>
          <c:dPt>
            <c:idx val="5"/>
            <c:spPr>
              <a:solidFill xmlns:a="http://schemas.openxmlformats.org/drawingml/2006/main">
                <a:srgbClr val="A8DDF4"/>
              </a:solidFill>
            </c:spPr>
          </c:dPt>
          <c:dPt>
            <c:idx val="6"/>
            <c:spPr>
              <a:solidFill xmlns:a="http://schemas.openxmlformats.org/drawingml/2006/main">
                <a:srgbClr val="A8DDF4"/>
              </a:solidFill>
            </c:spPr>
          </c:dPt>
          <c:cat>
            <c:numLit>
              <c:formatCode>General</c:formatCode>
              <c:ptCount val="7"/>
              <c:pt idx="0">
                <c:v>2</c:v>
              </c:pt>
              <c:pt idx="1">
                <c:v>3</c:v>
              </c:pt>
              <c:pt idx="2">
                <c:v>4</c:v>
              </c:pt>
              <c:pt idx="3">
                <c:v>5</c:v>
              </c:pt>
              <c:pt idx="4">
                <c:v>6</c:v>
              </c:pt>
              <c:pt idx="5">
                <c:v>7</c:v>
              </c:pt>
              <c:pt idx="6">
                <c:v>8</c:v>
              </c:pt>
            </c:numLit>
          </c:cat>
          <c:val>
            <c:numLit>
              <c:formatCode>0.000</c:formatCode>
              <c:ptCount val="7"/>
              <c:pt idx="0">
                <c:v>0.235</c:v>
              </c:pt>
              <c:pt idx="1">
                <c:v>0.262</c:v>
              </c:pt>
              <c:pt idx="2">
                <c:v>0.291</c:v>
              </c:pt>
              <c:pt idx="3">
                <c:v>0.304</c:v>
              </c:pt>
              <c:pt idx="4">
                <c:v>0.264</c:v>
              </c:pt>
              <c:pt idx="5">
                <c:v>0.271</c:v>
              </c:pt>
              <c:pt idx="6">
                <c:v>0.261</c:v>
              </c:pt>
            </c:numLit>
          </c:val>
        </c:ser>
        <c:dLbls>
          <c:txPr>
            <a:bodyPr xmlns:a="http://schemas.openxmlformats.org/drawingml/2006/main" anchorCtr="1"/>
            <a:lstStyle xmlns:a="http://schemas.openxmlformats.org/drawingml/2006/main"/>
            <a:p xmlns:a="http://schemas.openxmlformats.org/drawingml/2006/main">
              <a:pPr>
                <a:defRPr sz="825" b="1">
                  <a:solidFill>
                    <a:srgbClr val="101820"/>
                  </a:solidFil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60706D"/>
                    </a:solidFill>
                  </a:rPr>
                  <a:t>Number of clusters</a:t>
                </a:r>
              </a:p>
            </c:rich>
          </c:tx>
          <c:txPr>
            <a:bodyPr xmlns:a="http://schemas.openxmlformats.org/drawingml/2006/main" anchorCtr="1"/>
            <a:lstStyle xmlns:a="http://schemas.openxmlformats.org/drawingml/2006/main"/>
            <a:p xmlns:a="http://schemas.openxmlformats.org/drawingml/2006/main">
              <a:pPr>
                <a:defRPr sz="900">
                  <a:solidFill>
                    <a:srgbClr val="60706D"/>
                  </a:solidFill>
                </a:defRPr>
              </a:pPr>
            </a:p>
          </c:txPr>
        </c:title>
        <c:numFmt formatCode="General"/>
        <c:majorTickMark val="none"/>
        <c:minorTickMark val="none"/>
        <c:spPr>
          <a:ln xmlns:a="http://schemas.openxmlformats.org/drawingml/2006/main" w="9525">
            <a:solidFill>
              <a:srgbClr val="CCD4D1"/>
            </a:solidFill>
            <a:prstDash val="solid"/>
          </a:ln>
        </c:spPr>
        <c:txPr>
          <a:bodyPr xmlns:a="http://schemas.openxmlformats.org/drawingml/2006/main" anchorCtr="1"/>
          <a:lstStyle xmlns:a="http://schemas.openxmlformats.org/drawingml/2006/main"/>
          <a:p xmlns:a="http://schemas.openxmlformats.org/drawingml/2006/main">
            <a:pPr>
              <a:defRPr sz="900">
                <a:solidFill>
                  <a:srgbClr val="60706D"/>
                </a:solidFill>
              </a:defRPr>
            </a:pPr>
          </a:p>
        </c:txPr>
        <c:crossAx val="48672768"/>
        <c:lblAlgn val="ctr"/>
        <c:lblOffset val="100"/>
        <c:noMultiLvlLbl val="0"/>
      </c:catAx>
      <c:valAx>
        <c:axId val="48672768"/>
        <c:scaling>
          <c:orientation val="minMax"/>
          <c:max val="0.35"/>
          <c:min val="0"/>
        </c:scaling>
        <c:delete val="0"/>
        <c:axPos val="l"/>
        <c:majorGridlines>
          <c:spPr>
            <a:ln xmlns:a="http://schemas.openxmlformats.org/drawingml/2006/main" w="9525">
              <a:solidFill>
                <a:srgbClr val="E5E9E7"/>
              </a:solidFill>
              <a:prstDash val="solid"/>
            </a:ln>
          </c:spPr>
        </c:majorGridlines>
        <c:numFmt formatCode="0.00"/>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60706D"/>
                </a:solidFill>
              </a:defRPr>
            </a:pPr>
          </a:p>
        </c:txPr>
        <c:crossAx val="48650112"/>
        <c:crossBetween val="between"/>
        <c:majorUnit val="0.05"/>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Accounts</c:v>
          </c:tx>
          <c:spPr>
            <a:solidFill xmlns:a="http://schemas.openxmlformats.org/drawingml/2006/main">
              <a:srgbClr val="3D8DFF"/>
            </a:solidFill>
          </c:spPr>
          <c:dPt>
            <c:idx val="0"/>
            <c:spPr>
              <a:solidFill xmlns:a="http://schemas.openxmlformats.org/drawingml/2006/main">
                <a:srgbClr val="E36A54"/>
              </a:solidFill>
            </c:spPr>
          </c:dPt>
          <c:dPt>
            <c:idx val="1"/>
            <c:spPr>
              <a:solidFill xmlns:a="http://schemas.openxmlformats.org/drawingml/2006/main">
                <a:srgbClr val="8D6BB3"/>
              </a:solidFill>
            </c:spPr>
          </c:dPt>
          <c:dPt>
            <c:idx val="2"/>
            <c:spPr>
              <a:solidFill xmlns:a="http://schemas.openxmlformats.org/drawingml/2006/main">
                <a:srgbClr val="DDAA32"/>
              </a:solidFill>
            </c:spPr>
          </c:dPt>
          <c:dPt>
            <c:idx val="3"/>
            <c:spPr>
              <a:solidFill xmlns:a="http://schemas.openxmlformats.org/drawingml/2006/main">
                <a:srgbClr val="20A894"/>
              </a:solidFill>
            </c:spPr>
          </c:dPt>
          <c:dPt>
            <c:idx val="4"/>
            <c:spPr>
              <a:solidFill xmlns:a="http://schemas.openxmlformats.org/drawingml/2006/main">
                <a:srgbClr val="3D8DFF"/>
              </a:solidFill>
            </c:spPr>
          </c:dPt>
          <c:cat>
            <c:strLit>
              <c:ptCount val="5"/>
              <c:pt idx="0">
                <c:v>High-volatility cash</c:v>
              </c:pt>
              <c:pt idx="1">
                <c:v>Low-service cash</c:v>
              </c:pt>
              <c:pt idx="2">
                <c:v>High-activity multi-service</c:v>
              </c:pt>
              <c:pt idx="3">
                <c:v>Pension-associated</c:v>
              </c:pt>
              <c:pt idx="4">
                <c:v>Established household</c:v>
              </c:pt>
            </c:strLit>
          </c:cat>
          <c:val>
            <c:numLit>
              <c:formatCode>General</c:formatCode>
              <c:ptCount val="5"/>
              <c:pt idx="0">
                <c:v>251</c:v>
              </c:pt>
              <c:pt idx="1">
                <c:v>587</c:v>
              </c:pt>
              <c:pt idx="2">
                <c:v>838</c:v>
              </c:pt>
              <c:pt idx="3">
                <c:v>1305</c:v>
              </c:pt>
              <c:pt idx="4">
                <c:v>1519</c:v>
              </c:pt>
            </c:numLit>
          </c:val>
        </c:ser>
        <c:dLbls>
          <c:txPr>
            <a:bodyPr xmlns:a="http://schemas.openxmlformats.org/drawingml/2006/main" anchorCtr="1"/>
            <a:lstStyle xmlns:a="http://schemas.openxmlformats.org/drawingml/2006/main"/>
            <a:p xmlns:a="http://schemas.openxmlformats.org/drawingml/2006/main">
              <a:pPr>
                <a:defRPr sz="975" b="1">
                  <a:solidFill>
                    <a:srgbClr val="101820"/>
                  </a:solidFill>
                </a:defRPr>
              </a:pPr>
            </a:p>
          </c:txPr>
          <c:dLblPos val="outEnd"/>
          <c:showLegendKey val="0"/>
          <c:showVal val="1"/>
          <c:showCatName val="0"/>
          <c:showSerName val="0"/>
          <c:showPercent val="0"/>
          <c:showBubbleSize val="0"/>
          <c:showLeaderLines val="0"/>
        </c:dLbls>
        <c:gapWidth val="52"/>
        <c:axId val="48650112"/>
        <c:axId val="48672768"/>
      </c:barChart>
      <c:catAx>
        <c:axId val="48650112"/>
        <c:scaling>
          <c:orientation val="minMax"/>
        </c:scaling>
        <c:delete val="0"/>
        <c:axPos val="l"/>
        <c:majorGridlines>
          <c:spPr>
            <a:ln xmlns:a="http://schemas.openxmlformats.org/drawingml/2006/main" w="9525">
              <a:solidFill>
                <a:srgbClr val="E5E9E7"/>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60706D"/>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CCD4D1"/>
            </a:solidFill>
            <a:prstDash val="solid"/>
          </a:ln>
        </c:spPr>
        <c:txPr>
          <a:bodyPr xmlns:a="http://schemas.openxmlformats.org/drawingml/2006/main" anchorCtr="1"/>
          <a:lstStyle xmlns:a="http://schemas.openxmlformats.org/drawingml/2006/main"/>
          <a:p xmlns:a="http://schemas.openxmlformats.org/drawingml/2006/main">
            <a:pPr>
              <a:defRPr sz="900">
                <a:solidFill>
                  <a:srgbClr val="101820"/>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451EAE-849C-48C7-B1E0-09C9BDDA6FA9}"/>
              </a:ext>
            </a:extLst>
          </p:cNvPr>
          <p:cNvSpPr>
            <a:spLocks xmlns:a="http://schemas.openxmlformats.org/drawingml/2006/main" noGrp="1"/>
          </p:cNvSpPr>
          <p:nvPr/>
        </p:nvSpPr>
        <p:spPr>
          <a:xfrm xmlns:a="http://schemas.openxmlformats.org/drawingml/2006/main">
            <a:off x="400050" y="381000"/>
            <a:ext cx="72390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20A894"/>
                </a:solidFill>
                <a:latin typeface="Helvetica Neue"/>
                <a:ea typeface="Helvetica Neue"/>
                <a:cs typeface="Helvetica Neue"/>
              </a:defRPr>
            </a:pPr>
            <a:r>
              <a:t>MIA 5126  •  ESSENTIAL CONCEPTS IN DATA SCIENCE</a:t>
            </a:r>
          </a:p>
        </p:txBody>
      </p:sp>
      <p:sp>
        <p:nvSpPr>
          <p:cNvPr id="2" name="">
            <a:extLst xmlns:a="http://schemas.openxmlformats.org/drawingml/2006/main">
              <a:ext uri="{FF2B5EF4-FFF2-40B4-BE49-F238E27FC236}">
                <a16:creationId xmlns:a16="http://schemas.microsoft.com/office/drawing/2014/main" id="{9EA02E54-48D4-471E-8967-448C24B68774}"/>
              </a:ext>
            </a:extLst>
          </p:cNvPr>
          <p:cNvSpPr>
            <a:spLocks xmlns:a="http://schemas.openxmlformats.org/drawingml/2006/main" noGrp="1"/>
          </p:cNvSpPr>
          <p:nvPr/>
        </p:nvSpPr>
        <p:spPr>
          <a:xfrm xmlns:a="http://schemas.openxmlformats.org/drawingml/2006/main">
            <a:off x="400050" y="1123950"/>
            <a:ext cx="161925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 name="">
            <a:extLst xmlns:a="http://schemas.openxmlformats.org/drawingml/2006/main">
              <a:ext uri="{FF2B5EF4-FFF2-40B4-BE49-F238E27FC236}">
                <a16:creationId xmlns:a16="http://schemas.microsoft.com/office/drawing/2014/main" id="{E8D24394-1DCA-413C-B861-532F5426A8BC}"/>
              </a:ext>
            </a:extLst>
          </p:cNvPr>
          <p:cNvSpPr>
            <a:spLocks xmlns:a="http://schemas.openxmlformats.org/drawingml/2006/main" noGrp="1"/>
          </p:cNvSpPr>
          <p:nvPr/>
        </p:nvSpPr>
        <p:spPr>
          <a:xfrm xmlns:a="http://schemas.openxmlformats.org/drawingml/2006/main">
            <a:off x="400050" y="1600200"/>
            <a:ext cx="10287000" cy="23812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5100" b="1" i="0">
                <a:solidFill>
                  <a:srgbClr val="101820"/>
                </a:solidFill>
                <a:latin typeface="Helvetica Neue"/>
                <a:ea typeface="Helvetica Neue"/>
                <a:cs typeface="Helvetica Neue"/>
              </a:defRPr>
            </a:pPr>
            <a:r>
              <a:t>Transaction Intelligence:
Customer Segmentation and Behavioral Analytics</a:t>
            </a:r>
          </a:p>
        </p:txBody>
      </p:sp>
      <p:sp>
        <p:nvSpPr>
          <p:cNvPr id="4" name="">
            <a:extLst xmlns:a="http://schemas.openxmlformats.org/drawingml/2006/main">
              <a:ext uri="{FF2B5EF4-FFF2-40B4-BE49-F238E27FC236}">
                <a16:creationId xmlns:a16="http://schemas.microsoft.com/office/drawing/2014/main" id="{D82474D3-BA30-4AB0-BDD2-FE509C925526}"/>
              </a:ext>
            </a:extLst>
          </p:cNvPr>
          <p:cNvSpPr>
            <a:spLocks xmlns:a="http://schemas.openxmlformats.org/drawingml/2006/main" noGrp="1"/>
          </p:cNvSpPr>
          <p:nvPr/>
        </p:nvSpPr>
        <p:spPr>
          <a:xfrm xmlns:a="http://schemas.openxmlformats.org/drawingml/2006/main">
            <a:off x="400050" y="4457700"/>
            <a:ext cx="933450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60706D"/>
                </a:solidFill>
                <a:latin typeface="Helvetica Neue"/>
                <a:ea typeface="Helvetica Neue"/>
                <a:cs typeface="Helvetica Neue"/>
              </a:defRPr>
            </a:pPr>
            <a:r>
              <a:t>A research-oriented analysis of the Berka / PKDD'99 Financial Dataset</a:t>
            </a:r>
          </a:p>
        </p:txBody>
      </p:sp>
      <p:sp>
        <p:nvSpPr>
          <p:cNvPr id="5" name="">
            <a:extLst xmlns:a="http://schemas.openxmlformats.org/drawingml/2006/main">
              <a:ext uri="{FF2B5EF4-FFF2-40B4-BE49-F238E27FC236}">
                <a16:creationId xmlns:a16="http://schemas.microsoft.com/office/drawing/2014/main" id="{B71B8D2A-2EBB-4BA0-AD61-74D081783B29}"/>
              </a:ext>
            </a:extLst>
          </p:cNvPr>
          <p:cNvSpPr>
            <a:spLocks xmlns:a="http://schemas.openxmlformats.org/drawingml/2006/main" noGrp="1"/>
          </p:cNvSpPr>
          <p:nvPr/>
        </p:nvSpPr>
        <p:spPr>
          <a:xfrm xmlns:a="http://schemas.openxmlformats.org/drawingml/2006/main">
            <a:off x="400050" y="5391150"/>
            <a:ext cx="28575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101820"/>
                </a:solidFill>
                <a:latin typeface="Helvetica Neue"/>
                <a:ea typeface="Helvetica Neue"/>
                <a:cs typeface="Helvetica Neue"/>
              </a:defRPr>
            </a:pPr>
            <a:r>
              <a:t>Antonio Sosa</a:t>
            </a:r>
          </a:p>
        </p:txBody>
      </p:sp>
      <p:sp>
        <p:nvSpPr>
          <p:cNvPr id="6" name="">
            <a:extLst xmlns:a="http://schemas.openxmlformats.org/drawingml/2006/main">
              <a:ext uri="{FF2B5EF4-FFF2-40B4-BE49-F238E27FC236}">
                <a16:creationId xmlns:a16="http://schemas.microsoft.com/office/drawing/2014/main" id="{4F33ED89-692F-4BAA-9ADB-82BB76EE15B8}"/>
              </a:ext>
            </a:extLst>
          </p:cNvPr>
          <p:cNvSpPr>
            <a:spLocks xmlns:a="http://schemas.openxmlformats.org/drawingml/2006/main" noGrp="1"/>
          </p:cNvSpPr>
          <p:nvPr/>
        </p:nvSpPr>
        <p:spPr>
          <a:xfrm xmlns:a="http://schemas.openxmlformats.org/drawingml/2006/main">
            <a:off x="400050" y="5753100"/>
            <a:ext cx="72390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0706D"/>
                </a:solidFill>
                <a:latin typeface="Helvetica Neue"/>
                <a:ea typeface="Helvetica Neue"/>
                <a:cs typeface="Helvetica Neue"/>
              </a:defRPr>
            </a:pPr>
            <a:r>
              <a:t>University of Ottawa  •  Professor Dr. Olubisi Runsewe</a:t>
            </a:r>
          </a:p>
        </p:txBody>
      </p:sp>
    </p:spTree>
    <p:extLst>
      <p:ext uri="{BB962C8B-B14F-4D97-AF65-F5344CB8AC3E}">
        <p14:creationId xmlns:p14="http://schemas.microsoft.com/office/powerpoint/2010/main" val="5020731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41852ED-C9BC-40CA-9741-29279B18CBE4}"/>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99337"/>
          </a:bodyPr>
          <a:lstStyle xmlns:a="http://schemas.openxmlformats.org/drawingml/2006/main"/>
          <a:p xmlns:a="http://schemas.openxmlformats.org/drawingml/2006/main">
            <a:pPr algn="l">
              <a:defRPr sz="3300" b="1" i="0">
                <a:solidFill>
                  <a:srgbClr val="101820"/>
                </a:solidFill>
                <a:latin typeface="Helvetica Neue"/>
                <a:ea typeface="Helvetica Neue"/>
                <a:cs typeface="Helvetica Neue"/>
              </a:defRPr>
            </a:pPr>
            <a:r>
              <a:t>The project focuses on understanding customer behavior</a:t>
            </a:r>
          </a:p>
        </p:txBody>
      </p:sp>
      <p:sp>
        <p:nvSpPr>
          <p:cNvPr id="2" name="">
            <a:extLst xmlns:a="http://schemas.openxmlformats.org/drawingml/2006/main">
              <a:ext uri="{FF2B5EF4-FFF2-40B4-BE49-F238E27FC236}">
                <a16:creationId xmlns:a16="http://schemas.microsoft.com/office/drawing/2014/main" id="{D60FAE35-80A6-4A97-89C3-48A91E0B4F97}"/>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Project form: research-oriented Finance &amp; Risk Analytics.</a:t>
            </a:r>
          </a:p>
        </p:txBody>
      </p:sp>
      <p:sp>
        <p:nvSpPr>
          <p:cNvPr id="3" name="">
            <a:extLst xmlns:a="http://schemas.openxmlformats.org/drawingml/2006/main">
              <a:ext uri="{FF2B5EF4-FFF2-40B4-BE49-F238E27FC236}">
                <a16:creationId xmlns:a16="http://schemas.microsoft.com/office/drawing/2014/main" id="{F1707454-5CC5-47BB-ABD1-E1AC8FBFF63A}"/>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2</a:t>
            </a:r>
          </a:p>
        </p:txBody>
      </p:sp>
      <p:sp>
        <p:nvSpPr>
          <p:cNvPr id="4" name="">
            <a:extLst xmlns:a="http://schemas.openxmlformats.org/drawingml/2006/main">
              <a:ext uri="{FF2B5EF4-FFF2-40B4-BE49-F238E27FC236}">
                <a16:creationId xmlns:a16="http://schemas.microsoft.com/office/drawing/2014/main" id="{383B0C55-54F9-40B8-95FC-5B2F4FADD5C2}"/>
              </a:ext>
            </a:extLst>
          </p:cNvPr>
          <p:cNvSpPr>
            <a:spLocks xmlns:a="http://schemas.openxmlformats.org/drawingml/2006/main" noGrp="1"/>
          </p:cNvSpPr>
          <p:nvPr/>
        </p:nvSpPr>
        <p:spPr>
          <a:xfrm xmlns:a="http://schemas.openxmlformats.org/drawingml/2006/main">
            <a:off x="400050" y="1790700"/>
            <a:ext cx="3905250" cy="25717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i="0">
                <a:solidFill>
                  <a:srgbClr val="101820"/>
                </a:solidFill>
                <a:latin typeface="Helvetica Neue"/>
                <a:ea typeface="Helvetica Neue"/>
                <a:cs typeface="Helvetica Neue"/>
              </a:defRPr>
            </a:pPr>
            <a:r>
              <a:t>How can historical account activity reveal useful customer-behavior patterns?</a:t>
            </a:r>
          </a:p>
        </p:txBody>
      </p:sp>
      <p:sp>
        <p:nvSpPr>
          <p:cNvPr id="5" name="">
            <a:extLst xmlns:a="http://schemas.openxmlformats.org/drawingml/2006/main">
              <a:ext uri="{FF2B5EF4-FFF2-40B4-BE49-F238E27FC236}">
                <a16:creationId xmlns:a16="http://schemas.microsoft.com/office/drawing/2014/main" id="{7F23937C-B9B0-4798-A1F8-5AA675BAF4DD}"/>
              </a:ext>
            </a:extLst>
          </p:cNvPr>
          <p:cNvSpPr>
            <a:spLocks xmlns:a="http://schemas.openxmlformats.org/drawingml/2006/main" noGrp="1"/>
          </p:cNvSpPr>
          <p:nvPr/>
        </p:nvSpPr>
        <p:spPr>
          <a:xfrm xmlns:a="http://schemas.openxmlformats.org/drawingml/2006/main">
            <a:off x="4762500" y="1581150"/>
            <a:ext cx="9525" cy="4095750"/>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6" name="">
            <a:extLst xmlns:a="http://schemas.openxmlformats.org/drawingml/2006/main">
              <a:ext uri="{FF2B5EF4-FFF2-40B4-BE49-F238E27FC236}">
                <a16:creationId xmlns:a16="http://schemas.microsoft.com/office/drawing/2014/main" id="{FE908136-4CAE-4F87-B69F-A372D49C8A8E}"/>
              </a:ext>
            </a:extLst>
          </p:cNvPr>
          <p:cNvSpPr>
            <a:spLocks xmlns:a="http://schemas.openxmlformats.org/drawingml/2006/main" noGrp="1"/>
          </p:cNvSpPr>
          <p:nvPr/>
        </p:nvSpPr>
        <p:spPr>
          <a:xfrm xmlns:a="http://schemas.openxmlformats.org/drawingml/2006/main">
            <a:off x="5181600" y="1600200"/>
            <a:ext cx="1714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t>BEHAVIOR</a:t>
            </a:r>
          </a:p>
        </p:txBody>
      </p:sp>
      <p:sp>
        <p:nvSpPr>
          <p:cNvPr id="7" name="">
            <a:extLst xmlns:a="http://schemas.openxmlformats.org/drawingml/2006/main">
              <a:ext uri="{FF2B5EF4-FFF2-40B4-BE49-F238E27FC236}">
                <a16:creationId xmlns:a16="http://schemas.microsoft.com/office/drawing/2014/main" id="{7DA77BCE-4B20-4199-8DFD-8451A32A4D57}"/>
              </a:ext>
            </a:extLst>
          </p:cNvPr>
          <p:cNvSpPr>
            <a:spLocks xmlns:a="http://schemas.openxmlformats.org/drawingml/2006/main" noGrp="1"/>
          </p:cNvSpPr>
          <p:nvPr/>
        </p:nvSpPr>
        <p:spPr>
          <a:xfrm xmlns:a="http://schemas.openxmlformats.org/drawingml/2006/main">
            <a:off x="6991350" y="1581150"/>
            <a:ext cx="47625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101820"/>
                </a:solidFill>
                <a:latin typeface="Helvetica Neue"/>
                <a:ea typeface="Helvetica Neue"/>
                <a:cs typeface="Helvetica Neue"/>
              </a:defRPr>
            </a:pPr>
            <a:r>
              <a:t>What activity, cash-flow, balance, and service patterns are present?</a:t>
            </a:r>
          </a:p>
        </p:txBody>
      </p:sp>
      <p:sp>
        <p:nvSpPr>
          <p:cNvPr id="8" name="">
            <a:extLst xmlns:a="http://schemas.openxmlformats.org/drawingml/2006/main">
              <a:ext uri="{FF2B5EF4-FFF2-40B4-BE49-F238E27FC236}">
                <a16:creationId xmlns:a16="http://schemas.microsoft.com/office/drawing/2014/main" id="{E16CA809-01AF-4406-809C-CB856142CDF6}"/>
              </a:ext>
            </a:extLst>
          </p:cNvPr>
          <p:cNvSpPr>
            <a:spLocks xmlns:a="http://schemas.openxmlformats.org/drawingml/2006/main" noGrp="1"/>
          </p:cNvSpPr>
          <p:nvPr/>
        </p:nvSpPr>
        <p:spPr>
          <a:xfrm xmlns:a="http://schemas.openxmlformats.org/drawingml/2006/main">
            <a:off x="5181600" y="2381250"/>
            <a:ext cx="6572250" cy="952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9" name="">
            <a:extLst xmlns:a="http://schemas.openxmlformats.org/drawingml/2006/main">
              <a:ext uri="{FF2B5EF4-FFF2-40B4-BE49-F238E27FC236}">
                <a16:creationId xmlns:a16="http://schemas.microsoft.com/office/drawing/2014/main" id="{B6B960B1-55B4-4ED6-926F-6959B0BD8080}"/>
              </a:ext>
            </a:extLst>
          </p:cNvPr>
          <p:cNvSpPr>
            <a:spLocks xmlns:a="http://schemas.openxmlformats.org/drawingml/2006/main" noGrp="1"/>
          </p:cNvSpPr>
          <p:nvPr/>
        </p:nvSpPr>
        <p:spPr>
          <a:xfrm xmlns:a="http://schemas.openxmlformats.org/drawingml/2006/main">
            <a:off x="5181600" y="2667000"/>
            <a:ext cx="1714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t>TIME</a:t>
            </a:r>
          </a:p>
        </p:txBody>
      </p:sp>
      <p:sp>
        <p:nvSpPr>
          <p:cNvPr id="10" name="">
            <a:extLst xmlns:a="http://schemas.openxmlformats.org/drawingml/2006/main">
              <a:ext uri="{FF2B5EF4-FFF2-40B4-BE49-F238E27FC236}">
                <a16:creationId xmlns:a16="http://schemas.microsoft.com/office/drawing/2014/main" id="{C40B2491-441F-4369-A542-2A610CDE4F8F}"/>
              </a:ext>
            </a:extLst>
          </p:cNvPr>
          <p:cNvSpPr>
            <a:spLocks xmlns:a="http://schemas.openxmlformats.org/drawingml/2006/main" noGrp="1"/>
          </p:cNvSpPr>
          <p:nvPr/>
        </p:nvSpPr>
        <p:spPr>
          <a:xfrm xmlns:a="http://schemas.openxmlformats.org/drawingml/2006/main">
            <a:off x="6991350" y="2647950"/>
            <a:ext cx="47625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101820"/>
                </a:solidFill>
                <a:latin typeface="Helvetica Neue"/>
                <a:ea typeface="Helvetica Neue"/>
                <a:cs typeface="Helvetica Neue"/>
              </a:defRPr>
            </a:pPr>
            <a:r>
              <a:t>How does portfolio-level banking activity change over time?</a:t>
            </a:r>
          </a:p>
        </p:txBody>
      </p:sp>
      <p:sp>
        <p:nvSpPr>
          <p:cNvPr id="11" name="">
            <a:extLst xmlns:a="http://schemas.openxmlformats.org/drawingml/2006/main">
              <a:ext uri="{FF2B5EF4-FFF2-40B4-BE49-F238E27FC236}">
                <a16:creationId xmlns:a16="http://schemas.microsoft.com/office/drawing/2014/main" id="{5971768B-3F4C-4C8B-96F4-CFD3D4E57223}"/>
              </a:ext>
            </a:extLst>
          </p:cNvPr>
          <p:cNvSpPr>
            <a:spLocks xmlns:a="http://schemas.openxmlformats.org/drawingml/2006/main" noGrp="1"/>
          </p:cNvSpPr>
          <p:nvPr/>
        </p:nvSpPr>
        <p:spPr>
          <a:xfrm xmlns:a="http://schemas.openxmlformats.org/drawingml/2006/main">
            <a:off x="5181600" y="3448050"/>
            <a:ext cx="6572250" cy="952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2" name="">
            <a:extLst xmlns:a="http://schemas.openxmlformats.org/drawingml/2006/main">
              <a:ext uri="{FF2B5EF4-FFF2-40B4-BE49-F238E27FC236}">
                <a16:creationId xmlns:a16="http://schemas.microsoft.com/office/drawing/2014/main" id="{C16FE1E1-EC64-407C-A2BD-109A2C65AF6A}"/>
              </a:ext>
            </a:extLst>
          </p:cNvPr>
          <p:cNvSpPr>
            <a:spLocks xmlns:a="http://schemas.openxmlformats.org/drawingml/2006/main" noGrp="1"/>
          </p:cNvSpPr>
          <p:nvPr/>
        </p:nvSpPr>
        <p:spPr>
          <a:xfrm xmlns:a="http://schemas.openxmlformats.org/drawingml/2006/main">
            <a:off x="5181600" y="3733800"/>
            <a:ext cx="1714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t>SERVICES</a:t>
            </a:r>
          </a:p>
        </p:txBody>
      </p:sp>
      <p:sp>
        <p:nvSpPr>
          <p:cNvPr id="13" name="">
            <a:extLst xmlns:a="http://schemas.openxmlformats.org/drawingml/2006/main">
              <a:ext uri="{FF2B5EF4-FFF2-40B4-BE49-F238E27FC236}">
                <a16:creationId xmlns:a16="http://schemas.microsoft.com/office/drawing/2014/main" id="{3506BB56-33F7-4039-B631-3A2FEFF5EB99}"/>
              </a:ext>
            </a:extLst>
          </p:cNvPr>
          <p:cNvSpPr>
            <a:spLocks xmlns:a="http://schemas.openxmlformats.org/drawingml/2006/main" noGrp="1"/>
          </p:cNvSpPr>
          <p:nvPr/>
        </p:nvSpPr>
        <p:spPr>
          <a:xfrm xmlns:a="http://schemas.openxmlformats.org/drawingml/2006/main">
            <a:off x="6991350" y="3714750"/>
            <a:ext cx="47625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101820"/>
                </a:solidFill>
                <a:latin typeface="Helvetica Neue"/>
                <a:ea typeface="Helvetica Neue"/>
                <a:cs typeface="Helvetica Neue"/>
              </a:defRPr>
            </a:pPr>
            <a:r>
              <a:t>Which observed services occur together more often than expected?</a:t>
            </a:r>
          </a:p>
        </p:txBody>
      </p:sp>
      <p:sp>
        <p:nvSpPr>
          <p:cNvPr id="14" name="">
            <a:extLst xmlns:a="http://schemas.openxmlformats.org/drawingml/2006/main">
              <a:ext uri="{FF2B5EF4-FFF2-40B4-BE49-F238E27FC236}">
                <a16:creationId xmlns:a16="http://schemas.microsoft.com/office/drawing/2014/main" id="{71AC7EA9-921D-4463-957B-F2C7351ED1D2}"/>
              </a:ext>
            </a:extLst>
          </p:cNvPr>
          <p:cNvSpPr>
            <a:spLocks xmlns:a="http://schemas.openxmlformats.org/drawingml/2006/main" noGrp="1"/>
          </p:cNvSpPr>
          <p:nvPr/>
        </p:nvSpPr>
        <p:spPr>
          <a:xfrm xmlns:a="http://schemas.openxmlformats.org/drawingml/2006/main">
            <a:off x="5181600" y="4514850"/>
            <a:ext cx="6572250" cy="952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5" name="">
            <a:extLst xmlns:a="http://schemas.openxmlformats.org/drawingml/2006/main">
              <a:ext uri="{FF2B5EF4-FFF2-40B4-BE49-F238E27FC236}">
                <a16:creationId xmlns:a16="http://schemas.microsoft.com/office/drawing/2014/main" id="{003A5D7B-AFE5-4A6D-8AD0-F875106B75F5}"/>
              </a:ext>
            </a:extLst>
          </p:cNvPr>
          <p:cNvSpPr>
            <a:spLocks xmlns:a="http://schemas.openxmlformats.org/drawingml/2006/main" noGrp="1"/>
          </p:cNvSpPr>
          <p:nvPr/>
        </p:nvSpPr>
        <p:spPr>
          <a:xfrm xmlns:a="http://schemas.openxmlformats.org/drawingml/2006/main">
            <a:off x="5181600" y="4800600"/>
            <a:ext cx="1714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t>SEGMENTS</a:t>
            </a:r>
          </a:p>
        </p:txBody>
      </p:sp>
      <p:sp>
        <p:nvSpPr>
          <p:cNvPr id="16" name="">
            <a:extLst xmlns:a="http://schemas.openxmlformats.org/drawingml/2006/main">
              <a:ext uri="{FF2B5EF4-FFF2-40B4-BE49-F238E27FC236}">
                <a16:creationId xmlns:a16="http://schemas.microsoft.com/office/drawing/2014/main" id="{498F5F96-2E5E-4454-9E8F-08215F7F0222}"/>
              </a:ext>
            </a:extLst>
          </p:cNvPr>
          <p:cNvSpPr>
            <a:spLocks xmlns:a="http://schemas.openxmlformats.org/drawingml/2006/main" noGrp="1"/>
          </p:cNvSpPr>
          <p:nvPr/>
        </p:nvSpPr>
        <p:spPr>
          <a:xfrm xmlns:a="http://schemas.openxmlformats.org/drawingml/2006/main">
            <a:off x="6991350" y="4781550"/>
            <a:ext cx="47625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101820"/>
                </a:solidFill>
                <a:latin typeface="Helvetica Neue"/>
                <a:ea typeface="Helvetica Neue"/>
                <a:cs typeface="Helvetica Neue"/>
              </a:defRPr>
            </a:pPr>
            <a:r>
              <a:t>Which account groups and unusual cases emerge from the data?</a:t>
            </a:r>
          </a:p>
        </p:txBody>
      </p:sp>
    </p:spTree>
    <p:extLst>
      <p:ext uri="{BB962C8B-B14F-4D97-AF65-F5344CB8AC3E}">
        <p14:creationId xmlns:p14="http://schemas.microsoft.com/office/powerpoint/2010/main" val="19700254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B0076B9F-0389-4C0C-84AC-D5BE73A3069A}"/>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101820"/>
                </a:solidFill>
                <a:latin typeface="Helvetica Neue"/>
                <a:ea typeface="Helvetica Neue"/>
                <a:cs typeface="Helvetica Neue"/>
              </a:defRPr>
            </a:pPr>
            <a:r>
              <a:t>Combining eight tables to analyze account behavior</a:t>
            </a:r>
          </a:p>
        </p:txBody>
      </p:sp>
      <p:sp>
        <p:nvSpPr>
          <p:cNvPr id="2" name="">
            <a:extLst xmlns:a="http://schemas.openxmlformats.org/drawingml/2006/main">
              <a:ext uri="{FF2B5EF4-FFF2-40B4-BE49-F238E27FC236}">
                <a16:creationId xmlns:a16="http://schemas.microsoft.com/office/drawing/2014/main" id="{BE9708BA-5AB2-4BEE-A31E-39A5EA95D619}"/>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Dataset: Financial — PKDD'99 Financial Dataset (Berka), CTU Prague.</a:t>
            </a:r>
          </a:p>
        </p:txBody>
      </p:sp>
      <p:sp>
        <p:nvSpPr>
          <p:cNvPr id="3" name="">
            <a:extLst xmlns:a="http://schemas.openxmlformats.org/drawingml/2006/main">
              <a:ext uri="{FF2B5EF4-FFF2-40B4-BE49-F238E27FC236}">
                <a16:creationId xmlns:a16="http://schemas.microsoft.com/office/drawing/2014/main" id="{B9208C33-1B9E-4B1F-91E2-BF4CA50A0B8B}"/>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3</a:t>
            </a:r>
          </a:p>
        </p:txBody>
      </p:sp>
      <p:sp>
        <p:nvSpPr>
          <p:cNvPr id="4" name="">
            <a:extLst xmlns:a="http://schemas.openxmlformats.org/drawingml/2006/main">
              <a:ext uri="{FF2B5EF4-FFF2-40B4-BE49-F238E27FC236}">
                <a16:creationId xmlns:a16="http://schemas.microsoft.com/office/drawing/2014/main" id="{153BE0B2-E8FB-445C-A0A8-48FFEE9642B1}"/>
              </a:ext>
            </a:extLst>
          </p:cNvPr>
          <p:cNvSpPr>
            <a:spLocks xmlns:a="http://schemas.openxmlformats.org/drawingml/2006/main" noGrp="1"/>
          </p:cNvSpPr>
          <p:nvPr/>
        </p:nvSpPr>
        <p:spPr>
          <a:xfrm xmlns:a="http://schemas.openxmlformats.org/drawingml/2006/main">
            <a:off x="400050" y="1143000"/>
            <a:ext cx="109537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60706D"/>
                </a:solidFill>
                <a:latin typeface="Helvetica Neue"/>
                <a:ea typeface="Helvetica Neue"/>
                <a:cs typeface="Helvetica Neue"/>
              </a:defRPr>
            </a:pPr>
            <a:r>
              <a:t>Primary and foreign keys preserve the links between customers, accounts, transactions, services, and districts.</a:t>
            </a:r>
          </a:p>
        </p:txBody>
      </p:sp>
      <p:sp>
        <p:nvSpPr>
          <p:cNvPr id="5" name="">
            <a:extLst xmlns:a="http://schemas.openxmlformats.org/drawingml/2006/main">
              <a:ext uri="{FF2B5EF4-FFF2-40B4-BE49-F238E27FC236}">
                <a16:creationId xmlns:a16="http://schemas.microsoft.com/office/drawing/2014/main" id="{F2DC9A6C-F22C-4D0F-B000-C743FC6AF42D}"/>
              </a:ext>
            </a:extLst>
          </p:cNvPr>
          <p:cNvSpPr>
            <a:spLocks xmlns:a="http://schemas.openxmlformats.org/drawingml/2006/main" noGrp="1"/>
          </p:cNvSpPr>
          <p:nvPr/>
        </p:nvSpPr>
        <p:spPr>
          <a:xfrm xmlns:a="http://schemas.openxmlformats.org/drawingml/2006/main">
            <a:off x="2400300" y="2209800"/>
            <a:ext cx="1333500" cy="2857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6" name="">
            <a:extLst xmlns:a="http://schemas.openxmlformats.org/drawingml/2006/main">
              <a:ext uri="{FF2B5EF4-FFF2-40B4-BE49-F238E27FC236}">
                <a16:creationId xmlns:a16="http://schemas.microsoft.com/office/drawing/2014/main" id="{4829397F-C69B-44C5-BEBE-89417372646D}"/>
              </a:ext>
            </a:extLst>
          </p:cNvPr>
          <p:cNvSpPr>
            <a:spLocks xmlns:a="http://schemas.openxmlformats.org/drawingml/2006/main" noGrp="1"/>
          </p:cNvSpPr>
          <p:nvPr/>
        </p:nvSpPr>
        <p:spPr>
          <a:xfrm xmlns:a="http://schemas.openxmlformats.org/drawingml/2006/main">
            <a:off x="3705225" y="2209800"/>
            <a:ext cx="28575" cy="704850"/>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7" name="">
            <a:extLst xmlns:a="http://schemas.openxmlformats.org/drawingml/2006/main">
              <a:ext uri="{FF2B5EF4-FFF2-40B4-BE49-F238E27FC236}">
                <a16:creationId xmlns:a16="http://schemas.microsoft.com/office/drawing/2014/main" id="{01CF6FD0-C24D-49AD-A8F7-91FF8C8ED7A6}"/>
              </a:ext>
            </a:extLst>
          </p:cNvPr>
          <p:cNvSpPr>
            <a:spLocks xmlns:a="http://schemas.openxmlformats.org/drawingml/2006/main" noGrp="1"/>
          </p:cNvSpPr>
          <p:nvPr/>
        </p:nvSpPr>
        <p:spPr>
          <a:xfrm xmlns:a="http://schemas.openxmlformats.org/drawingml/2006/main">
            <a:off x="1381125" y="2819400"/>
            <a:ext cx="28575" cy="1123950"/>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8" name="">
            <a:extLst xmlns:a="http://schemas.openxmlformats.org/drawingml/2006/main">
              <a:ext uri="{FF2B5EF4-FFF2-40B4-BE49-F238E27FC236}">
                <a16:creationId xmlns:a16="http://schemas.microsoft.com/office/drawing/2014/main" id="{8444EE6F-3D0F-4669-8DE9-64A15BBCEA9C}"/>
              </a:ext>
            </a:extLst>
          </p:cNvPr>
          <p:cNvSpPr>
            <a:spLocks xmlns:a="http://schemas.openxmlformats.org/drawingml/2006/main" noGrp="1"/>
          </p:cNvSpPr>
          <p:nvPr/>
        </p:nvSpPr>
        <p:spPr>
          <a:xfrm xmlns:a="http://schemas.openxmlformats.org/drawingml/2006/main">
            <a:off x="2400300" y="4495800"/>
            <a:ext cx="4076700" cy="2857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9" name="">
            <a:extLst xmlns:a="http://schemas.openxmlformats.org/drawingml/2006/main">
              <a:ext uri="{FF2B5EF4-FFF2-40B4-BE49-F238E27FC236}">
                <a16:creationId xmlns:a16="http://schemas.microsoft.com/office/drawing/2014/main" id="{5E70FAB9-8D15-4619-AC43-1CA4F7C10B2A}"/>
              </a:ext>
            </a:extLst>
          </p:cNvPr>
          <p:cNvSpPr>
            <a:spLocks xmlns:a="http://schemas.openxmlformats.org/drawingml/2006/main" noGrp="1"/>
          </p:cNvSpPr>
          <p:nvPr/>
        </p:nvSpPr>
        <p:spPr>
          <a:xfrm xmlns:a="http://schemas.openxmlformats.org/drawingml/2006/main">
            <a:off x="6448425" y="3238500"/>
            <a:ext cx="28575" cy="128587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0" name="">
            <a:extLst xmlns:a="http://schemas.openxmlformats.org/drawingml/2006/main">
              <a:ext uri="{FF2B5EF4-FFF2-40B4-BE49-F238E27FC236}">
                <a16:creationId xmlns:a16="http://schemas.microsoft.com/office/drawing/2014/main" id="{EFEC48EE-0E82-408A-A06D-704BB1B02361}"/>
              </a:ext>
            </a:extLst>
          </p:cNvPr>
          <p:cNvSpPr>
            <a:spLocks xmlns:a="http://schemas.openxmlformats.org/drawingml/2006/main" noGrp="1"/>
          </p:cNvSpPr>
          <p:nvPr/>
        </p:nvSpPr>
        <p:spPr>
          <a:xfrm xmlns:a="http://schemas.openxmlformats.org/drawingml/2006/main">
            <a:off x="6448425" y="3209925"/>
            <a:ext cx="485775" cy="2857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1" name="">
            <a:extLst xmlns:a="http://schemas.openxmlformats.org/drawingml/2006/main">
              <a:ext uri="{FF2B5EF4-FFF2-40B4-BE49-F238E27FC236}">
                <a16:creationId xmlns:a16="http://schemas.microsoft.com/office/drawing/2014/main" id="{3A355A66-C4BD-49C3-8882-E3937038DCFA}"/>
              </a:ext>
            </a:extLst>
          </p:cNvPr>
          <p:cNvSpPr>
            <a:spLocks xmlns:a="http://schemas.openxmlformats.org/drawingml/2006/main" noGrp="1"/>
          </p:cNvSpPr>
          <p:nvPr/>
        </p:nvSpPr>
        <p:spPr>
          <a:xfrm xmlns:a="http://schemas.openxmlformats.org/drawingml/2006/main">
            <a:off x="5924550" y="3067050"/>
            <a:ext cx="1009650" cy="2857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2" name="">
            <a:extLst xmlns:a="http://schemas.openxmlformats.org/drawingml/2006/main">
              <a:ext uri="{FF2B5EF4-FFF2-40B4-BE49-F238E27FC236}">
                <a16:creationId xmlns:a16="http://schemas.microsoft.com/office/drawing/2014/main" id="{0A048786-8388-4A64-B36C-DADD5F77863C}"/>
              </a:ext>
            </a:extLst>
          </p:cNvPr>
          <p:cNvSpPr>
            <a:spLocks xmlns:a="http://schemas.openxmlformats.org/drawingml/2006/main" noGrp="1"/>
          </p:cNvSpPr>
          <p:nvPr/>
        </p:nvSpPr>
        <p:spPr>
          <a:xfrm xmlns:a="http://schemas.openxmlformats.org/drawingml/2006/main">
            <a:off x="9124950" y="3067050"/>
            <a:ext cx="400050" cy="2857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3" name="">
            <a:extLst xmlns:a="http://schemas.openxmlformats.org/drawingml/2006/main">
              <a:ext uri="{FF2B5EF4-FFF2-40B4-BE49-F238E27FC236}">
                <a16:creationId xmlns:a16="http://schemas.microsoft.com/office/drawing/2014/main" id="{91D3D4E0-6F0E-4078-B53B-C4AA72533436}"/>
              </a:ext>
            </a:extLst>
          </p:cNvPr>
          <p:cNvSpPr>
            <a:spLocks xmlns:a="http://schemas.openxmlformats.org/drawingml/2006/main" noGrp="1"/>
          </p:cNvSpPr>
          <p:nvPr/>
        </p:nvSpPr>
        <p:spPr>
          <a:xfrm xmlns:a="http://schemas.openxmlformats.org/drawingml/2006/main">
            <a:off x="9496425" y="2209800"/>
            <a:ext cx="28575" cy="88582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4" name="">
            <a:extLst xmlns:a="http://schemas.openxmlformats.org/drawingml/2006/main">
              <a:ext uri="{FF2B5EF4-FFF2-40B4-BE49-F238E27FC236}">
                <a16:creationId xmlns:a16="http://schemas.microsoft.com/office/drawing/2014/main" id="{447D84DD-7B9D-48A6-BC5D-71D5C573857A}"/>
              </a:ext>
            </a:extLst>
          </p:cNvPr>
          <p:cNvSpPr>
            <a:spLocks xmlns:a="http://schemas.openxmlformats.org/drawingml/2006/main" noGrp="1"/>
          </p:cNvSpPr>
          <p:nvPr/>
        </p:nvSpPr>
        <p:spPr>
          <a:xfrm xmlns:a="http://schemas.openxmlformats.org/drawingml/2006/main">
            <a:off x="9496425" y="2209800"/>
            <a:ext cx="295275" cy="2857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5" name="">
            <a:extLst xmlns:a="http://schemas.openxmlformats.org/drawingml/2006/main">
              <a:ext uri="{FF2B5EF4-FFF2-40B4-BE49-F238E27FC236}">
                <a16:creationId xmlns:a16="http://schemas.microsoft.com/office/drawing/2014/main" id="{F74DCC78-E005-4536-B85D-D0BD425A42FD}"/>
              </a:ext>
            </a:extLst>
          </p:cNvPr>
          <p:cNvSpPr>
            <a:spLocks xmlns:a="http://schemas.openxmlformats.org/drawingml/2006/main" noGrp="1"/>
          </p:cNvSpPr>
          <p:nvPr/>
        </p:nvSpPr>
        <p:spPr>
          <a:xfrm xmlns:a="http://schemas.openxmlformats.org/drawingml/2006/main">
            <a:off x="4829175" y="3752850"/>
            <a:ext cx="28575" cy="514350"/>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6" name="">
            <a:extLst xmlns:a="http://schemas.openxmlformats.org/drawingml/2006/main">
              <a:ext uri="{FF2B5EF4-FFF2-40B4-BE49-F238E27FC236}">
                <a16:creationId xmlns:a16="http://schemas.microsoft.com/office/drawing/2014/main" id="{E8CC2AFD-97FE-4515-A2E5-8AAA221BBA43}"/>
              </a:ext>
            </a:extLst>
          </p:cNvPr>
          <p:cNvSpPr>
            <a:spLocks xmlns:a="http://schemas.openxmlformats.org/drawingml/2006/main" noGrp="1"/>
          </p:cNvSpPr>
          <p:nvPr/>
        </p:nvSpPr>
        <p:spPr>
          <a:xfrm xmlns:a="http://schemas.openxmlformats.org/drawingml/2006/main">
            <a:off x="3867150" y="4238625"/>
            <a:ext cx="4457700" cy="2857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7" name="">
            <a:extLst xmlns:a="http://schemas.openxmlformats.org/drawingml/2006/main">
              <a:ext uri="{FF2B5EF4-FFF2-40B4-BE49-F238E27FC236}">
                <a16:creationId xmlns:a16="http://schemas.microsoft.com/office/drawing/2014/main" id="{880E95EA-AC6F-4485-9784-E1F95C093427}"/>
              </a:ext>
            </a:extLst>
          </p:cNvPr>
          <p:cNvSpPr>
            <a:spLocks xmlns:a="http://schemas.openxmlformats.org/drawingml/2006/main" noGrp="1"/>
          </p:cNvSpPr>
          <p:nvPr/>
        </p:nvSpPr>
        <p:spPr>
          <a:xfrm xmlns:a="http://schemas.openxmlformats.org/drawingml/2006/main">
            <a:off x="3867150" y="4238625"/>
            <a:ext cx="28575" cy="48577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8" name="">
            <a:extLst xmlns:a="http://schemas.openxmlformats.org/drawingml/2006/main">
              <a:ext uri="{FF2B5EF4-FFF2-40B4-BE49-F238E27FC236}">
                <a16:creationId xmlns:a16="http://schemas.microsoft.com/office/drawing/2014/main" id="{DBA537E7-E5D7-4569-9575-DA95ACE89723}"/>
              </a:ext>
            </a:extLst>
          </p:cNvPr>
          <p:cNvSpPr>
            <a:spLocks xmlns:a="http://schemas.openxmlformats.org/drawingml/2006/main" noGrp="1"/>
          </p:cNvSpPr>
          <p:nvPr/>
        </p:nvSpPr>
        <p:spPr>
          <a:xfrm xmlns:a="http://schemas.openxmlformats.org/drawingml/2006/main">
            <a:off x="6096000" y="4238625"/>
            <a:ext cx="28575" cy="48577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9" name="">
            <a:extLst xmlns:a="http://schemas.openxmlformats.org/drawingml/2006/main">
              <a:ext uri="{FF2B5EF4-FFF2-40B4-BE49-F238E27FC236}">
                <a16:creationId xmlns:a16="http://schemas.microsoft.com/office/drawing/2014/main" id="{54483829-5401-49F4-95B9-2E6CA8836092}"/>
              </a:ext>
            </a:extLst>
          </p:cNvPr>
          <p:cNvSpPr>
            <a:spLocks xmlns:a="http://schemas.openxmlformats.org/drawingml/2006/main" noGrp="1"/>
          </p:cNvSpPr>
          <p:nvPr/>
        </p:nvSpPr>
        <p:spPr>
          <a:xfrm xmlns:a="http://schemas.openxmlformats.org/drawingml/2006/main">
            <a:off x="8324850" y="4238625"/>
            <a:ext cx="28575" cy="48577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20" name="">
            <a:extLst xmlns:a="http://schemas.openxmlformats.org/drawingml/2006/main">
              <a:ext uri="{FF2B5EF4-FFF2-40B4-BE49-F238E27FC236}">
                <a16:creationId xmlns:a16="http://schemas.microsoft.com/office/drawing/2014/main" id="{FE091094-6169-4F07-8DB4-051F4C497604}"/>
              </a:ext>
            </a:extLst>
          </p:cNvPr>
          <p:cNvSpPr>
            <a:spLocks xmlns:a="http://schemas.openxmlformats.org/drawingml/2006/main" noGrp="1"/>
          </p:cNvSpPr>
          <p:nvPr/>
        </p:nvSpPr>
        <p:spPr>
          <a:xfrm xmlns:a="http://schemas.openxmlformats.org/drawingml/2006/main">
            <a:off x="400050" y="1695450"/>
            <a:ext cx="2000250" cy="1123950"/>
          </a:xfrm>
          <a:prstGeom xmlns:a="http://schemas.openxmlformats.org/drawingml/2006/main" prst="rect">
            <a:avLst/>
          </a:prstGeom>
          <a:solidFill xmlns:a="http://schemas.openxmlformats.org/drawingml/2006/main">
            <a:srgbClr val="FFFFFF"/>
          </a:solidFill>
          <a:ln xmlns:a="http://schemas.openxmlformats.org/drawingml/2006/main" w="14288">
            <a:solidFill>
              <a:srgbClr val="17324A"/>
            </a:solidFill>
            <a:prstDash val="solid"/>
          </a:ln>
        </p:spPr>
      </p:sp>
      <p:sp>
        <p:nvSpPr>
          <p:cNvPr id="21" name="">
            <a:extLst xmlns:a="http://schemas.openxmlformats.org/drawingml/2006/main">
              <a:ext uri="{FF2B5EF4-FFF2-40B4-BE49-F238E27FC236}">
                <a16:creationId xmlns:a16="http://schemas.microsoft.com/office/drawing/2014/main" id="{E4DA3091-24CA-4FCD-9BD5-0AD67BE40C3C}"/>
              </a:ext>
            </a:extLst>
          </p:cNvPr>
          <p:cNvSpPr>
            <a:spLocks xmlns:a="http://schemas.openxmlformats.org/drawingml/2006/main" noGrp="1"/>
          </p:cNvSpPr>
          <p:nvPr/>
        </p:nvSpPr>
        <p:spPr>
          <a:xfrm xmlns:a="http://schemas.openxmlformats.org/drawingml/2006/main">
            <a:off x="400050" y="1695450"/>
            <a:ext cx="2000250" cy="323850"/>
          </a:xfrm>
          <a:prstGeom xmlns:a="http://schemas.openxmlformats.org/drawingml/2006/main" prst="rect">
            <a:avLst/>
          </a:prstGeom>
          <a:solidFill xmlns:a="http://schemas.openxmlformats.org/drawingml/2006/main">
            <a:srgbClr val="17324A"/>
          </a:solidFill>
          <a:ln xmlns:a="http://schemas.openxmlformats.org/drawingml/2006/main" w="0">
            <a:solidFill>
              <a:srgbClr val="17324A"/>
            </a:solidFill>
            <a:prstDash val="solid"/>
          </a:ln>
        </p:spPr>
      </p:sp>
      <p:sp>
        <p:nvSpPr>
          <p:cNvPr id="22" name="">
            <a:extLst xmlns:a="http://schemas.openxmlformats.org/drawingml/2006/main">
              <a:ext uri="{FF2B5EF4-FFF2-40B4-BE49-F238E27FC236}">
                <a16:creationId xmlns:a16="http://schemas.microsoft.com/office/drawing/2014/main" id="{9F5AF618-6946-49C3-A157-FF2659B1FF5D}"/>
              </a:ext>
            </a:extLst>
          </p:cNvPr>
          <p:cNvSpPr>
            <a:spLocks xmlns:a="http://schemas.openxmlformats.org/drawingml/2006/main" noGrp="1"/>
          </p:cNvSpPr>
          <p:nvPr/>
        </p:nvSpPr>
        <p:spPr>
          <a:xfrm xmlns:a="http://schemas.openxmlformats.org/drawingml/2006/main">
            <a:off x="514350" y="1743075"/>
            <a:ext cx="17716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t>district</a:t>
            </a:r>
          </a:p>
        </p:txBody>
      </p:sp>
      <p:sp>
        <p:nvSpPr>
          <p:cNvPr id="23" name="">
            <a:extLst xmlns:a="http://schemas.openxmlformats.org/drawingml/2006/main">
              <a:ext uri="{FF2B5EF4-FFF2-40B4-BE49-F238E27FC236}">
                <a16:creationId xmlns:a16="http://schemas.microsoft.com/office/drawing/2014/main" id="{8723B713-A2AA-43CE-B72C-DEFFE0C59D88}"/>
              </a:ext>
            </a:extLst>
          </p:cNvPr>
          <p:cNvSpPr>
            <a:spLocks xmlns:a="http://schemas.openxmlformats.org/drawingml/2006/main" noGrp="1"/>
          </p:cNvSpPr>
          <p:nvPr/>
        </p:nvSpPr>
        <p:spPr>
          <a:xfrm xmlns:a="http://schemas.openxmlformats.org/drawingml/2006/main">
            <a:off x="514350" y="2114550"/>
            <a:ext cx="177165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63" b="0" i="0">
                <a:solidFill>
                  <a:srgbClr val="101820"/>
                </a:solidFill>
                <a:latin typeface="Helvetica Neue"/>
                <a:ea typeface="Helvetica Neue"/>
                <a:cs typeface="Helvetica Neue"/>
              </a:defRPr>
            </a:pPr>
            <a:r>
              <a:t>PK  district_id
     demographics A2–A16</a:t>
            </a:r>
          </a:p>
        </p:txBody>
      </p:sp>
      <p:sp>
        <p:nvSpPr>
          <p:cNvPr id="24" name="">
            <a:extLst xmlns:a="http://schemas.openxmlformats.org/drawingml/2006/main">
              <a:ext uri="{FF2B5EF4-FFF2-40B4-BE49-F238E27FC236}">
                <a16:creationId xmlns:a16="http://schemas.microsoft.com/office/drawing/2014/main" id="{463F9F61-FA06-4C57-8C54-7CCCD0F8FAB2}"/>
              </a:ext>
            </a:extLst>
          </p:cNvPr>
          <p:cNvSpPr>
            <a:spLocks xmlns:a="http://schemas.openxmlformats.org/drawingml/2006/main" noGrp="1"/>
          </p:cNvSpPr>
          <p:nvPr/>
        </p:nvSpPr>
        <p:spPr>
          <a:xfrm xmlns:a="http://schemas.openxmlformats.org/drawingml/2006/main">
            <a:off x="400050" y="3943350"/>
            <a:ext cx="2000250" cy="1123950"/>
          </a:xfrm>
          <a:prstGeom xmlns:a="http://schemas.openxmlformats.org/drawingml/2006/main" prst="rect">
            <a:avLst/>
          </a:prstGeom>
          <a:solidFill xmlns:a="http://schemas.openxmlformats.org/drawingml/2006/main">
            <a:srgbClr val="FFFFFF"/>
          </a:solidFill>
          <a:ln xmlns:a="http://schemas.openxmlformats.org/drawingml/2006/main" w="14288">
            <a:solidFill>
              <a:srgbClr val="20A894"/>
            </a:solidFill>
            <a:prstDash val="solid"/>
          </a:ln>
        </p:spPr>
      </p:sp>
      <p:sp>
        <p:nvSpPr>
          <p:cNvPr id="25" name="">
            <a:extLst xmlns:a="http://schemas.openxmlformats.org/drawingml/2006/main">
              <a:ext uri="{FF2B5EF4-FFF2-40B4-BE49-F238E27FC236}">
                <a16:creationId xmlns:a16="http://schemas.microsoft.com/office/drawing/2014/main" id="{CA8ADDB0-67FD-4964-BD15-A1046C2EEFB3}"/>
              </a:ext>
            </a:extLst>
          </p:cNvPr>
          <p:cNvSpPr>
            <a:spLocks xmlns:a="http://schemas.openxmlformats.org/drawingml/2006/main" noGrp="1"/>
          </p:cNvSpPr>
          <p:nvPr/>
        </p:nvSpPr>
        <p:spPr>
          <a:xfrm xmlns:a="http://schemas.openxmlformats.org/drawingml/2006/main">
            <a:off x="400050" y="3943350"/>
            <a:ext cx="2000250" cy="323850"/>
          </a:xfrm>
          <a:prstGeom xmlns:a="http://schemas.openxmlformats.org/drawingml/2006/main" prst="rect">
            <a:avLst/>
          </a:prstGeom>
          <a:solidFill xmlns:a="http://schemas.openxmlformats.org/drawingml/2006/main">
            <a:srgbClr val="20A894"/>
          </a:solidFill>
          <a:ln xmlns:a="http://schemas.openxmlformats.org/drawingml/2006/main" w="0">
            <a:solidFill>
              <a:srgbClr val="20A894"/>
            </a:solidFill>
            <a:prstDash val="solid"/>
          </a:ln>
        </p:spPr>
      </p:sp>
      <p:sp>
        <p:nvSpPr>
          <p:cNvPr id="26" name="">
            <a:extLst xmlns:a="http://schemas.openxmlformats.org/drawingml/2006/main">
              <a:ext uri="{FF2B5EF4-FFF2-40B4-BE49-F238E27FC236}">
                <a16:creationId xmlns:a16="http://schemas.microsoft.com/office/drawing/2014/main" id="{29EB70D3-145F-403A-A2CF-11039E84DD7C}"/>
              </a:ext>
            </a:extLst>
          </p:cNvPr>
          <p:cNvSpPr>
            <a:spLocks xmlns:a="http://schemas.openxmlformats.org/drawingml/2006/main" noGrp="1"/>
          </p:cNvSpPr>
          <p:nvPr/>
        </p:nvSpPr>
        <p:spPr>
          <a:xfrm xmlns:a="http://schemas.openxmlformats.org/drawingml/2006/main">
            <a:off x="514350" y="3990975"/>
            <a:ext cx="17716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t>client</a:t>
            </a:r>
          </a:p>
        </p:txBody>
      </p:sp>
      <p:sp>
        <p:nvSpPr>
          <p:cNvPr id="27" name="">
            <a:extLst xmlns:a="http://schemas.openxmlformats.org/drawingml/2006/main">
              <a:ext uri="{FF2B5EF4-FFF2-40B4-BE49-F238E27FC236}">
                <a16:creationId xmlns:a16="http://schemas.microsoft.com/office/drawing/2014/main" id="{340EAB62-DC5D-4528-904C-114A475C2893}"/>
              </a:ext>
            </a:extLst>
          </p:cNvPr>
          <p:cNvSpPr>
            <a:spLocks xmlns:a="http://schemas.openxmlformats.org/drawingml/2006/main" noGrp="1"/>
          </p:cNvSpPr>
          <p:nvPr/>
        </p:nvSpPr>
        <p:spPr>
          <a:xfrm xmlns:a="http://schemas.openxmlformats.org/drawingml/2006/main">
            <a:off x="514350" y="4362450"/>
            <a:ext cx="177165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63" b="0" i="0">
                <a:solidFill>
                  <a:srgbClr val="101820"/>
                </a:solidFill>
                <a:latin typeface="Helvetica Neue"/>
                <a:ea typeface="Helvetica Neue"/>
                <a:cs typeface="Helvetica Neue"/>
              </a:defRPr>
            </a:pPr>
            <a:r>
              <a:t>PK  client_id
FK  district_id
     gender, birth_date</a:t>
            </a:r>
          </a:p>
        </p:txBody>
      </p:sp>
      <p:sp>
        <p:nvSpPr>
          <p:cNvPr id="28" name="">
            <a:extLst xmlns:a="http://schemas.openxmlformats.org/drawingml/2006/main">
              <a:ext uri="{FF2B5EF4-FFF2-40B4-BE49-F238E27FC236}">
                <a16:creationId xmlns:a16="http://schemas.microsoft.com/office/drawing/2014/main" id="{BFD7E633-E868-4A5B-85D8-B8CFEEA02F22}"/>
              </a:ext>
            </a:extLst>
          </p:cNvPr>
          <p:cNvSpPr>
            <a:spLocks xmlns:a="http://schemas.openxmlformats.org/drawingml/2006/main" noGrp="1"/>
          </p:cNvSpPr>
          <p:nvPr/>
        </p:nvSpPr>
        <p:spPr>
          <a:xfrm xmlns:a="http://schemas.openxmlformats.org/drawingml/2006/main">
            <a:off x="3733800" y="2419350"/>
            <a:ext cx="2190750" cy="1333500"/>
          </a:xfrm>
          <a:prstGeom xmlns:a="http://schemas.openxmlformats.org/drawingml/2006/main" prst="rect">
            <a:avLst/>
          </a:prstGeom>
          <a:solidFill xmlns:a="http://schemas.openxmlformats.org/drawingml/2006/main">
            <a:srgbClr val="FFFFFF"/>
          </a:solidFill>
          <a:ln xmlns:a="http://schemas.openxmlformats.org/drawingml/2006/main" w="14288">
            <a:solidFill>
              <a:srgbClr val="3D8DFF"/>
            </a:solidFill>
            <a:prstDash val="solid"/>
          </a:ln>
        </p:spPr>
      </p:sp>
      <p:sp>
        <p:nvSpPr>
          <p:cNvPr id="29" name="">
            <a:extLst xmlns:a="http://schemas.openxmlformats.org/drawingml/2006/main">
              <a:ext uri="{FF2B5EF4-FFF2-40B4-BE49-F238E27FC236}">
                <a16:creationId xmlns:a16="http://schemas.microsoft.com/office/drawing/2014/main" id="{33FE0572-F0C8-4BCD-B7BE-4C27D268719D}"/>
              </a:ext>
            </a:extLst>
          </p:cNvPr>
          <p:cNvSpPr>
            <a:spLocks xmlns:a="http://schemas.openxmlformats.org/drawingml/2006/main" noGrp="1"/>
          </p:cNvSpPr>
          <p:nvPr/>
        </p:nvSpPr>
        <p:spPr>
          <a:xfrm xmlns:a="http://schemas.openxmlformats.org/drawingml/2006/main">
            <a:off x="3733800" y="2419350"/>
            <a:ext cx="2190750" cy="3238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0" name="">
            <a:extLst xmlns:a="http://schemas.openxmlformats.org/drawingml/2006/main">
              <a:ext uri="{FF2B5EF4-FFF2-40B4-BE49-F238E27FC236}">
                <a16:creationId xmlns:a16="http://schemas.microsoft.com/office/drawing/2014/main" id="{46832C08-E4C0-4ED7-B2D5-8D8C18C6FA15}"/>
              </a:ext>
            </a:extLst>
          </p:cNvPr>
          <p:cNvSpPr>
            <a:spLocks xmlns:a="http://schemas.openxmlformats.org/drawingml/2006/main" noGrp="1"/>
          </p:cNvSpPr>
          <p:nvPr/>
        </p:nvSpPr>
        <p:spPr>
          <a:xfrm xmlns:a="http://schemas.openxmlformats.org/drawingml/2006/main">
            <a:off x="3848100" y="2466975"/>
            <a:ext cx="19621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t>account</a:t>
            </a:r>
          </a:p>
        </p:txBody>
      </p:sp>
      <p:sp>
        <p:nvSpPr>
          <p:cNvPr id="31" name="">
            <a:extLst xmlns:a="http://schemas.openxmlformats.org/drawingml/2006/main">
              <a:ext uri="{FF2B5EF4-FFF2-40B4-BE49-F238E27FC236}">
                <a16:creationId xmlns:a16="http://schemas.microsoft.com/office/drawing/2014/main" id="{3BEDE57A-72F3-4145-9D35-F3BA3150B03B}"/>
              </a:ext>
            </a:extLst>
          </p:cNvPr>
          <p:cNvSpPr>
            <a:spLocks xmlns:a="http://schemas.openxmlformats.org/drawingml/2006/main" noGrp="1"/>
          </p:cNvSpPr>
          <p:nvPr/>
        </p:nvSpPr>
        <p:spPr>
          <a:xfrm xmlns:a="http://schemas.openxmlformats.org/drawingml/2006/main">
            <a:off x="3848100" y="2838450"/>
            <a:ext cx="1962150" cy="8382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63" b="0" i="0">
                <a:solidFill>
                  <a:srgbClr val="101820"/>
                </a:solidFill>
                <a:latin typeface="Helvetica Neue"/>
                <a:ea typeface="Helvetica Neue"/>
                <a:cs typeface="Helvetica Neue"/>
              </a:defRPr>
            </a:pPr>
            <a:r>
              <a:t>PK  account_id
FK  district_id
     frequency, date</a:t>
            </a:r>
          </a:p>
        </p:txBody>
      </p:sp>
      <p:sp>
        <p:nvSpPr>
          <p:cNvPr id="32" name="">
            <a:extLst xmlns:a="http://schemas.openxmlformats.org/drawingml/2006/main">
              <a:ext uri="{FF2B5EF4-FFF2-40B4-BE49-F238E27FC236}">
                <a16:creationId xmlns:a16="http://schemas.microsoft.com/office/drawing/2014/main" id="{439E78EC-DCE7-481B-8C35-31A1D93C34B4}"/>
              </a:ext>
            </a:extLst>
          </p:cNvPr>
          <p:cNvSpPr>
            <a:spLocks xmlns:a="http://schemas.openxmlformats.org/drawingml/2006/main" noGrp="1"/>
          </p:cNvSpPr>
          <p:nvPr/>
        </p:nvSpPr>
        <p:spPr>
          <a:xfrm xmlns:a="http://schemas.openxmlformats.org/drawingml/2006/main">
            <a:off x="6934200" y="2419350"/>
            <a:ext cx="2190750" cy="1333500"/>
          </a:xfrm>
          <a:prstGeom xmlns:a="http://schemas.openxmlformats.org/drawingml/2006/main" prst="rect">
            <a:avLst/>
          </a:prstGeom>
          <a:solidFill xmlns:a="http://schemas.openxmlformats.org/drawingml/2006/main">
            <a:srgbClr val="FFFFFF"/>
          </a:solidFill>
          <a:ln xmlns:a="http://schemas.openxmlformats.org/drawingml/2006/main" w="14288">
            <a:solidFill>
              <a:srgbClr val="8D6BB3"/>
            </a:solidFill>
            <a:prstDash val="solid"/>
          </a:ln>
        </p:spPr>
      </p:sp>
      <p:sp>
        <p:nvSpPr>
          <p:cNvPr id="33" name="">
            <a:extLst xmlns:a="http://schemas.openxmlformats.org/drawingml/2006/main">
              <a:ext uri="{FF2B5EF4-FFF2-40B4-BE49-F238E27FC236}">
                <a16:creationId xmlns:a16="http://schemas.microsoft.com/office/drawing/2014/main" id="{4A4BD738-DB60-42AF-9623-0C77C55834DA}"/>
              </a:ext>
            </a:extLst>
          </p:cNvPr>
          <p:cNvSpPr>
            <a:spLocks xmlns:a="http://schemas.openxmlformats.org/drawingml/2006/main" noGrp="1"/>
          </p:cNvSpPr>
          <p:nvPr/>
        </p:nvSpPr>
        <p:spPr>
          <a:xfrm xmlns:a="http://schemas.openxmlformats.org/drawingml/2006/main">
            <a:off x="6934200" y="2419350"/>
            <a:ext cx="2190750" cy="323850"/>
          </a:xfrm>
          <a:prstGeom xmlns:a="http://schemas.openxmlformats.org/drawingml/2006/main" prst="rect">
            <a:avLst/>
          </a:prstGeom>
          <a:solidFill xmlns:a="http://schemas.openxmlformats.org/drawingml/2006/main">
            <a:srgbClr val="8D6BB3"/>
          </a:solidFill>
          <a:ln xmlns:a="http://schemas.openxmlformats.org/drawingml/2006/main" w="0">
            <a:solidFill>
              <a:srgbClr val="8D6BB3"/>
            </a:solidFill>
            <a:prstDash val="solid"/>
          </a:ln>
        </p:spPr>
      </p:sp>
      <p:sp>
        <p:nvSpPr>
          <p:cNvPr id="34" name="">
            <a:extLst xmlns:a="http://schemas.openxmlformats.org/drawingml/2006/main">
              <a:ext uri="{FF2B5EF4-FFF2-40B4-BE49-F238E27FC236}">
                <a16:creationId xmlns:a16="http://schemas.microsoft.com/office/drawing/2014/main" id="{0532988F-214D-4C8B-A21A-D0E162A0FA9E}"/>
              </a:ext>
            </a:extLst>
          </p:cNvPr>
          <p:cNvSpPr>
            <a:spLocks xmlns:a="http://schemas.openxmlformats.org/drawingml/2006/main" noGrp="1"/>
          </p:cNvSpPr>
          <p:nvPr/>
        </p:nvSpPr>
        <p:spPr>
          <a:xfrm xmlns:a="http://schemas.openxmlformats.org/drawingml/2006/main">
            <a:off x="7048500" y="2466975"/>
            <a:ext cx="19621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t>disp</a:t>
            </a:r>
          </a:p>
        </p:txBody>
      </p:sp>
      <p:sp>
        <p:nvSpPr>
          <p:cNvPr id="35" name="">
            <a:extLst xmlns:a="http://schemas.openxmlformats.org/drawingml/2006/main">
              <a:ext uri="{FF2B5EF4-FFF2-40B4-BE49-F238E27FC236}">
                <a16:creationId xmlns:a16="http://schemas.microsoft.com/office/drawing/2014/main" id="{8858B0FD-A667-4F05-88E5-959045E9424D}"/>
              </a:ext>
            </a:extLst>
          </p:cNvPr>
          <p:cNvSpPr>
            <a:spLocks xmlns:a="http://schemas.openxmlformats.org/drawingml/2006/main" noGrp="1"/>
          </p:cNvSpPr>
          <p:nvPr/>
        </p:nvSpPr>
        <p:spPr>
          <a:xfrm xmlns:a="http://schemas.openxmlformats.org/drawingml/2006/main">
            <a:off x="7048500" y="2838450"/>
            <a:ext cx="1962150" cy="8382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63" b="0" i="0">
                <a:solidFill>
                  <a:srgbClr val="101820"/>
                </a:solidFill>
                <a:latin typeface="Helvetica Neue"/>
                <a:ea typeface="Helvetica Neue"/>
                <a:cs typeface="Helvetica Neue"/>
              </a:defRPr>
            </a:pPr>
            <a:r>
              <a:t>PK  disp_id
FK  client_id
FK  account_id</a:t>
            </a:r>
          </a:p>
        </p:txBody>
      </p:sp>
      <p:sp>
        <p:nvSpPr>
          <p:cNvPr id="36" name="">
            <a:extLst xmlns:a="http://schemas.openxmlformats.org/drawingml/2006/main">
              <a:ext uri="{FF2B5EF4-FFF2-40B4-BE49-F238E27FC236}">
                <a16:creationId xmlns:a16="http://schemas.microsoft.com/office/drawing/2014/main" id="{BF76BA83-86A4-402B-AAF8-EEA48522B507}"/>
              </a:ext>
            </a:extLst>
          </p:cNvPr>
          <p:cNvSpPr>
            <a:spLocks xmlns:a="http://schemas.openxmlformats.org/drawingml/2006/main" noGrp="1"/>
          </p:cNvSpPr>
          <p:nvPr/>
        </p:nvSpPr>
        <p:spPr>
          <a:xfrm xmlns:a="http://schemas.openxmlformats.org/drawingml/2006/main">
            <a:off x="9791700" y="1695450"/>
            <a:ext cx="2000250" cy="1123950"/>
          </a:xfrm>
          <a:prstGeom xmlns:a="http://schemas.openxmlformats.org/drawingml/2006/main" prst="rect">
            <a:avLst/>
          </a:prstGeom>
          <a:solidFill xmlns:a="http://schemas.openxmlformats.org/drawingml/2006/main">
            <a:srgbClr val="FFFFFF"/>
          </a:solidFill>
          <a:ln xmlns:a="http://schemas.openxmlformats.org/drawingml/2006/main" w="14288">
            <a:solidFill>
              <a:srgbClr val="E36A54"/>
            </a:solidFill>
            <a:prstDash val="solid"/>
          </a:ln>
        </p:spPr>
      </p:sp>
      <p:sp>
        <p:nvSpPr>
          <p:cNvPr id="37" name="">
            <a:extLst xmlns:a="http://schemas.openxmlformats.org/drawingml/2006/main">
              <a:ext uri="{FF2B5EF4-FFF2-40B4-BE49-F238E27FC236}">
                <a16:creationId xmlns:a16="http://schemas.microsoft.com/office/drawing/2014/main" id="{C6062035-2CCE-42B0-A9E5-752173770E17}"/>
              </a:ext>
            </a:extLst>
          </p:cNvPr>
          <p:cNvSpPr>
            <a:spLocks xmlns:a="http://schemas.openxmlformats.org/drawingml/2006/main" noGrp="1"/>
          </p:cNvSpPr>
          <p:nvPr/>
        </p:nvSpPr>
        <p:spPr>
          <a:xfrm xmlns:a="http://schemas.openxmlformats.org/drawingml/2006/main">
            <a:off x="9791700" y="1695450"/>
            <a:ext cx="2000250" cy="323850"/>
          </a:xfrm>
          <a:prstGeom xmlns:a="http://schemas.openxmlformats.org/drawingml/2006/main" prst="rect">
            <a:avLst/>
          </a:prstGeom>
          <a:solidFill xmlns:a="http://schemas.openxmlformats.org/drawingml/2006/main">
            <a:srgbClr val="E36A54"/>
          </a:solidFill>
          <a:ln xmlns:a="http://schemas.openxmlformats.org/drawingml/2006/main" w="0">
            <a:solidFill>
              <a:srgbClr val="E36A54"/>
            </a:solidFill>
            <a:prstDash val="solid"/>
          </a:ln>
        </p:spPr>
      </p:sp>
      <p:sp>
        <p:nvSpPr>
          <p:cNvPr id="38" name="">
            <a:extLst xmlns:a="http://schemas.openxmlformats.org/drawingml/2006/main">
              <a:ext uri="{FF2B5EF4-FFF2-40B4-BE49-F238E27FC236}">
                <a16:creationId xmlns:a16="http://schemas.microsoft.com/office/drawing/2014/main" id="{BB08F9F9-ADB5-4AF5-BB42-295CB7E1C51E}"/>
              </a:ext>
            </a:extLst>
          </p:cNvPr>
          <p:cNvSpPr>
            <a:spLocks xmlns:a="http://schemas.openxmlformats.org/drawingml/2006/main" noGrp="1"/>
          </p:cNvSpPr>
          <p:nvPr/>
        </p:nvSpPr>
        <p:spPr>
          <a:xfrm xmlns:a="http://schemas.openxmlformats.org/drawingml/2006/main">
            <a:off x="9906000" y="1743075"/>
            <a:ext cx="17716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t>card</a:t>
            </a:r>
          </a:p>
        </p:txBody>
      </p:sp>
      <p:sp>
        <p:nvSpPr>
          <p:cNvPr id="39" name="">
            <a:extLst xmlns:a="http://schemas.openxmlformats.org/drawingml/2006/main">
              <a:ext uri="{FF2B5EF4-FFF2-40B4-BE49-F238E27FC236}">
                <a16:creationId xmlns:a16="http://schemas.microsoft.com/office/drawing/2014/main" id="{671AB300-ABF2-41FD-B7FB-708ADFF45DD9}"/>
              </a:ext>
            </a:extLst>
          </p:cNvPr>
          <p:cNvSpPr>
            <a:spLocks xmlns:a="http://schemas.openxmlformats.org/drawingml/2006/main" noGrp="1"/>
          </p:cNvSpPr>
          <p:nvPr/>
        </p:nvSpPr>
        <p:spPr>
          <a:xfrm xmlns:a="http://schemas.openxmlformats.org/drawingml/2006/main">
            <a:off x="9906000" y="2114550"/>
            <a:ext cx="177165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63" b="0" i="0">
                <a:solidFill>
                  <a:srgbClr val="101820"/>
                </a:solidFill>
                <a:latin typeface="Helvetica Neue"/>
                <a:ea typeface="Helvetica Neue"/>
                <a:cs typeface="Helvetica Neue"/>
              </a:defRPr>
            </a:pPr>
            <a:r>
              <a:t>PK  card_id
FK  disp_id
     type, issued</a:t>
            </a:r>
          </a:p>
        </p:txBody>
      </p:sp>
      <p:sp>
        <p:nvSpPr>
          <p:cNvPr id="40" name="">
            <a:extLst xmlns:a="http://schemas.openxmlformats.org/drawingml/2006/main">
              <a:ext uri="{FF2B5EF4-FFF2-40B4-BE49-F238E27FC236}">
                <a16:creationId xmlns:a16="http://schemas.microsoft.com/office/drawing/2014/main" id="{08896950-ED9F-44FD-ACE8-C57DDE94EE3F}"/>
              </a:ext>
            </a:extLst>
          </p:cNvPr>
          <p:cNvSpPr>
            <a:spLocks xmlns:a="http://schemas.openxmlformats.org/drawingml/2006/main" noGrp="1"/>
          </p:cNvSpPr>
          <p:nvPr/>
        </p:nvSpPr>
        <p:spPr>
          <a:xfrm xmlns:a="http://schemas.openxmlformats.org/drawingml/2006/main">
            <a:off x="2914650" y="4724400"/>
            <a:ext cx="1905000" cy="1181100"/>
          </a:xfrm>
          <a:prstGeom xmlns:a="http://schemas.openxmlformats.org/drawingml/2006/main" prst="rect">
            <a:avLst/>
          </a:prstGeom>
          <a:solidFill xmlns:a="http://schemas.openxmlformats.org/drawingml/2006/main">
            <a:srgbClr val="FFFFFF"/>
          </a:solidFill>
          <a:ln xmlns:a="http://schemas.openxmlformats.org/drawingml/2006/main" w="14288">
            <a:solidFill>
              <a:srgbClr val="20A894"/>
            </a:solidFill>
            <a:prstDash val="solid"/>
          </a:ln>
        </p:spPr>
      </p:sp>
      <p:sp>
        <p:nvSpPr>
          <p:cNvPr id="41" name="">
            <a:extLst xmlns:a="http://schemas.openxmlformats.org/drawingml/2006/main">
              <a:ext uri="{FF2B5EF4-FFF2-40B4-BE49-F238E27FC236}">
                <a16:creationId xmlns:a16="http://schemas.microsoft.com/office/drawing/2014/main" id="{07770C99-4BFA-49BE-8001-8A223AADEF25}"/>
              </a:ext>
            </a:extLst>
          </p:cNvPr>
          <p:cNvSpPr>
            <a:spLocks xmlns:a="http://schemas.openxmlformats.org/drawingml/2006/main" noGrp="1"/>
          </p:cNvSpPr>
          <p:nvPr/>
        </p:nvSpPr>
        <p:spPr>
          <a:xfrm xmlns:a="http://schemas.openxmlformats.org/drawingml/2006/main">
            <a:off x="2914650" y="4724400"/>
            <a:ext cx="1905000" cy="323850"/>
          </a:xfrm>
          <a:prstGeom xmlns:a="http://schemas.openxmlformats.org/drawingml/2006/main" prst="rect">
            <a:avLst/>
          </a:prstGeom>
          <a:solidFill xmlns:a="http://schemas.openxmlformats.org/drawingml/2006/main">
            <a:srgbClr val="20A894"/>
          </a:solidFill>
          <a:ln xmlns:a="http://schemas.openxmlformats.org/drawingml/2006/main" w="0">
            <a:solidFill>
              <a:srgbClr val="20A894"/>
            </a:solidFill>
            <a:prstDash val="solid"/>
          </a:ln>
        </p:spPr>
      </p:sp>
      <p:sp>
        <p:nvSpPr>
          <p:cNvPr id="42" name="">
            <a:extLst xmlns:a="http://schemas.openxmlformats.org/drawingml/2006/main">
              <a:ext uri="{FF2B5EF4-FFF2-40B4-BE49-F238E27FC236}">
                <a16:creationId xmlns:a16="http://schemas.microsoft.com/office/drawing/2014/main" id="{EAED24B1-0EA1-4FC6-B37A-39F413E22267}"/>
              </a:ext>
            </a:extLst>
          </p:cNvPr>
          <p:cNvSpPr>
            <a:spLocks xmlns:a="http://schemas.openxmlformats.org/drawingml/2006/main" noGrp="1"/>
          </p:cNvSpPr>
          <p:nvPr/>
        </p:nvSpPr>
        <p:spPr>
          <a:xfrm xmlns:a="http://schemas.openxmlformats.org/drawingml/2006/main">
            <a:off x="3028950" y="4772025"/>
            <a:ext cx="1676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t>trans</a:t>
            </a:r>
          </a:p>
        </p:txBody>
      </p:sp>
      <p:sp>
        <p:nvSpPr>
          <p:cNvPr id="43" name="">
            <a:extLst xmlns:a="http://schemas.openxmlformats.org/drawingml/2006/main">
              <a:ext uri="{FF2B5EF4-FFF2-40B4-BE49-F238E27FC236}">
                <a16:creationId xmlns:a16="http://schemas.microsoft.com/office/drawing/2014/main" id="{0C0D4B7B-6339-46D2-997A-005CBF9D301A}"/>
              </a:ext>
            </a:extLst>
          </p:cNvPr>
          <p:cNvSpPr>
            <a:spLocks xmlns:a="http://schemas.openxmlformats.org/drawingml/2006/main" noGrp="1"/>
          </p:cNvSpPr>
          <p:nvPr/>
        </p:nvSpPr>
        <p:spPr>
          <a:xfrm xmlns:a="http://schemas.openxmlformats.org/drawingml/2006/main">
            <a:off x="3028950" y="5143500"/>
            <a:ext cx="1676400" cy="6858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63" b="0" i="0">
                <a:solidFill>
                  <a:srgbClr val="101820"/>
                </a:solidFill>
                <a:latin typeface="Helvetica Neue"/>
                <a:ea typeface="Helvetica Neue"/>
                <a:cs typeface="Helvetica Neue"/>
              </a:defRPr>
            </a:pPr>
            <a:r>
              <a:t>PK  trans_id
FK  account_id
     amount, balance</a:t>
            </a:r>
          </a:p>
        </p:txBody>
      </p:sp>
      <p:sp>
        <p:nvSpPr>
          <p:cNvPr id="44" name="">
            <a:extLst xmlns:a="http://schemas.openxmlformats.org/drawingml/2006/main">
              <a:ext uri="{FF2B5EF4-FFF2-40B4-BE49-F238E27FC236}">
                <a16:creationId xmlns:a16="http://schemas.microsoft.com/office/drawing/2014/main" id="{7BC6918A-56C9-4003-87FD-22078169EF4E}"/>
              </a:ext>
            </a:extLst>
          </p:cNvPr>
          <p:cNvSpPr>
            <a:spLocks xmlns:a="http://schemas.openxmlformats.org/drawingml/2006/main" noGrp="1"/>
          </p:cNvSpPr>
          <p:nvPr/>
        </p:nvSpPr>
        <p:spPr>
          <a:xfrm xmlns:a="http://schemas.openxmlformats.org/drawingml/2006/main">
            <a:off x="5143500" y="4724400"/>
            <a:ext cx="1905000" cy="1181100"/>
          </a:xfrm>
          <a:prstGeom xmlns:a="http://schemas.openxmlformats.org/drawingml/2006/main" prst="rect">
            <a:avLst/>
          </a:prstGeom>
          <a:solidFill xmlns:a="http://schemas.openxmlformats.org/drawingml/2006/main">
            <a:srgbClr val="FFFFFF"/>
          </a:solidFill>
          <a:ln xmlns:a="http://schemas.openxmlformats.org/drawingml/2006/main" w="14288">
            <a:solidFill>
              <a:srgbClr val="DDAA32"/>
            </a:solidFill>
            <a:prstDash val="solid"/>
          </a:ln>
        </p:spPr>
      </p:sp>
      <p:sp>
        <p:nvSpPr>
          <p:cNvPr id="45" name="">
            <a:extLst xmlns:a="http://schemas.openxmlformats.org/drawingml/2006/main">
              <a:ext uri="{FF2B5EF4-FFF2-40B4-BE49-F238E27FC236}">
                <a16:creationId xmlns:a16="http://schemas.microsoft.com/office/drawing/2014/main" id="{11C95BF6-21F1-44B0-A58E-9091FD704982}"/>
              </a:ext>
            </a:extLst>
          </p:cNvPr>
          <p:cNvSpPr>
            <a:spLocks xmlns:a="http://schemas.openxmlformats.org/drawingml/2006/main" noGrp="1"/>
          </p:cNvSpPr>
          <p:nvPr/>
        </p:nvSpPr>
        <p:spPr>
          <a:xfrm xmlns:a="http://schemas.openxmlformats.org/drawingml/2006/main">
            <a:off x="5143500" y="4724400"/>
            <a:ext cx="1905000" cy="323850"/>
          </a:xfrm>
          <a:prstGeom xmlns:a="http://schemas.openxmlformats.org/drawingml/2006/main" prst="rect">
            <a:avLst/>
          </a:prstGeom>
          <a:solidFill xmlns:a="http://schemas.openxmlformats.org/drawingml/2006/main">
            <a:srgbClr val="DDAA32"/>
          </a:solidFill>
          <a:ln xmlns:a="http://schemas.openxmlformats.org/drawingml/2006/main" w="0">
            <a:solidFill>
              <a:srgbClr val="DDAA32"/>
            </a:solidFill>
            <a:prstDash val="solid"/>
          </a:ln>
        </p:spPr>
      </p:sp>
      <p:sp>
        <p:nvSpPr>
          <p:cNvPr id="46" name="">
            <a:extLst xmlns:a="http://schemas.openxmlformats.org/drawingml/2006/main">
              <a:ext uri="{FF2B5EF4-FFF2-40B4-BE49-F238E27FC236}">
                <a16:creationId xmlns:a16="http://schemas.microsoft.com/office/drawing/2014/main" id="{18BD9AD9-E42E-41DA-9818-9EFC1CFE4D1B}"/>
              </a:ext>
            </a:extLst>
          </p:cNvPr>
          <p:cNvSpPr>
            <a:spLocks xmlns:a="http://schemas.openxmlformats.org/drawingml/2006/main" noGrp="1"/>
          </p:cNvSpPr>
          <p:nvPr/>
        </p:nvSpPr>
        <p:spPr>
          <a:xfrm xmlns:a="http://schemas.openxmlformats.org/drawingml/2006/main">
            <a:off x="5257800" y="4772025"/>
            <a:ext cx="1676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t>order</a:t>
            </a:r>
          </a:p>
        </p:txBody>
      </p:sp>
      <p:sp>
        <p:nvSpPr>
          <p:cNvPr id="47" name="">
            <a:extLst xmlns:a="http://schemas.openxmlformats.org/drawingml/2006/main">
              <a:ext uri="{FF2B5EF4-FFF2-40B4-BE49-F238E27FC236}">
                <a16:creationId xmlns:a16="http://schemas.microsoft.com/office/drawing/2014/main" id="{687901AF-54A1-44A6-A3F8-412469BA9C34}"/>
              </a:ext>
            </a:extLst>
          </p:cNvPr>
          <p:cNvSpPr>
            <a:spLocks xmlns:a="http://schemas.openxmlformats.org/drawingml/2006/main" noGrp="1"/>
          </p:cNvSpPr>
          <p:nvPr/>
        </p:nvSpPr>
        <p:spPr>
          <a:xfrm xmlns:a="http://schemas.openxmlformats.org/drawingml/2006/main">
            <a:off x="5257800" y="5143500"/>
            <a:ext cx="1676400" cy="6858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63" b="0" i="0">
                <a:solidFill>
                  <a:srgbClr val="101820"/>
                </a:solidFill>
                <a:latin typeface="Helvetica Neue"/>
                <a:ea typeface="Helvetica Neue"/>
                <a:cs typeface="Helvetica Neue"/>
              </a:defRPr>
            </a:pPr>
            <a:r>
              <a:t>PK  order_id
FK  account_id
     payment details</a:t>
            </a:r>
          </a:p>
        </p:txBody>
      </p:sp>
      <p:sp>
        <p:nvSpPr>
          <p:cNvPr id="48" name="">
            <a:extLst xmlns:a="http://schemas.openxmlformats.org/drawingml/2006/main">
              <a:ext uri="{FF2B5EF4-FFF2-40B4-BE49-F238E27FC236}">
                <a16:creationId xmlns:a16="http://schemas.microsoft.com/office/drawing/2014/main" id="{EA9EF6AB-8AD6-4C42-BF72-B8AC61C2D787}"/>
              </a:ext>
            </a:extLst>
          </p:cNvPr>
          <p:cNvSpPr>
            <a:spLocks xmlns:a="http://schemas.openxmlformats.org/drawingml/2006/main" noGrp="1"/>
          </p:cNvSpPr>
          <p:nvPr/>
        </p:nvSpPr>
        <p:spPr>
          <a:xfrm xmlns:a="http://schemas.openxmlformats.org/drawingml/2006/main">
            <a:off x="7372350" y="4724400"/>
            <a:ext cx="1905000" cy="1181100"/>
          </a:xfrm>
          <a:prstGeom xmlns:a="http://schemas.openxmlformats.org/drawingml/2006/main" prst="rect">
            <a:avLst/>
          </a:prstGeom>
          <a:solidFill xmlns:a="http://schemas.openxmlformats.org/drawingml/2006/main">
            <a:srgbClr val="FFFFFF"/>
          </a:solidFill>
          <a:ln xmlns:a="http://schemas.openxmlformats.org/drawingml/2006/main" w="14288">
            <a:solidFill>
              <a:srgbClr val="E36A54"/>
            </a:solidFill>
            <a:prstDash val="solid"/>
          </a:ln>
        </p:spPr>
      </p:sp>
      <p:sp>
        <p:nvSpPr>
          <p:cNvPr id="49" name="">
            <a:extLst xmlns:a="http://schemas.openxmlformats.org/drawingml/2006/main">
              <a:ext uri="{FF2B5EF4-FFF2-40B4-BE49-F238E27FC236}">
                <a16:creationId xmlns:a16="http://schemas.microsoft.com/office/drawing/2014/main" id="{9A77E527-17C4-4C5B-BE11-D0EE6A93F1F6}"/>
              </a:ext>
            </a:extLst>
          </p:cNvPr>
          <p:cNvSpPr>
            <a:spLocks xmlns:a="http://schemas.openxmlformats.org/drawingml/2006/main" noGrp="1"/>
          </p:cNvSpPr>
          <p:nvPr/>
        </p:nvSpPr>
        <p:spPr>
          <a:xfrm xmlns:a="http://schemas.openxmlformats.org/drawingml/2006/main">
            <a:off x="7372350" y="4724400"/>
            <a:ext cx="1905000" cy="323850"/>
          </a:xfrm>
          <a:prstGeom xmlns:a="http://schemas.openxmlformats.org/drawingml/2006/main" prst="rect">
            <a:avLst/>
          </a:prstGeom>
          <a:solidFill xmlns:a="http://schemas.openxmlformats.org/drawingml/2006/main">
            <a:srgbClr val="E36A54"/>
          </a:solidFill>
          <a:ln xmlns:a="http://schemas.openxmlformats.org/drawingml/2006/main" w="0">
            <a:solidFill>
              <a:srgbClr val="E36A54"/>
            </a:solidFill>
            <a:prstDash val="solid"/>
          </a:ln>
        </p:spPr>
      </p:sp>
      <p:sp>
        <p:nvSpPr>
          <p:cNvPr id="50" name="">
            <a:extLst xmlns:a="http://schemas.openxmlformats.org/drawingml/2006/main">
              <a:ext uri="{FF2B5EF4-FFF2-40B4-BE49-F238E27FC236}">
                <a16:creationId xmlns:a16="http://schemas.microsoft.com/office/drawing/2014/main" id="{D3FD334D-A927-4636-85B0-9EDF731140CD}"/>
              </a:ext>
            </a:extLst>
          </p:cNvPr>
          <p:cNvSpPr>
            <a:spLocks xmlns:a="http://schemas.openxmlformats.org/drawingml/2006/main" noGrp="1"/>
          </p:cNvSpPr>
          <p:nvPr/>
        </p:nvSpPr>
        <p:spPr>
          <a:xfrm xmlns:a="http://schemas.openxmlformats.org/drawingml/2006/main">
            <a:off x="7486650" y="4772025"/>
            <a:ext cx="1676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t>loan</a:t>
            </a:r>
          </a:p>
        </p:txBody>
      </p:sp>
      <p:sp>
        <p:nvSpPr>
          <p:cNvPr id="51" name="">
            <a:extLst xmlns:a="http://schemas.openxmlformats.org/drawingml/2006/main">
              <a:ext uri="{FF2B5EF4-FFF2-40B4-BE49-F238E27FC236}">
                <a16:creationId xmlns:a16="http://schemas.microsoft.com/office/drawing/2014/main" id="{D38D7E8F-8459-471E-92BA-F9AF0C52BF60}"/>
              </a:ext>
            </a:extLst>
          </p:cNvPr>
          <p:cNvSpPr>
            <a:spLocks xmlns:a="http://schemas.openxmlformats.org/drawingml/2006/main" noGrp="1"/>
          </p:cNvSpPr>
          <p:nvPr/>
        </p:nvSpPr>
        <p:spPr>
          <a:xfrm xmlns:a="http://schemas.openxmlformats.org/drawingml/2006/main">
            <a:off x="7486650" y="5143500"/>
            <a:ext cx="1676400" cy="6858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63" b="0" i="0">
                <a:solidFill>
                  <a:srgbClr val="101820"/>
                </a:solidFill>
                <a:latin typeface="Helvetica Neue"/>
                <a:ea typeface="Helvetica Neue"/>
                <a:cs typeface="Helvetica Neue"/>
              </a:defRPr>
            </a:pPr>
            <a:r>
              <a:t>PK  loan_id
FK  account_id
     amount, status</a:t>
            </a:r>
          </a:p>
        </p:txBody>
      </p:sp>
      <p:sp>
        <p:nvSpPr>
          <p:cNvPr id="52" name="">
            <a:extLst xmlns:a="http://schemas.openxmlformats.org/drawingml/2006/main">
              <a:ext uri="{FF2B5EF4-FFF2-40B4-BE49-F238E27FC236}">
                <a16:creationId xmlns:a16="http://schemas.microsoft.com/office/drawing/2014/main" id="{7E71335E-922F-43A9-8912-AD18D1FE3706}"/>
              </a:ext>
            </a:extLst>
          </p:cNvPr>
          <p:cNvSpPr>
            <a:spLocks xmlns:a="http://schemas.openxmlformats.org/drawingml/2006/main" noGrp="1"/>
          </p:cNvSpPr>
          <p:nvPr/>
        </p:nvSpPr>
        <p:spPr>
          <a:xfrm xmlns:a="http://schemas.openxmlformats.org/drawingml/2006/main">
            <a:off x="400050" y="6000750"/>
            <a:ext cx="95250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7324A"/>
                </a:solidFill>
                <a:latin typeface="Helvetica Neue"/>
                <a:ea typeface="Helvetica Neue"/>
                <a:cs typeface="Helvetica Neue"/>
              </a:defRPr>
            </a:pPr>
            <a:r>
              <a:t>4,500 accounts  •  1.06M clean transactions  •  72 observed months</a:t>
            </a:r>
          </a:p>
        </p:txBody>
      </p:sp>
    </p:spTree>
    <p:extLst>
      <p:ext uri="{BB962C8B-B14F-4D97-AF65-F5344CB8AC3E}">
        <p14:creationId xmlns:p14="http://schemas.microsoft.com/office/powerpoint/2010/main" val="17103219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81E8C3D-E7B3-4C6F-A177-4B179A6C695B}"/>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101820"/>
                </a:solidFill>
                <a:latin typeface="Helvetica Neue"/>
                <a:ea typeface="Helvetica Neue"/>
                <a:cs typeface="Helvetica Neue"/>
              </a:defRPr>
            </a:pPr>
            <a:r>
              <a:t>Four notebooks build the analysis in sequence</a:t>
            </a:r>
          </a:p>
        </p:txBody>
      </p:sp>
      <p:sp>
        <p:nvSpPr>
          <p:cNvPr id="2" name="">
            <a:extLst xmlns:a="http://schemas.openxmlformats.org/drawingml/2006/main">
              <a:ext uri="{FF2B5EF4-FFF2-40B4-BE49-F238E27FC236}">
                <a16:creationId xmlns:a16="http://schemas.microsoft.com/office/drawing/2014/main" id="{930CB4E8-D2F2-45AB-B3B8-1DA7C5AB5C42}"/>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Source: notebooks/README.md and the executed project notebooks.</a:t>
            </a:r>
          </a:p>
        </p:txBody>
      </p:sp>
      <p:sp>
        <p:nvSpPr>
          <p:cNvPr id="3" name="">
            <a:extLst xmlns:a="http://schemas.openxmlformats.org/drawingml/2006/main">
              <a:ext uri="{FF2B5EF4-FFF2-40B4-BE49-F238E27FC236}">
                <a16:creationId xmlns:a16="http://schemas.microsoft.com/office/drawing/2014/main" id="{EA34BCFF-C724-44AD-A08F-5741468E6F16}"/>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4</a:t>
            </a:r>
          </a:p>
        </p:txBody>
      </p:sp>
      <p:sp>
        <p:nvSpPr>
          <p:cNvPr id="4" name="">
            <a:extLst xmlns:a="http://schemas.openxmlformats.org/drawingml/2006/main">
              <a:ext uri="{FF2B5EF4-FFF2-40B4-BE49-F238E27FC236}">
                <a16:creationId xmlns:a16="http://schemas.microsoft.com/office/drawing/2014/main" id="{ED07910D-15B5-4E15-9B00-692F9D6C1A50}"/>
              </a:ext>
            </a:extLst>
          </p:cNvPr>
          <p:cNvSpPr>
            <a:spLocks xmlns:a="http://schemas.openxmlformats.org/drawingml/2006/main" noGrp="1"/>
          </p:cNvSpPr>
          <p:nvPr/>
        </p:nvSpPr>
        <p:spPr>
          <a:xfrm xmlns:a="http://schemas.openxmlformats.org/drawingml/2006/main">
            <a:off x="400050" y="1257300"/>
            <a:ext cx="4000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0706D"/>
                </a:solidFill>
                <a:latin typeface="Helvetica Neue"/>
                <a:ea typeface="Helvetica Neue"/>
                <a:cs typeface="Helvetica Neue"/>
              </a:defRPr>
            </a:pPr>
            <a:r>
              <a:t>NOTEBOOK</a:t>
            </a:r>
          </a:p>
        </p:txBody>
      </p:sp>
      <p:sp>
        <p:nvSpPr>
          <p:cNvPr id="5" name="">
            <a:extLst xmlns:a="http://schemas.openxmlformats.org/drawingml/2006/main">
              <a:ext uri="{FF2B5EF4-FFF2-40B4-BE49-F238E27FC236}">
                <a16:creationId xmlns:a16="http://schemas.microsoft.com/office/drawing/2014/main" id="{CEE9BE95-9416-4823-A656-A6FFC6CE5B54}"/>
              </a:ext>
            </a:extLst>
          </p:cNvPr>
          <p:cNvSpPr>
            <a:spLocks xmlns:a="http://schemas.openxmlformats.org/drawingml/2006/main" noGrp="1"/>
          </p:cNvSpPr>
          <p:nvPr/>
        </p:nvSpPr>
        <p:spPr>
          <a:xfrm xmlns:a="http://schemas.openxmlformats.org/drawingml/2006/main">
            <a:off x="4762500" y="1257300"/>
            <a:ext cx="4762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0706D"/>
                </a:solidFill>
                <a:latin typeface="Helvetica Neue"/>
                <a:ea typeface="Helvetica Neue"/>
                <a:cs typeface="Helvetica Neue"/>
              </a:defRPr>
            </a:pPr>
            <a:r>
              <a:t>WHAT IT DOES</a:t>
            </a:r>
          </a:p>
        </p:txBody>
      </p:sp>
      <p:sp>
        <p:nvSpPr>
          <p:cNvPr id="6" name="">
            <a:extLst xmlns:a="http://schemas.openxmlformats.org/drawingml/2006/main">
              <a:ext uri="{FF2B5EF4-FFF2-40B4-BE49-F238E27FC236}">
                <a16:creationId xmlns:a16="http://schemas.microsoft.com/office/drawing/2014/main" id="{CD10D164-906B-4A99-96A4-B7F5E84E52D3}"/>
              </a:ext>
            </a:extLst>
          </p:cNvPr>
          <p:cNvSpPr>
            <a:spLocks xmlns:a="http://schemas.openxmlformats.org/drawingml/2006/main" noGrp="1"/>
          </p:cNvSpPr>
          <p:nvPr/>
        </p:nvSpPr>
        <p:spPr>
          <a:xfrm xmlns:a="http://schemas.openxmlformats.org/drawingml/2006/main">
            <a:off x="9810750" y="1257300"/>
            <a:ext cx="19812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0706D"/>
                </a:solidFill>
                <a:latin typeface="Helvetica Neue"/>
                <a:ea typeface="Helvetica Neue"/>
                <a:cs typeface="Helvetica Neue"/>
              </a:defRPr>
            </a:pPr>
            <a:r>
              <a:t>MAIN OUTPUT</a:t>
            </a:r>
          </a:p>
        </p:txBody>
      </p:sp>
      <p:sp>
        <p:nvSpPr>
          <p:cNvPr id="7" name="">
            <a:extLst xmlns:a="http://schemas.openxmlformats.org/drawingml/2006/main">
              <a:ext uri="{FF2B5EF4-FFF2-40B4-BE49-F238E27FC236}">
                <a16:creationId xmlns:a16="http://schemas.microsoft.com/office/drawing/2014/main" id="{73571B09-2C19-490A-B57C-20559598A8A8}"/>
              </a:ext>
            </a:extLst>
          </p:cNvPr>
          <p:cNvSpPr>
            <a:spLocks xmlns:a="http://schemas.openxmlformats.org/drawingml/2006/main" noGrp="1"/>
          </p:cNvSpPr>
          <p:nvPr/>
        </p:nvSpPr>
        <p:spPr>
          <a:xfrm xmlns:a="http://schemas.openxmlformats.org/drawingml/2006/main">
            <a:off x="400050" y="1619250"/>
            <a:ext cx="5143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3D8DFF"/>
                </a:solidFill>
                <a:latin typeface="Helvetica Neue"/>
                <a:ea typeface="Helvetica Neue"/>
                <a:cs typeface="Helvetica Neue"/>
              </a:defRPr>
            </a:pPr>
            <a:r>
              <a:t>01</a:t>
            </a:r>
          </a:p>
        </p:txBody>
      </p:sp>
      <p:sp>
        <p:nvSpPr>
          <p:cNvPr id="8" name="">
            <a:extLst xmlns:a="http://schemas.openxmlformats.org/drawingml/2006/main">
              <a:ext uri="{FF2B5EF4-FFF2-40B4-BE49-F238E27FC236}">
                <a16:creationId xmlns:a16="http://schemas.microsoft.com/office/drawing/2014/main" id="{F500C861-2F77-48C0-994D-6657F1ECDE98}"/>
              </a:ext>
            </a:extLst>
          </p:cNvPr>
          <p:cNvSpPr>
            <a:spLocks xmlns:a="http://schemas.openxmlformats.org/drawingml/2006/main" noGrp="1"/>
          </p:cNvSpPr>
          <p:nvPr/>
        </p:nvSpPr>
        <p:spPr>
          <a:xfrm xmlns:a="http://schemas.openxmlformats.org/drawingml/2006/main">
            <a:off x="1047750" y="1562100"/>
            <a:ext cx="3524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01820"/>
                </a:solidFill>
                <a:latin typeface="Helvetica Neue"/>
                <a:ea typeface="Helvetica Neue"/>
                <a:cs typeface="Helvetica Neue"/>
              </a:defRPr>
            </a:pPr>
            <a:r>
              <a:t>Data foundation and engineering</a:t>
            </a:r>
          </a:p>
        </p:txBody>
      </p:sp>
      <p:sp>
        <p:nvSpPr>
          <p:cNvPr id="9" name="">
            <a:extLst xmlns:a="http://schemas.openxmlformats.org/drawingml/2006/main">
              <a:ext uri="{FF2B5EF4-FFF2-40B4-BE49-F238E27FC236}">
                <a16:creationId xmlns:a16="http://schemas.microsoft.com/office/drawing/2014/main" id="{CFDB9E22-474A-49DC-8745-D5AAF925A2BB}"/>
              </a:ext>
            </a:extLst>
          </p:cNvPr>
          <p:cNvSpPr>
            <a:spLocks xmlns:a="http://schemas.openxmlformats.org/drawingml/2006/main" noGrp="1"/>
          </p:cNvSpPr>
          <p:nvPr/>
        </p:nvSpPr>
        <p:spPr>
          <a:xfrm xmlns:a="http://schemas.openxmlformats.org/drawingml/2006/main">
            <a:off x="1047750" y="1885950"/>
            <a:ext cx="3524250" cy="228600"/>
          </a:xfrm>
          <a:prstGeom xmlns:a="http://schemas.openxmlformats.org/drawingml/2006/main" prst="rect">
            <a:avLst/>
          </a:prstGeom>
        </p:spPr>
        <p:txBody>
          <a:bodyPr xmlns:a="http://schemas.openxmlformats.org/drawingml/2006/main" wrap="square" lIns="0" tIns="0" rIns="0" bIns="0" anchor="t">
            <a:normAutofit fontScale="95947"/>
          </a:bodyPr>
          <a:lstStyle xmlns:a="http://schemas.openxmlformats.org/drawingml/2006/main"/>
          <a:p xmlns:a="http://schemas.openxmlformats.org/drawingml/2006/main">
            <a:pPr algn="l">
              <a:defRPr sz="1200" b="0" i="0">
                <a:solidFill>
                  <a:srgbClr val="17324A"/>
                </a:solidFill>
                <a:latin typeface="Menlo"/>
                <a:ea typeface="Menlo"/>
                <a:cs typeface="Menlo"/>
              </a:defRPr>
            </a:pPr>
            <a:r>
              <a:t>01_data_foundation_and_engineering.ipynb</a:t>
            </a:r>
          </a:p>
        </p:txBody>
      </p:sp>
      <p:sp>
        <p:nvSpPr>
          <p:cNvPr id="10" name="">
            <a:extLst xmlns:a="http://schemas.openxmlformats.org/drawingml/2006/main">
              <a:ext uri="{FF2B5EF4-FFF2-40B4-BE49-F238E27FC236}">
                <a16:creationId xmlns:a16="http://schemas.microsoft.com/office/drawing/2014/main" id="{E00BDD24-A03B-4D11-AD9E-67DAA7C8F0B1}"/>
              </a:ext>
            </a:extLst>
          </p:cNvPr>
          <p:cNvSpPr>
            <a:spLocks xmlns:a="http://schemas.openxmlformats.org/drawingml/2006/main" noGrp="1"/>
          </p:cNvSpPr>
          <p:nvPr/>
        </p:nvSpPr>
        <p:spPr>
          <a:xfrm xmlns:a="http://schemas.openxmlformats.org/drawingml/2006/main">
            <a:off x="1047750" y="2190750"/>
            <a:ext cx="3524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0706D"/>
                </a:solidFill>
                <a:latin typeface="Helvetica Neue"/>
                <a:ea typeface="Helvetica Neue"/>
                <a:cs typeface="Helvetica Neue"/>
              </a:defRPr>
            </a:pPr>
            <a:r>
              <a:t>Weeks 1, 3, 4 &amp; 5</a:t>
            </a:r>
          </a:p>
        </p:txBody>
      </p:sp>
      <p:sp>
        <p:nvSpPr>
          <p:cNvPr id="11" name="">
            <a:extLst xmlns:a="http://schemas.openxmlformats.org/drawingml/2006/main">
              <a:ext uri="{FF2B5EF4-FFF2-40B4-BE49-F238E27FC236}">
                <a16:creationId xmlns:a16="http://schemas.microsoft.com/office/drawing/2014/main" id="{2D78A0F9-96E6-43AB-A1F2-6C576A10541B}"/>
              </a:ext>
            </a:extLst>
          </p:cNvPr>
          <p:cNvSpPr>
            <a:spLocks xmlns:a="http://schemas.openxmlformats.org/drawingml/2006/main" noGrp="1"/>
          </p:cNvSpPr>
          <p:nvPr/>
        </p:nvSpPr>
        <p:spPr>
          <a:xfrm xmlns:a="http://schemas.openxmlformats.org/drawingml/2006/main">
            <a:off x="4762500" y="1562100"/>
            <a:ext cx="4762500" cy="8382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13" b="0" i="0">
                <a:solidFill>
                  <a:srgbClr val="101820"/>
                </a:solidFill>
                <a:latin typeface="Helvetica Neue"/>
                <a:ea typeface="Helvetica Neue"/>
                <a:cs typeface="Helvetica Neue"/>
              </a:defRPr>
            </a:pPr>
            <a:r>
              <a:t>Frames the problem; audits tables, keys, and relationships; cleans and joins the data; documents preparation and medallion-layer decisions.</a:t>
            </a:r>
          </a:p>
        </p:txBody>
      </p:sp>
      <p:sp>
        <p:nvSpPr>
          <p:cNvPr id="12" name="">
            <a:extLst xmlns:a="http://schemas.openxmlformats.org/drawingml/2006/main">
              <a:ext uri="{FF2B5EF4-FFF2-40B4-BE49-F238E27FC236}">
                <a16:creationId xmlns:a16="http://schemas.microsoft.com/office/drawing/2014/main" id="{E6125FF2-BC60-4B3E-8129-26B2E30FE8A4}"/>
              </a:ext>
            </a:extLst>
          </p:cNvPr>
          <p:cNvSpPr>
            <a:spLocks xmlns:a="http://schemas.openxmlformats.org/drawingml/2006/main" noGrp="1"/>
          </p:cNvSpPr>
          <p:nvPr/>
        </p:nvSpPr>
        <p:spPr>
          <a:xfrm xmlns:a="http://schemas.openxmlformats.org/drawingml/2006/main">
            <a:off x="9810750" y="1562100"/>
            <a:ext cx="1981200" cy="8382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i="0">
                <a:solidFill>
                  <a:srgbClr val="17324A"/>
                </a:solidFill>
                <a:latin typeface="Helvetica Neue"/>
                <a:ea typeface="Helvetica Neue"/>
                <a:cs typeface="Helvetica Neue"/>
              </a:defRPr>
            </a:pPr>
            <a:r>
              <a:t>Four clean Silver tables</a:t>
            </a:r>
          </a:p>
        </p:txBody>
      </p:sp>
      <p:sp>
        <p:nvSpPr>
          <p:cNvPr id="13" name="">
            <a:extLst xmlns:a="http://schemas.openxmlformats.org/drawingml/2006/main">
              <a:ext uri="{FF2B5EF4-FFF2-40B4-BE49-F238E27FC236}">
                <a16:creationId xmlns:a16="http://schemas.microsoft.com/office/drawing/2014/main" id="{23A392C7-5D9E-42D5-8261-BD7F8D2D263A}"/>
              </a:ext>
            </a:extLst>
          </p:cNvPr>
          <p:cNvSpPr>
            <a:spLocks xmlns:a="http://schemas.openxmlformats.org/drawingml/2006/main" noGrp="1"/>
          </p:cNvSpPr>
          <p:nvPr/>
        </p:nvSpPr>
        <p:spPr>
          <a:xfrm xmlns:a="http://schemas.openxmlformats.org/drawingml/2006/main">
            <a:off x="400050" y="2571750"/>
            <a:ext cx="11391900" cy="952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4" name="">
            <a:extLst xmlns:a="http://schemas.openxmlformats.org/drawingml/2006/main">
              <a:ext uri="{FF2B5EF4-FFF2-40B4-BE49-F238E27FC236}">
                <a16:creationId xmlns:a16="http://schemas.microsoft.com/office/drawing/2014/main" id="{A803CFBA-7651-470D-B60F-6FB2ED4130FF}"/>
              </a:ext>
            </a:extLst>
          </p:cNvPr>
          <p:cNvSpPr>
            <a:spLocks xmlns:a="http://schemas.openxmlformats.org/drawingml/2006/main" noGrp="1"/>
          </p:cNvSpPr>
          <p:nvPr/>
        </p:nvSpPr>
        <p:spPr>
          <a:xfrm xmlns:a="http://schemas.openxmlformats.org/drawingml/2006/main">
            <a:off x="400050" y="2743200"/>
            <a:ext cx="5143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20A894"/>
                </a:solidFill>
                <a:latin typeface="Helvetica Neue"/>
                <a:ea typeface="Helvetica Neue"/>
                <a:cs typeface="Helvetica Neue"/>
              </a:defRPr>
            </a:pPr>
            <a:r>
              <a:t>02</a:t>
            </a:r>
          </a:p>
        </p:txBody>
      </p:sp>
      <p:sp>
        <p:nvSpPr>
          <p:cNvPr id="15" name="">
            <a:extLst xmlns:a="http://schemas.openxmlformats.org/drawingml/2006/main">
              <a:ext uri="{FF2B5EF4-FFF2-40B4-BE49-F238E27FC236}">
                <a16:creationId xmlns:a16="http://schemas.microsoft.com/office/drawing/2014/main" id="{7EAEFFB2-1DCE-4B92-8F99-1B4F71AF404A}"/>
              </a:ext>
            </a:extLst>
          </p:cNvPr>
          <p:cNvSpPr>
            <a:spLocks xmlns:a="http://schemas.openxmlformats.org/drawingml/2006/main" noGrp="1"/>
          </p:cNvSpPr>
          <p:nvPr/>
        </p:nvSpPr>
        <p:spPr>
          <a:xfrm xmlns:a="http://schemas.openxmlformats.org/drawingml/2006/main">
            <a:off x="1047750" y="2686050"/>
            <a:ext cx="3524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01820"/>
                </a:solidFill>
                <a:latin typeface="Helvetica Neue"/>
                <a:ea typeface="Helvetica Neue"/>
                <a:cs typeface="Helvetica Neue"/>
              </a:defRPr>
            </a:pPr>
            <a:r>
              <a:t>Behavioral and temporal analysis</a:t>
            </a:r>
          </a:p>
        </p:txBody>
      </p:sp>
      <p:sp>
        <p:nvSpPr>
          <p:cNvPr id="16" name="">
            <a:extLst xmlns:a="http://schemas.openxmlformats.org/drawingml/2006/main">
              <a:ext uri="{FF2B5EF4-FFF2-40B4-BE49-F238E27FC236}">
                <a16:creationId xmlns:a16="http://schemas.microsoft.com/office/drawing/2014/main" id="{16BC0783-B64E-4E40-823C-A13EDF596AF3}"/>
              </a:ext>
            </a:extLst>
          </p:cNvPr>
          <p:cNvSpPr>
            <a:spLocks xmlns:a="http://schemas.openxmlformats.org/drawingml/2006/main" noGrp="1"/>
          </p:cNvSpPr>
          <p:nvPr/>
        </p:nvSpPr>
        <p:spPr>
          <a:xfrm xmlns:a="http://schemas.openxmlformats.org/drawingml/2006/main">
            <a:off x="1047750" y="3009900"/>
            <a:ext cx="3524250" cy="228600"/>
          </a:xfrm>
          <a:prstGeom xmlns:a="http://schemas.openxmlformats.org/drawingml/2006/main" prst="rect">
            <a:avLst/>
          </a:prstGeom>
        </p:spPr>
        <p:txBody>
          <a:bodyPr xmlns:a="http://schemas.openxmlformats.org/drawingml/2006/main" wrap="square" lIns="0" tIns="0" rIns="0" bIns="0" anchor="t">
            <a:normAutofit fontScale="94284"/>
          </a:bodyPr>
          <a:lstStyle xmlns:a="http://schemas.openxmlformats.org/drawingml/2006/main"/>
          <a:p xmlns:a="http://schemas.openxmlformats.org/drawingml/2006/main">
            <a:pPr algn="l">
              <a:defRPr sz="1200" b="0" i="0">
                <a:solidFill>
                  <a:srgbClr val="17324A"/>
                </a:solidFill>
                <a:latin typeface="Menlo"/>
                <a:ea typeface="Menlo"/>
                <a:cs typeface="Menlo"/>
              </a:defRPr>
            </a:pPr>
            <a:r>
              <a:t>02_behavioral_and_temporal_analysis.ipynb</a:t>
            </a:r>
          </a:p>
        </p:txBody>
      </p:sp>
      <p:sp>
        <p:nvSpPr>
          <p:cNvPr id="17" name="">
            <a:extLst xmlns:a="http://schemas.openxmlformats.org/drawingml/2006/main">
              <a:ext uri="{FF2B5EF4-FFF2-40B4-BE49-F238E27FC236}">
                <a16:creationId xmlns:a16="http://schemas.microsoft.com/office/drawing/2014/main" id="{A85996ED-1F44-4706-9BBF-5015AB254BE0}"/>
              </a:ext>
            </a:extLst>
          </p:cNvPr>
          <p:cNvSpPr>
            <a:spLocks xmlns:a="http://schemas.openxmlformats.org/drawingml/2006/main" noGrp="1"/>
          </p:cNvSpPr>
          <p:nvPr/>
        </p:nvSpPr>
        <p:spPr>
          <a:xfrm xmlns:a="http://schemas.openxmlformats.org/drawingml/2006/main">
            <a:off x="1047750" y="3314700"/>
            <a:ext cx="3524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0706D"/>
                </a:solidFill>
                <a:latin typeface="Helvetica Neue"/>
                <a:ea typeface="Helvetica Neue"/>
                <a:cs typeface="Helvetica Neue"/>
              </a:defRPr>
            </a:pPr>
            <a:r>
              <a:t>Weeks 2, 6 &amp; 7</a:t>
            </a:r>
          </a:p>
        </p:txBody>
      </p:sp>
      <p:sp>
        <p:nvSpPr>
          <p:cNvPr id="18" name="">
            <a:extLst xmlns:a="http://schemas.openxmlformats.org/drawingml/2006/main">
              <a:ext uri="{FF2B5EF4-FFF2-40B4-BE49-F238E27FC236}">
                <a16:creationId xmlns:a16="http://schemas.microsoft.com/office/drawing/2014/main" id="{C4B5E6A3-89DB-4CE2-80B6-99C01D4872A4}"/>
              </a:ext>
            </a:extLst>
          </p:cNvPr>
          <p:cNvSpPr>
            <a:spLocks xmlns:a="http://schemas.openxmlformats.org/drawingml/2006/main" noGrp="1"/>
          </p:cNvSpPr>
          <p:nvPr/>
        </p:nvSpPr>
        <p:spPr>
          <a:xfrm xmlns:a="http://schemas.openxmlformats.org/drawingml/2006/main">
            <a:off x="4762500" y="2686050"/>
            <a:ext cx="4762500" cy="8382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13" b="0" i="0">
                <a:solidFill>
                  <a:srgbClr val="101820"/>
                </a:solidFill>
                <a:latin typeface="Helvetica Neue"/>
                <a:ea typeface="Helvetica Neue"/>
                <a:cs typeface="Helvetica Neue"/>
              </a:defRPr>
            </a:pPr>
            <a:r>
              <a:t>Runs EDA; studies banking activity over time; forecasts aggregate activity; mines service associations; builds customer behavior features.</a:t>
            </a:r>
          </a:p>
        </p:txBody>
      </p:sp>
      <p:sp>
        <p:nvSpPr>
          <p:cNvPr id="19" name="">
            <a:extLst xmlns:a="http://schemas.openxmlformats.org/drawingml/2006/main">
              <a:ext uri="{FF2B5EF4-FFF2-40B4-BE49-F238E27FC236}">
                <a16:creationId xmlns:a16="http://schemas.microsoft.com/office/drawing/2014/main" id="{4CBD1717-1B70-42A0-AF31-BF6B9F756FA8}"/>
              </a:ext>
            </a:extLst>
          </p:cNvPr>
          <p:cNvSpPr>
            <a:spLocks xmlns:a="http://schemas.openxmlformats.org/drawingml/2006/main" noGrp="1"/>
          </p:cNvSpPr>
          <p:nvPr/>
        </p:nvSpPr>
        <p:spPr>
          <a:xfrm xmlns:a="http://schemas.openxmlformats.org/drawingml/2006/main">
            <a:off x="9810750" y="2686050"/>
            <a:ext cx="1981200" cy="8382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i="0">
                <a:solidFill>
                  <a:srgbClr val="17324A"/>
                </a:solidFill>
                <a:latin typeface="Helvetica Neue"/>
                <a:ea typeface="Helvetica Neue"/>
                <a:cs typeface="Helvetica Neue"/>
              </a:defRPr>
            </a:pPr>
            <a:r>
              <a:t>Features, monthly activity, and association rules</a:t>
            </a:r>
          </a:p>
        </p:txBody>
      </p:sp>
      <p:sp>
        <p:nvSpPr>
          <p:cNvPr id="20" name="">
            <a:extLst xmlns:a="http://schemas.openxmlformats.org/drawingml/2006/main">
              <a:ext uri="{FF2B5EF4-FFF2-40B4-BE49-F238E27FC236}">
                <a16:creationId xmlns:a16="http://schemas.microsoft.com/office/drawing/2014/main" id="{3EA43463-03F8-4561-A440-9B67FDA16676}"/>
              </a:ext>
            </a:extLst>
          </p:cNvPr>
          <p:cNvSpPr>
            <a:spLocks xmlns:a="http://schemas.openxmlformats.org/drawingml/2006/main" noGrp="1"/>
          </p:cNvSpPr>
          <p:nvPr/>
        </p:nvSpPr>
        <p:spPr>
          <a:xfrm xmlns:a="http://schemas.openxmlformats.org/drawingml/2006/main">
            <a:off x="400050" y="3695700"/>
            <a:ext cx="11391900" cy="952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21" name="">
            <a:extLst xmlns:a="http://schemas.openxmlformats.org/drawingml/2006/main">
              <a:ext uri="{FF2B5EF4-FFF2-40B4-BE49-F238E27FC236}">
                <a16:creationId xmlns:a16="http://schemas.microsoft.com/office/drawing/2014/main" id="{606755CB-9F16-446B-A075-258D2D5C3F76}"/>
              </a:ext>
            </a:extLst>
          </p:cNvPr>
          <p:cNvSpPr>
            <a:spLocks xmlns:a="http://schemas.openxmlformats.org/drawingml/2006/main" noGrp="1"/>
          </p:cNvSpPr>
          <p:nvPr/>
        </p:nvSpPr>
        <p:spPr>
          <a:xfrm xmlns:a="http://schemas.openxmlformats.org/drawingml/2006/main">
            <a:off x="400050" y="3867150"/>
            <a:ext cx="5143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DDAA32"/>
                </a:solidFill>
                <a:latin typeface="Helvetica Neue"/>
                <a:ea typeface="Helvetica Neue"/>
                <a:cs typeface="Helvetica Neue"/>
              </a:defRPr>
            </a:pPr>
            <a:r>
              <a:t>03</a:t>
            </a:r>
          </a:p>
        </p:txBody>
      </p:sp>
      <p:sp>
        <p:nvSpPr>
          <p:cNvPr id="22" name="">
            <a:extLst xmlns:a="http://schemas.openxmlformats.org/drawingml/2006/main">
              <a:ext uri="{FF2B5EF4-FFF2-40B4-BE49-F238E27FC236}">
                <a16:creationId xmlns:a16="http://schemas.microsoft.com/office/drawing/2014/main" id="{81D027B9-152B-4721-A43B-F0DE723E74CB}"/>
              </a:ext>
            </a:extLst>
          </p:cNvPr>
          <p:cNvSpPr>
            <a:spLocks xmlns:a="http://schemas.openxmlformats.org/drawingml/2006/main" noGrp="1"/>
          </p:cNvSpPr>
          <p:nvPr/>
        </p:nvSpPr>
        <p:spPr>
          <a:xfrm xmlns:a="http://schemas.openxmlformats.org/drawingml/2006/main">
            <a:off x="1047750" y="3810000"/>
            <a:ext cx="3524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01820"/>
                </a:solidFill>
                <a:latin typeface="Helvetica Neue"/>
                <a:ea typeface="Helvetica Neue"/>
                <a:cs typeface="Helvetica Neue"/>
              </a:defRPr>
            </a:pPr>
            <a:r>
              <a:t>Customer segmentation</a:t>
            </a:r>
          </a:p>
        </p:txBody>
      </p:sp>
      <p:sp>
        <p:nvSpPr>
          <p:cNvPr id="23" name="">
            <a:extLst xmlns:a="http://schemas.openxmlformats.org/drawingml/2006/main">
              <a:ext uri="{FF2B5EF4-FFF2-40B4-BE49-F238E27FC236}">
                <a16:creationId xmlns:a16="http://schemas.microsoft.com/office/drawing/2014/main" id="{85D01942-087F-4289-A122-55056888B236}"/>
              </a:ext>
            </a:extLst>
          </p:cNvPr>
          <p:cNvSpPr>
            <a:spLocks xmlns:a="http://schemas.openxmlformats.org/drawingml/2006/main" noGrp="1"/>
          </p:cNvSpPr>
          <p:nvPr/>
        </p:nvSpPr>
        <p:spPr>
          <a:xfrm xmlns:a="http://schemas.openxmlformats.org/drawingml/2006/main">
            <a:off x="1047750" y="4133850"/>
            <a:ext cx="35242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17324A"/>
                </a:solidFill>
                <a:latin typeface="Menlo"/>
                <a:ea typeface="Menlo"/>
                <a:cs typeface="Menlo"/>
              </a:defRPr>
            </a:pPr>
            <a:r>
              <a:t>03_customer_segmentation.ipynb</a:t>
            </a:r>
          </a:p>
        </p:txBody>
      </p:sp>
      <p:sp>
        <p:nvSpPr>
          <p:cNvPr id="24" name="">
            <a:extLst xmlns:a="http://schemas.openxmlformats.org/drawingml/2006/main">
              <a:ext uri="{FF2B5EF4-FFF2-40B4-BE49-F238E27FC236}">
                <a16:creationId xmlns:a16="http://schemas.microsoft.com/office/drawing/2014/main" id="{DFB368F4-7F33-48A5-BD35-BB5B1101FA5A}"/>
              </a:ext>
            </a:extLst>
          </p:cNvPr>
          <p:cNvSpPr>
            <a:spLocks xmlns:a="http://schemas.openxmlformats.org/drawingml/2006/main" noGrp="1"/>
          </p:cNvSpPr>
          <p:nvPr/>
        </p:nvSpPr>
        <p:spPr>
          <a:xfrm xmlns:a="http://schemas.openxmlformats.org/drawingml/2006/main">
            <a:off x="1047750" y="4438650"/>
            <a:ext cx="3524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0706D"/>
                </a:solidFill>
                <a:latin typeface="Helvetica Neue"/>
                <a:ea typeface="Helvetica Neue"/>
                <a:cs typeface="Helvetica Neue"/>
              </a:defRPr>
            </a:pPr>
            <a:r>
              <a:t>Week 8</a:t>
            </a:r>
          </a:p>
        </p:txBody>
      </p:sp>
      <p:sp>
        <p:nvSpPr>
          <p:cNvPr id="25" name="">
            <a:extLst xmlns:a="http://schemas.openxmlformats.org/drawingml/2006/main">
              <a:ext uri="{FF2B5EF4-FFF2-40B4-BE49-F238E27FC236}">
                <a16:creationId xmlns:a16="http://schemas.microsoft.com/office/drawing/2014/main" id="{99EB83B0-6A64-4315-A5F7-476D85F5B4B3}"/>
              </a:ext>
            </a:extLst>
          </p:cNvPr>
          <p:cNvSpPr>
            <a:spLocks xmlns:a="http://schemas.openxmlformats.org/drawingml/2006/main" noGrp="1"/>
          </p:cNvSpPr>
          <p:nvPr/>
        </p:nvSpPr>
        <p:spPr>
          <a:xfrm xmlns:a="http://schemas.openxmlformats.org/drawingml/2006/main">
            <a:off x="4762500" y="3810000"/>
            <a:ext cx="4762500" cy="8382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13" b="0" i="0">
                <a:solidFill>
                  <a:srgbClr val="101820"/>
                </a:solidFill>
                <a:latin typeface="Helvetica Neue"/>
                <a:ea typeface="Helvetica Neue"/>
                <a:cs typeface="Helvetica Neue"/>
              </a:defRPr>
            </a:pPr>
            <a:r>
              <a:t>Treats skewness and scaling; applies PCA; compares clustering methods; profiles five segments; identifies consensus behavioral outliers.</a:t>
            </a:r>
          </a:p>
        </p:txBody>
      </p:sp>
      <p:sp>
        <p:nvSpPr>
          <p:cNvPr id="26" name="">
            <a:extLst xmlns:a="http://schemas.openxmlformats.org/drawingml/2006/main">
              <a:ext uri="{FF2B5EF4-FFF2-40B4-BE49-F238E27FC236}">
                <a16:creationId xmlns:a16="http://schemas.microsoft.com/office/drawing/2014/main" id="{49532C14-4E09-4459-BAFB-B81912E68414}"/>
              </a:ext>
            </a:extLst>
          </p:cNvPr>
          <p:cNvSpPr>
            <a:spLocks xmlns:a="http://schemas.openxmlformats.org/drawingml/2006/main" noGrp="1"/>
          </p:cNvSpPr>
          <p:nvPr/>
        </p:nvSpPr>
        <p:spPr>
          <a:xfrm xmlns:a="http://schemas.openxmlformats.org/drawingml/2006/main">
            <a:off x="9810750" y="3810000"/>
            <a:ext cx="1981200" cy="8382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i="0">
                <a:solidFill>
                  <a:srgbClr val="17324A"/>
                </a:solidFill>
                <a:latin typeface="Helvetica Neue"/>
                <a:ea typeface="Helvetica Neue"/>
                <a:cs typeface="Helvetica Neue"/>
              </a:defRPr>
            </a:pPr>
            <a:r>
              <a:t>Segments, profiles, outliers, and saved models</a:t>
            </a:r>
          </a:p>
        </p:txBody>
      </p:sp>
      <p:sp>
        <p:nvSpPr>
          <p:cNvPr id="27" name="">
            <a:extLst xmlns:a="http://schemas.openxmlformats.org/drawingml/2006/main">
              <a:ext uri="{FF2B5EF4-FFF2-40B4-BE49-F238E27FC236}">
                <a16:creationId xmlns:a16="http://schemas.microsoft.com/office/drawing/2014/main" id="{3620B028-BFC4-420B-B0CC-0113601378A8}"/>
              </a:ext>
            </a:extLst>
          </p:cNvPr>
          <p:cNvSpPr>
            <a:spLocks xmlns:a="http://schemas.openxmlformats.org/drawingml/2006/main" noGrp="1"/>
          </p:cNvSpPr>
          <p:nvPr/>
        </p:nvSpPr>
        <p:spPr>
          <a:xfrm xmlns:a="http://schemas.openxmlformats.org/drawingml/2006/main">
            <a:off x="400050" y="4819650"/>
            <a:ext cx="11391900" cy="952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28" name="">
            <a:extLst xmlns:a="http://schemas.openxmlformats.org/drawingml/2006/main">
              <a:ext uri="{FF2B5EF4-FFF2-40B4-BE49-F238E27FC236}">
                <a16:creationId xmlns:a16="http://schemas.microsoft.com/office/drawing/2014/main" id="{C57A225F-A9F7-4FD4-B3C5-A8708A9E907E}"/>
              </a:ext>
            </a:extLst>
          </p:cNvPr>
          <p:cNvSpPr>
            <a:spLocks xmlns:a="http://schemas.openxmlformats.org/drawingml/2006/main" noGrp="1"/>
          </p:cNvSpPr>
          <p:nvPr/>
        </p:nvSpPr>
        <p:spPr>
          <a:xfrm xmlns:a="http://schemas.openxmlformats.org/drawingml/2006/main">
            <a:off x="400050" y="4991100"/>
            <a:ext cx="5143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E36A54"/>
                </a:solidFill>
                <a:latin typeface="Helvetica Neue"/>
                <a:ea typeface="Helvetica Neue"/>
                <a:cs typeface="Helvetica Neue"/>
              </a:defRPr>
            </a:pPr>
            <a:r>
              <a:t>04</a:t>
            </a:r>
          </a:p>
        </p:txBody>
      </p:sp>
      <p:sp>
        <p:nvSpPr>
          <p:cNvPr id="29" name="">
            <a:extLst xmlns:a="http://schemas.openxmlformats.org/drawingml/2006/main">
              <a:ext uri="{FF2B5EF4-FFF2-40B4-BE49-F238E27FC236}">
                <a16:creationId xmlns:a16="http://schemas.microsoft.com/office/drawing/2014/main" id="{7FE3C623-F40E-4469-A41D-2FFEB6BCE2EF}"/>
              </a:ext>
            </a:extLst>
          </p:cNvPr>
          <p:cNvSpPr>
            <a:spLocks xmlns:a="http://schemas.openxmlformats.org/drawingml/2006/main" noGrp="1"/>
          </p:cNvSpPr>
          <p:nvPr/>
        </p:nvSpPr>
        <p:spPr>
          <a:xfrm xmlns:a="http://schemas.openxmlformats.org/drawingml/2006/main">
            <a:off x="1047750" y="4933950"/>
            <a:ext cx="3524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01820"/>
                </a:solidFill>
                <a:latin typeface="Helvetica Neue"/>
                <a:ea typeface="Helvetica Neue"/>
                <a:cs typeface="Helvetica Neue"/>
              </a:defRPr>
            </a:pPr>
            <a:r>
              <a:t>Validation and insights</a:t>
            </a:r>
          </a:p>
        </p:txBody>
      </p:sp>
      <p:sp>
        <p:nvSpPr>
          <p:cNvPr id="30" name="">
            <a:extLst xmlns:a="http://schemas.openxmlformats.org/drawingml/2006/main">
              <a:ext uri="{FF2B5EF4-FFF2-40B4-BE49-F238E27FC236}">
                <a16:creationId xmlns:a16="http://schemas.microsoft.com/office/drawing/2014/main" id="{F734A3E3-AC0F-4997-892C-C28082D23355}"/>
              </a:ext>
            </a:extLst>
          </p:cNvPr>
          <p:cNvSpPr>
            <a:spLocks xmlns:a="http://schemas.openxmlformats.org/drawingml/2006/main" noGrp="1"/>
          </p:cNvSpPr>
          <p:nvPr/>
        </p:nvSpPr>
        <p:spPr>
          <a:xfrm xmlns:a="http://schemas.openxmlformats.org/drawingml/2006/main">
            <a:off x="1047750" y="5257800"/>
            <a:ext cx="35242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17324A"/>
                </a:solidFill>
                <a:latin typeface="Menlo"/>
                <a:ea typeface="Menlo"/>
                <a:cs typeface="Menlo"/>
              </a:defRPr>
            </a:pPr>
            <a:r>
              <a:t>04_validation_and_insights.ipynb</a:t>
            </a:r>
          </a:p>
        </p:txBody>
      </p:sp>
      <p:sp>
        <p:nvSpPr>
          <p:cNvPr id="31" name="">
            <a:extLst xmlns:a="http://schemas.openxmlformats.org/drawingml/2006/main">
              <a:ext uri="{FF2B5EF4-FFF2-40B4-BE49-F238E27FC236}">
                <a16:creationId xmlns:a16="http://schemas.microsoft.com/office/drawing/2014/main" id="{6B8772BE-D088-4849-9A2D-5163E52BDF0C}"/>
              </a:ext>
            </a:extLst>
          </p:cNvPr>
          <p:cNvSpPr>
            <a:spLocks xmlns:a="http://schemas.openxmlformats.org/drawingml/2006/main" noGrp="1"/>
          </p:cNvSpPr>
          <p:nvPr/>
        </p:nvSpPr>
        <p:spPr>
          <a:xfrm xmlns:a="http://schemas.openxmlformats.org/drawingml/2006/main">
            <a:off x="1047750" y="5562600"/>
            <a:ext cx="3524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0706D"/>
                </a:solidFill>
                <a:latin typeface="Helvetica Neue"/>
                <a:ea typeface="Helvetica Neue"/>
                <a:cs typeface="Helvetica Neue"/>
              </a:defRPr>
            </a:pPr>
            <a:r>
              <a:t>Weeks 9 &amp; 10</a:t>
            </a:r>
          </a:p>
        </p:txBody>
      </p:sp>
      <p:sp>
        <p:nvSpPr>
          <p:cNvPr id="32" name="">
            <a:extLst xmlns:a="http://schemas.openxmlformats.org/drawingml/2006/main">
              <a:ext uri="{FF2B5EF4-FFF2-40B4-BE49-F238E27FC236}">
                <a16:creationId xmlns:a16="http://schemas.microsoft.com/office/drawing/2014/main" id="{CBE8CEE7-01B3-4179-987E-EE5D43033957}"/>
              </a:ext>
            </a:extLst>
          </p:cNvPr>
          <p:cNvSpPr>
            <a:spLocks xmlns:a="http://schemas.openxmlformats.org/drawingml/2006/main" noGrp="1"/>
          </p:cNvSpPr>
          <p:nvPr/>
        </p:nvSpPr>
        <p:spPr>
          <a:xfrm xmlns:a="http://schemas.openxmlformats.org/drawingml/2006/main">
            <a:off x="4762500" y="4933950"/>
            <a:ext cx="4762500" cy="8382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13" b="0" i="0">
                <a:solidFill>
                  <a:srgbClr val="101820"/>
                </a:solidFill>
                <a:latin typeface="Helvetica Neue"/>
                <a:ea typeface="Helvetica Neue"/>
                <a:cs typeface="Helvetica Neue"/>
              </a:defRPr>
            </a:pPr>
            <a:r>
              <a:t>Demonstrates supervised learning on completed loans; checks stability, data quality, errors, and limits; prepares dashboard datasets.</a:t>
            </a:r>
          </a:p>
        </p:txBody>
      </p:sp>
      <p:sp>
        <p:nvSpPr>
          <p:cNvPr id="33" name="">
            <a:extLst xmlns:a="http://schemas.openxmlformats.org/drawingml/2006/main">
              <a:ext uri="{FF2B5EF4-FFF2-40B4-BE49-F238E27FC236}">
                <a16:creationId xmlns:a16="http://schemas.microsoft.com/office/drawing/2014/main" id="{EC122BAF-4807-4C9C-8641-E8340BC21DBD}"/>
              </a:ext>
            </a:extLst>
          </p:cNvPr>
          <p:cNvSpPr>
            <a:spLocks xmlns:a="http://schemas.openxmlformats.org/drawingml/2006/main" noGrp="1"/>
          </p:cNvSpPr>
          <p:nvPr/>
        </p:nvSpPr>
        <p:spPr>
          <a:xfrm xmlns:a="http://schemas.openxmlformats.org/drawingml/2006/main">
            <a:off x="9810750" y="4933950"/>
            <a:ext cx="1981200" cy="8382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i="0">
                <a:solidFill>
                  <a:srgbClr val="17324A"/>
                </a:solidFill>
                <a:latin typeface="Helvetica Neue"/>
                <a:ea typeface="Helvetica Neue"/>
                <a:cs typeface="Helvetica Neue"/>
              </a:defRPr>
            </a:pPr>
            <a:r>
              <a:t>Validation figures and dashboard tables</a:t>
            </a:r>
          </a:p>
        </p:txBody>
      </p:sp>
    </p:spTree>
    <p:extLst>
      <p:ext uri="{BB962C8B-B14F-4D97-AF65-F5344CB8AC3E}">
        <p14:creationId xmlns:p14="http://schemas.microsoft.com/office/powerpoint/2010/main" val="20309823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33E3657-F84F-4677-A9FE-D18F9FBA5085}"/>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101820"/>
                </a:solidFill>
                <a:latin typeface="Helvetica Neue"/>
                <a:ea typeface="Helvetica Neue"/>
                <a:cs typeface="Helvetica Neue"/>
              </a:defRPr>
            </a:pPr>
            <a:r>
              <a:t>The repository implements a local medallion architecture</a:t>
            </a:r>
          </a:p>
        </p:txBody>
      </p:sp>
      <p:sp>
        <p:nvSpPr>
          <p:cNvPr id="2" name="">
            <a:extLst xmlns:a="http://schemas.openxmlformats.org/drawingml/2006/main">
              <a:ext uri="{FF2B5EF4-FFF2-40B4-BE49-F238E27FC236}">
                <a16:creationId xmlns:a16="http://schemas.microsoft.com/office/drawing/2014/main" id="{0AAB6FBD-6F65-4457-A351-5B9CCF3E7838}"/>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Source: project repository structure and Notebook 1 architecture design.</a:t>
            </a:r>
          </a:p>
        </p:txBody>
      </p:sp>
      <p:sp>
        <p:nvSpPr>
          <p:cNvPr id="3" name="">
            <a:extLst xmlns:a="http://schemas.openxmlformats.org/drawingml/2006/main">
              <a:ext uri="{FF2B5EF4-FFF2-40B4-BE49-F238E27FC236}">
                <a16:creationId xmlns:a16="http://schemas.microsoft.com/office/drawing/2014/main" id="{B243CCEE-5118-4D21-8187-041D9B33D81D}"/>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5</a:t>
            </a:r>
          </a:p>
        </p:txBody>
      </p:sp>
      <p:sp>
        <p:nvSpPr>
          <p:cNvPr id="4" name="">
            <a:extLst xmlns:a="http://schemas.openxmlformats.org/drawingml/2006/main">
              <a:ext uri="{FF2B5EF4-FFF2-40B4-BE49-F238E27FC236}">
                <a16:creationId xmlns:a16="http://schemas.microsoft.com/office/drawing/2014/main" id="{98D03479-9479-4953-B24C-54015B42951A}"/>
              </a:ext>
            </a:extLst>
          </p:cNvPr>
          <p:cNvSpPr>
            <a:spLocks xmlns:a="http://schemas.openxmlformats.org/drawingml/2006/main" noGrp="1"/>
          </p:cNvSpPr>
          <p:nvPr/>
        </p:nvSpPr>
        <p:spPr>
          <a:xfrm xmlns:a="http://schemas.openxmlformats.org/drawingml/2006/main">
            <a:off x="400050" y="1257300"/>
            <a:ext cx="40957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0A894"/>
                </a:solidFill>
                <a:latin typeface="Helvetica Neue"/>
                <a:ea typeface="Helvetica Neue"/>
                <a:cs typeface="Helvetica Neue"/>
              </a:defRPr>
            </a:pPr>
            <a:r>
              <a:t>PROJECT STRUCTURE</a:t>
            </a:r>
          </a:p>
        </p:txBody>
      </p:sp>
      <p:sp>
        <p:nvSpPr>
          <p:cNvPr id="5" name="">
            <a:extLst xmlns:a="http://schemas.openxmlformats.org/drawingml/2006/main">
              <a:ext uri="{FF2B5EF4-FFF2-40B4-BE49-F238E27FC236}">
                <a16:creationId xmlns:a16="http://schemas.microsoft.com/office/drawing/2014/main" id="{113A9F01-BE97-4BC5-8FE6-C6FA837571C2}"/>
              </a:ext>
            </a:extLst>
          </p:cNvPr>
          <p:cNvSpPr>
            <a:spLocks xmlns:a="http://schemas.openxmlformats.org/drawingml/2006/main" noGrp="1"/>
          </p:cNvSpPr>
          <p:nvPr/>
        </p:nvSpPr>
        <p:spPr>
          <a:xfrm xmlns:a="http://schemas.openxmlformats.org/drawingml/2006/main">
            <a:off x="400050" y="1638300"/>
            <a:ext cx="4953000" cy="400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01820"/>
                </a:solidFill>
                <a:latin typeface="Menlo"/>
                <a:ea typeface="Menlo"/>
                <a:cs typeface="Menlo"/>
              </a:defRPr>
            </a:pPr>
            <a:r>
              <a:t>data/
  raw/              Bronze source snapshots
  interim/          Silver clean relational tables
  processed/        Gold analytical outputs
notebooks/           01–04 analytical workflow
src/.../api/         FastAPI service
dashboard/           Angular client
models/              Saved transformations
reports/             Figures and presentation</a:t>
            </a:r>
          </a:p>
        </p:txBody>
      </p:sp>
      <p:sp>
        <p:nvSpPr>
          <p:cNvPr id="6" name="">
            <a:extLst xmlns:a="http://schemas.openxmlformats.org/drawingml/2006/main">
              <a:ext uri="{FF2B5EF4-FFF2-40B4-BE49-F238E27FC236}">
                <a16:creationId xmlns:a16="http://schemas.microsoft.com/office/drawing/2014/main" id="{FBE47C7B-F9B3-4A5C-B870-FB32376AC6C2}"/>
              </a:ext>
            </a:extLst>
          </p:cNvPr>
          <p:cNvSpPr>
            <a:spLocks xmlns:a="http://schemas.openxmlformats.org/drawingml/2006/main" noGrp="1"/>
          </p:cNvSpPr>
          <p:nvPr/>
        </p:nvSpPr>
        <p:spPr>
          <a:xfrm xmlns:a="http://schemas.openxmlformats.org/drawingml/2006/main">
            <a:off x="5562600" y="1428750"/>
            <a:ext cx="9525" cy="4476750"/>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7" name="">
            <a:extLst xmlns:a="http://schemas.openxmlformats.org/drawingml/2006/main">
              <a:ext uri="{FF2B5EF4-FFF2-40B4-BE49-F238E27FC236}">
                <a16:creationId xmlns:a16="http://schemas.microsoft.com/office/drawing/2014/main" id="{F4C8A509-B7FB-4473-96F1-1A58BCE19744}"/>
              </a:ext>
            </a:extLst>
          </p:cNvPr>
          <p:cNvSpPr>
            <a:spLocks xmlns:a="http://schemas.openxmlformats.org/drawingml/2006/main" noGrp="1"/>
          </p:cNvSpPr>
          <p:nvPr/>
        </p:nvSpPr>
        <p:spPr>
          <a:xfrm xmlns:a="http://schemas.openxmlformats.org/drawingml/2006/main">
            <a:off x="5943600" y="1257300"/>
            <a:ext cx="5334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3D8DFF"/>
                </a:solidFill>
                <a:latin typeface="Helvetica Neue"/>
                <a:ea typeface="Helvetica Neue"/>
                <a:cs typeface="Helvetica Neue"/>
              </a:defRPr>
            </a:pPr>
            <a:r>
              <a:t>TRACEABLE DATA FLOW</a:t>
            </a:r>
          </a:p>
        </p:txBody>
      </p:sp>
      <p:sp>
        <p:nvSpPr>
          <p:cNvPr id="8" name="">
            <a:extLst xmlns:a="http://schemas.openxmlformats.org/drawingml/2006/main">
              <a:ext uri="{FF2B5EF4-FFF2-40B4-BE49-F238E27FC236}">
                <a16:creationId xmlns:a16="http://schemas.microsoft.com/office/drawing/2014/main" id="{415D46EC-44BA-4134-B7CE-05A0158BD0A1}"/>
              </a:ext>
            </a:extLst>
          </p:cNvPr>
          <p:cNvSpPr>
            <a:spLocks xmlns:a="http://schemas.openxmlformats.org/drawingml/2006/main" noGrp="1"/>
          </p:cNvSpPr>
          <p:nvPr/>
        </p:nvSpPr>
        <p:spPr>
          <a:xfrm xmlns:a="http://schemas.openxmlformats.org/drawingml/2006/main">
            <a:off x="8629650" y="2095500"/>
            <a:ext cx="28575" cy="171450"/>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9" name="">
            <a:extLst xmlns:a="http://schemas.openxmlformats.org/drawingml/2006/main">
              <a:ext uri="{FF2B5EF4-FFF2-40B4-BE49-F238E27FC236}">
                <a16:creationId xmlns:a16="http://schemas.microsoft.com/office/drawing/2014/main" id="{915054D6-47D0-4982-8F14-D32B05286917}"/>
              </a:ext>
            </a:extLst>
          </p:cNvPr>
          <p:cNvSpPr>
            <a:spLocks xmlns:a="http://schemas.openxmlformats.org/drawingml/2006/main" noGrp="1"/>
          </p:cNvSpPr>
          <p:nvPr/>
        </p:nvSpPr>
        <p:spPr>
          <a:xfrm xmlns:a="http://schemas.openxmlformats.org/drawingml/2006/main">
            <a:off x="8629650" y="2800350"/>
            <a:ext cx="28575" cy="171450"/>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0" name="">
            <a:extLst xmlns:a="http://schemas.openxmlformats.org/drawingml/2006/main">
              <a:ext uri="{FF2B5EF4-FFF2-40B4-BE49-F238E27FC236}">
                <a16:creationId xmlns:a16="http://schemas.microsoft.com/office/drawing/2014/main" id="{51527C1F-6171-438F-B983-3B7CFF8DB8FF}"/>
              </a:ext>
            </a:extLst>
          </p:cNvPr>
          <p:cNvSpPr>
            <a:spLocks xmlns:a="http://schemas.openxmlformats.org/drawingml/2006/main" noGrp="1"/>
          </p:cNvSpPr>
          <p:nvPr/>
        </p:nvSpPr>
        <p:spPr>
          <a:xfrm xmlns:a="http://schemas.openxmlformats.org/drawingml/2006/main">
            <a:off x="8629650" y="3505200"/>
            <a:ext cx="28575" cy="171450"/>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1" name="">
            <a:extLst xmlns:a="http://schemas.openxmlformats.org/drawingml/2006/main">
              <a:ext uri="{FF2B5EF4-FFF2-40B4-BE49-F238E27FC236}">
                <a16:creationId xmlns:a16="http://schemas.microsoft.com/office/drawing/2014/main" id="{4BB90EEF-B777-478A-A816-8B749375B268}"/>
              </a:ext>
            </a:extLst>
          </p:cNvPr>
          <p:cNvSpPr>
            <a:spLocks xmlns:a="http://schemas.openxmlformats.org/drawingml/2006/main" noGrp="1"/>
          </p:cNvSpPr>
          <p:nvPr/>
        </p:nvSpPr>
        <p:spPr>
          <a:xfrm xmlns:a="http://schemas.openxmlformats.org/drawingml/2006/main">
            <a:off x="8629650" y="4210050"/>
            <a:ext cx="28575" cy="171450"/>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2" name="">
            <a:extLst xmlns:a="http://schemas.openxmlformats.org/drawingml/2006/main">
              <a:ext uri="{FF2B5EF4-FFF2-40B4-BE49-F238E27FC236}">
                <a16:creationId xmlns:a16="http://schemas.microsoft.com/office/drawing/2014/main" id="{4CFFEE95-C33D-4095-A3A6-42A11E6B89D1}"/>
              </a:ext>
            </a:extLst>
          </p:cNvPr>
          <p:cNvSpPr>
            <a:spLocks xmlns:a="http://schemas.openxmlformats.org/drawingml/2006/main" noGrp="1"/>
          </p:cNvSpPr>
          <p:nvPr/>
        </p:nvSpPr>
        <p:spPr>
          <a:xfrm xmlns:a="http://schemas.openxmlformats.org/drawingml/2006/main">
            <a:off x="8629650" y="4914900"/>
            <a:ext cx="28575" cy="171450"/>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3" name="">
            <a:extLst xmlns:a="http://schemas.openxmlformats.org/drawingml/2006/main">
              <a:ext uri="{FF2B5EF4-FFF2-40B4-BE49-F238E27FC236}">
                <a16:creationId xmlns:a16="http://schemas.microsoft.com/office/drawing/2014/main" id="{21E7A294-C004-4FD5-B060-F8A2E9FCF519}"/>
              </a:ext>
            </a:extLst>
          </p:cNvPr>
          <p:cNvSpPr>
            <a:spLocks xmlns:a="http://schemas.openxmlformats.org/drawingml/2006/main" noGrp="1"/>
          </p:cNvSpPr>
          <p:nvPr/>
        </p:nvSpPr>
        <p:spPr>
          <a:xfrm xmlns:a="http://schemas.openxmlformats.org/drawingml/2006/main">
            <a:off x="5943600" y="1562100"/>
            <a:ext cx="5391150" cy="53340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14" name="">
            <a:extLst xmlns:a="http://schemas.openxmlformats.org/drawingml/2006/main">
              <a:ext uri="{FF2B5EF4-FFF2-40B4-BE49-F238E27FC236}">
                <a16:creationId xmlns:a16="http://schemas.microsoft.com/office/drawing/2014/main" id="{B5BF6D46-DA97-4584-82B1-64D2C9426897}"/>
              </a:ext>
            </a:extLst>
          </p:cNvPr>
          <p:cNvSpPr>
            <a:spLocks xmlns:a="http://schemas.openxmlformats.org/drawingml/2006/main" noGrp="1"/>
          </p:cNvSpPr>
          <p:nvPr/>
        </p:nvSpPr>
        <p:spPr>
          <a:xfrm xmlns:a="http://schemas.openxmlformats.org/drawingml/2006/main">
            <a:off x="6096000" y="1638300"/>
            <a:ext cx="8191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324A"/>
                </a:solidFill>
                <a:latin typeface="Helvetica Neue"/>
                <a:ea typeface="Helvetica Neue"/>
                <a:cs typeface="Helvetica Neue"/>
              </a:defRPr>
            </a:pPr>
            <a:r>
              <a:t>SOURCE</a:t>
            </a:r>
          </a:p>
        </p:txBody>
      </p:sp>
      <p:sp>
        <p:nvSpPr>
          <p:cNvPr id="15" name="">
            <a:extLst xmlns:a="http://schemas.openxmlformats.org/drawingml/2006/main">
              <a:ext uri="{FF2B5EF4-FFF2-40B4-BE49-F238E27FC236}">
                <a16:creationId xmlns:a16="http://schemas.microsoft.com/office/drawing/2014/main" id="{2B6204C2-047A-4A1D-9ED7-A786223AEADB}"/>
              </a:ext>
            </a:extLst>
          </p:cNvPr>
          <p:cNvSpPr>
            <a:spLocks xmlns:a="http://schemas.openxmlformats.org/drawingml/2006/main" noGrp="1"/>
          </p:cNvSpPr>
          <p:nvPr/>
        </p:nvSpPr>
        <p:spPr>
          <a:xfrm xmlns:a="http://schemas.openxmlformats.org/drawingml/2006/main">
            <a:off x="7010400" y="1628775"/>
            <a:ext cx="4171950" cy="2000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01820"/>
                </a:solidFill>
                <a:latin typeface="Helvetica Neue"/>
                <a:ea typeface="Helvetica Neue"/>
                <a:cs typeface="Helvetica Neue"/>
              </a:defRPr>
            </a:pPr>
            <a:r>
              <a:t>External CTU MariaDB</a:t>
            </a:r>
          </a:p>
        </p:txBody>
      </p:sp>
      <p:sp>
        <p:nvSpPr>
          <p:cNvPr id="16" name="">
            <a:extLst xmlns:a="http://schemas.openxmlformats.org/drawingml/2006/main">
              <a:ext uri="{FF2B5EF4-FFF2-40B4-BE49-F238E27FC236}">
                <a16:creationId xmlns:a16="http://schemas.microsoft.com/office/drawing/2014/main" id="{BD94BBBF-029E-4835-B9CE-94121DD60CA8}"/>
              </a:ext>
            </a:extLst>
          </p:cNvPr>
          <p:cNvSpPr>
            <a:spLocks xmlns:a="http://schemas.openxmlformats.org/drawingml/2006/main" noGrp="1"/>
          </p:cNvSpPr>
          <p:nvPr/>
        </p:nvSpPr>
        <p:spPr>
          <a:xfrm xmlns:a="http://schemas.openxmlformats.org/drawingml/2006/main">
            <a:off x="7010400" y="1847850"/>
            <a:ext cx="4171950" cy="1809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60706D"/>
                </a:solidFill>
                <a:latin typeface="Helvetica Neue"/>
                <a:ea typeface="Helvetica Neue"/>
                <a:cs typeface="Helvetica Neue"/>
              </a:defRPr>
            </a:pPr>
            <a:r>
              <a:t>Original Financial / Berka tables</a:t>
            </a:r>
          </a:p>
        </p:txBody>
      </p:sp>
      <p:sp>
        <p:nvSpPr>
          <p:cNvPr id="17" name="">
            <a:extLst xmlns:a="http://schemas.openxmlformats.org/drawingml/2006/main">
              <a:ext uri="{FF2B5EF4-FFF2-40B4-BE49-F238E27FC236}">
                <a16:creationId xmlns:a16="http://schemas.microsoft.com/office/drawing/2014/main" id="{6D5474DD-B96E-4451-9698-52BDD1286825}"/>
              </a:ext>
            </a:extLst>
          </p:cNvPr>
          <p:cNvSpPr>
            <a:spLocks xmlns:a="http://schemas.openxmlformats.org/drawingml/2006/main" noGrp="1"/>
          </p:cNvSpPr>
          <p:nvPr/>
        </p:nvSpPr>
        <p:spPr>
          <a:xfrm xmlns:a="http://schemas.openxmlformats.org/drawingml/2006/main">
            <a:off x="5943600" y="2266950"/>
            <a:ext cx="5391150" cy="53340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18" name="">
            <a:extLst xmlns:a="http://schemas.openxmlformats.org/drawingml/2006/main">
              <a:ext uri="{FF2B5EF4-FFF2-40B4-BE49-F238E27FC236}">
                <a16:creationId xmlns:a16="http://schemas.microsoft.com/office/drawing/2014/main" id="{F00632F8-9428-414D-811D-0A96DB6B6433}"/>
              </a:ext>
            </a:extLst>
          </p:cNvPr>
          <p:cNvSpPr>
            <a:spLocks xmlns:a="http://schemas.openxmlformats.org/drawingml/2006/main" noGrp="1"/>
          </p:cNvSpPr>
          <p:nvPr/>
        </p:nvSpPr>
        <p:spPr>
          <a:xfrm xmlns:a="http://schemas.openxmlformats.org/drawingml/2006/main">
            <a:off x="6096000" y="2343150"/>
            <a:ext cx="8191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DDAA32"/>
                </a:solidFill>
                <a:latin typeface="Helvetica Neue"/>
                <a:ea typeface="Helvetica Neue"/>
                <a:cs typeface="Helvetica Neue"/>
              </a:defRPr>
            </a:pPr>
            <a:r>
              <a:t>BRONZE</a:t>
            </a:r>
          </a:p>
        </p:txBody>
      </p:sp>
      <p:sp>
        <p:nvSpPr>
          <p:cNvPr id="19" name="">
            <a:extLst xmlns:a="http://schemas.openxmlformats.org/drawingml/2006/main">
              <a:ext uri="{FF2B5EF4-FFF2-40B4-BE49-F238E27FC236}">
                <a16:creationId xmlns:a16="http://schemas.microsoft.com/office/drawing/2014/main" id="{CA13A711-A7F9-4762-A6C3-CD4B1E4ABC93}"/>
              </a:ext>
            </a:extLst>
          </p:cNvPr>
          <p:cNvSpPr>
            <a:spLocks xmlns:a="http://schemas.openxmlformats.org/drawingml/2006/main" noGrp="1"/>
          </p:cNvSpPr>
          <p:nvPr/>
        </p:nvSpPr>
        <p:spPr>
          <a:xfrm xmlns:a="http://schemas.openxmlformats.org/drawingml/2006/main">
            <a:off x="7010400" y="2333625"/>
            <a:ext cx="4171950" cy="2000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01820"/>
                </a:solidFill>
                <a:latin typeface="Menlo"/>
                <a:ea typeface="Menlo"/>
                <a:cs typeface="Menlo"/>
              </a:defRPr>
            </a:pPr>
            <a:r>
              <a:t>data/raw/</a:t>
            </a:r>
          </a:p>
        </p:txBody>
      </p:sp>
      <p:sp>
        <p:nvSpPr>
          <p:cNvPr id="20" name="">
            <a:extLst xmlns:a="http://schemas.openxmlformats.org/drawingml/2006/main">
              <a:ext uri="{FF2B5EF4-FFF2-40B4-BE49-F238E27FC236}">
                <a16:creationId xmlns:a16="http://schemas.microsoft.com/office/drawing/2014/main" id="{84F64CA2-D9F2-421A-8EAB-90F2C0EA8DE1}"/>
              </a:ext>
            </a:extLst>
          </p:cNvPr>
          <p:cNvSpPr>
            <a:spLocks xmlns:a="http://schemas.openxmlformats.org/drawingml/2006/main" noGrp="1"/>
          </p:cNvSpPr>
          <p:nvPr/>
        </p:nvSpPr>
        <p:spPr>
          <a:xfrm xmlns:a="http://schemas.openxmlformats.org/drawingml/2006/main">
            <a:off x="7010400" y="2552700"/>
            <a:ext cx="4171950" cy="1809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60706D"/>
                </a:solidFill>
                <a:latin typeface="Helvetica Neue"/>
                <a:ea typeface="Helvetica Neue"/>
                <a:cs typeface="Helvetica Neue"/>
              </a:defRPr>
            </a:pPr>
            <a:r>
              <a:t>Immutable snapshot, schema, checksums, provenance</a:t>
            </a:r>
          </a:p>
        </p:txBody>
      </p:sp>
      <p:sp>
        <p:nvSpPr>
          <p:cNvPr id="21" name="">
            <a:extLst xmlns:a="http://schemas.openxmlformats.org/drawingml/2006/main">
              <a:ext uri="{FF2B5EF4-FFF2-40B4-BE49-F238E27FC236}">
                <a16:creationId xmlns:a16="http://schemas.microsoft.com/office/drawing/2014/main" id="{F89DF51B-D9F4-4F26-A89B-102218E51BFC}"/>
              </a:ext>
            </a:extLst>
          </p:cNvPr>
          <p:cNvSpPr>
            <a:spLocks xmlns:a="http://schemas.openxmlformats.org/drawingml/2006/main" noGrp="1"/>
          </p:cNvSpPr>
          <p:nvPr/>
        </p:nvSpPr>
        <p:spPr>
          <a:xfrm xmlns:a="http://schemas.openxmlformats.org/drawingml/2006/main">
            <a:off x="5943600" y="2971800"/>
            <a:ext cx="5391150" cy="53340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22" name="">
            <a:extLst xmlns:a="http://schemas.openxmlformats.org/drawingml/2006/main">
              <a:ext uri="{FF2B5EF4-FFF2-40B4-BE49-F238E27FC236}">
                <a16:creationId xmlns:a16="http://schemas.microsoft.com/office/drawing/2014/main" id="{3A66429D-C048-4B50-B4FA-C23EEF6130D1}"/>
              </a:ext>
            </a:extLst>
          </p:cNvPr>
          <p:cNvSpPr>
            <a:spLocks xmlns:a="http://schemas.openxmlformats.org/drawingml/2006/main" noGrp="1"/>
          </p:cNvSpPr>
          <p:nvPr/>
        </p:nvSpPr>
        <p:spPr>
          <a:xfrm xmlns:a="http://schemas.openxmlformats.org/drawingml/2006/main">
            <a:off x="6096000" y="3048000"/>
            <a:ext cx="8191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20A894"/>
                </a:solidFill>
                <a:latin typeface="Helvetica Neue"/>
                <a:ea typeface="Helvetica Neue"/>
                <a:cs typeface="Helvetica Neue"/>
              </a:defRPr>
            </a:pPr>
            <a:r>
              <a:t>SILVER</a:t>
            </a:r>
          </a:p>
        </p:txBody>
      </p:sp>
      <p:sp>
        <p:nvSpPr>
          <p:cNvPr id="23" name="">
            <a:extLst xmlns:a="http://schemas.openxmlformats.org/drawingml/2006/main">
              <a:ext uri="{FF2B5EF4-FFF2-40B4-BE49-F238E27FC236}">
                <a16:creationId xmlns:a16="http://schemas.microsoft.com/office/drawing/2014/main" id="{00B39D34-F54B-4EF9-B46C-AFC9F367F8F0}"/>
              </a:ext>
            </a:extLst>
          </p:cNvPr>
          <p:cNvSpPr>
            <a:spLocks xmlns:a="http://schemas.openxmlformats.org/drawingml/2006/main" noGrp="1"/>
          </p:cNvSpPr>
          <p:nvPr/>
        </p:nvSpPr>
        <p:spPr>
          <a:xfrm xmlns:a="http://schemas.openxmlformats.org/drawingml/2006/main">
            <a:off x="7010400" y="3038475"/>
            <a:ext cx="4171950" cy="2000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01820"/>
                </a:solidFill>
                <a:latin typeface="Menlo"/>
                <a:ea typeface="Menlo"/>
                <a:cs typeface="Menlo"/>
              </a:defRPr>
            </a:pPr>
            <a:r>
              <a:t>data/interim/</a:t>
            </a:r>
          </a:p>
        </p:txBody>
      </p:sp>
      <p:sp>
        <p:nvSpPr>
          <p:cNvPr id="24" name="">
            <a:extLst xmlns:a="http://schemas.openxmlformats.org/drawingml/2006/main">
              <a:ext uri="{FF2B5EF4-FFF2-40B4-BE49-F238E27FC236}">
                <a16:creationId xmlns:a16="http://schemas.microsoft.com/office/drawing/2014/main" id="{7FD32C6C-CACA-4875-A1E6-4D91B3EF6873}"/>
              </a:ext>
            </a:extLst>
          </p:cNvPr>
          <p:cNvSpPr>
            <a:spLocks xmlns:a="http://schemas.openxmlformats.org/drawingml/2006/main" noGrp="1"/>
          </p:cNvSpPr>
          <p:nvPr/>
        </p:nvSpPr>
        <p:spPr>
          <a:xfrm xmlns:a="http://schemas.openxmlformats.org/drawingml/2006/main">
            <a:off x="7010400" y="3257550"/>
            <a:ext cx="4171950" cy="1809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60706D"/>
                </a:solidFill>
                <a:latin typeface="Helvetica Neue"/>
                <a:ea typeface="Helvetica Neue"/>
                <a:cs typeface="Helvetica Neue"/>
              </a:defRPr>
            </a:pPr>
            <a:r>
              <a:t>Clean DuckDB and relational tables · Notebook 1</a:t>
            </a:r>
          </a:p>
        </p:txBody>
      </p:sp>
      <p:sp>
        <p:nvSpPr>
          <p:cNvPr id="25" name="">
            <a:extLst xmlns:a="http://schemas.openxmlformats.org/drawingml/2006/main">
              <a:ext uri="{FF2B5EF4-FFF2-40B4-BE49-F238E27FC236}">
                <a16:creationId xmlns:a16="http://schemas.microsoft.com/office/drawing/2014/main" id="{43701F88-D953-4A61-92A6-8FF32782F836}"/>
              </a:ext>
            </a:extLst>
          </p:cNvPr>
          <p:cNvSpPr>
            <a:spLocks xmlns:a="http://schemas.openxmlformats.org/drawingml/2006/main" noGrp="1"/>
          </p:cNvSpPr>
          <p:nvPr/>
        </p:nvSpPr>
        <p:spPr>
          <a:xfrm xmlns:a="http://schemas.openxmlformats.org/drawingml/2006/main">
            <a:off x="5943600" y="3676650"/>
            <a:ext cx="5391150" cy="533400"/>
          </a:xfrm>
          <a:prstGeom xmlns:a="http://schemas.openxmlformats.org/drawingml/2006/main" prst="rect">
            <a:avLst/>
          </a:prstGeom>
          <a:solidFill xmlns:a="http://schemas.openxmlformats.org/drawingml/2006/main">
            <a:srgbClr val="EEF5FF"/>
          </a:solidFill>
          <a:ln xmlns:a="http://schemas.openxmlformats.org/drawingml/2006/main" w="0">
            <a:solidFill>
              <a:srgbClr val="EEF5FF"/>
            </a:solidFill>
            <a:prstDash val="solid"/>
          </a:ln>
        </p:spPr>
      </p:sp>
      <p:sp>
        <p:nvSpPr>
          <p:cNvPr id="26" name="">
            <a:extLst xmlns:a="http://schemas.openxmlformats.org/drawingml/2006/main">
              <a:ext uri="{FF2B5EF4-FFF2-40B4-BE49-F238E27FC236}">
                <a16:creationId xmlns:a16="http://schemas.microsoft.com/office/drawing/2014/main" id="{353868C5-C84A-4244-942D-A7516E41CFF0}"/>
              </a:ext>
            </a:extLst>
          </p:cNvPr>
          <p:cNvSpPr>
            <a:spLocks xmlns:a="http://schemas.openxmlformats.org/drawingml/2006/main" noGrp="1"/>
          </p:cNvSpPr>
          <p:nvPr/>
        </p:nvSpPr>
        <p:spPr>
          <a:xfrm xmlns:a="http://schemas.openxmlformats.org/drawingml/2006/main">
            <a:off x="6096000" y="3752850"/>
            <a:ext cx="8191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3D8DFF"/>
                </a:solidFill>
                <a:latin typeface="Helvetica Neue"/>
                <a:ea typeface="Helvetica Neue"/>
                <a:cs typeface="Helvetica Neue"/>
              </a:defRPr>
            </a:pPr>
            <a:r>
              <a:t>GOLD</a:t>
            </a:r>
          </a:p>
        </p:txBody>
      </p:sp>
      <p:sp>
        <p:nvSpPr>
          <p:cNvPr id="27" name="">
            <a:extLst xmlns:a="http://schemas.openxmlformats.org/drawingml/2006/main">
              <a:ext uri="{FF2B5EF4-FFF2-40B4-BE49-F238E27FC236}">
                <a16:creationId xmlns:a16="http://schemas.microsoft.com/office/drawing/2014/main" id="{E5E00A0A-BDD4-421E-9591-F229D7DB0AF4}"/>
              </a:ext>
            </a:extLst>
          </p:cNvPr>
          <p:cNvSpPr>
            <a:spLocks xmlns:a="http://schemas.openxmlformats.org/drawingml/2006/main" noGrp="1"/>
          </p:cNvSpPr>
          <p:nvPr/>
        </p:nvSpPr>
        <p:spPr>
          <a:xfrm xmlns:a="http://schemas.openxmlformats.org/drawingml/2006/main">
            <a:off x="7010400" y="3743325"/>
            <a:ext cx="4171950" cy="2000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01820"/>
                </a:solidFill>
                <a:latin typeface="Menlo"/>
                <a:ea typeface="Menlo"/>
                <a:cs typeface="Menlo"/>
              </a:defRPr>
            </a:pPr>
            <a:r>
              <a:t>data/processed/</a:t>
            </a:r>
          </a:p>
        </p:txBody>
      </p:sp>
      <p:sp>
        <p:nvSpPr>
          <p:cNvPr id="28" name="">
            <a:extLst xmlns:a="http://schemas.openxmlformats.org/drawingml/2006/main">
              <a:ext uri="{FF2B5EF4-FFF2-40B4-BE49-F238E27FC236}">
                <a16:creationId xmlns:a16="http://schemas.microsoft.com/office/drawing/2014/main" id="{4AFD1EF8-5A84-48AA-9362-029432355E6D}"/>
              </a:ext>
            </a:extLst>
          </p:cNvPr>
          <p:cNvSpPr>
            <a:spLocks xmlns:a="http://schemas.openxmlformats.org/drawingml/2006/main" noGrp="1"/>
          </p:cNvSpPr>
          <p:nvPr/>
        </p:nvSpPr>
        <p:spPr>
          <a:xfrm xmlns:a="http://schemas.openxmlformats.org/drawingml/2006/main">
            <a:off x="7010400" y="3962400"/>
            <a:ext cx="4171950" cy="1809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60706D"/>
                </a:solidFill>
                <a:latin typeface="Helvetica Neue"/>
                <a:ea typeface="Helvetica Neue"/>
                <a:cs typeface="Helvetica Neue"/>
              </a:defRPr>
            </a:pPr>
            <a:r>
              <a:t>Analytical features and dashboard tables · Notebooks 2–4</a:t>
            </a:r>
          </a:p>
        </p:txBody>
      </p:sp>
      <p:sp>
        <p:nvSpPr>
          <p:cNvPr id="29" name="">
            <a:extLst xmlns:a="http://schemas.openxmlformats.org/drawingml/2006/main">
              <a:ext uri="{FF2B5EF4-FFF2-40B4-BE49-F238E27FC236}">
                <a16:creationId xmlns:a16="http://schemas.microsoft.com/office/drawing/2014/main" id="{FFB85225-B1B6-4D0E-8520-02F70EC1174A}"/>
              </a:ext>
            </a:extLst>
          </p:cNvPr>
          <p:cNvSpPr>
            <a:spLocks xmlns:a="http://schemas.openxmlformats.org/drawingml/2006/main" noGrp="1"/>
          </p:cNvSpPr>
          <p:nvPr/>
        </p:nvSpPr>
        <p:spPr>
          <a:xfrm xmlns:a="http://schemas.openxmlformats.org/drawingml/2006/main">
            <a:off x="5943600" y="4381500"/>
            <a:ext cx="5391150" cy="53340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30" name="">
            <a:extLst xmlns:a="http://schemas.openxmlformats.org/drawingml/2006/main">
              <a:ext uri="{FF2B5EF4-FFF2-40B4-BE49-F238E27FC236}">
                <a16:creationId xmlns:a16="http://schemas.microsoft.com/office/drawing/2014/main" id="{E120F0E1-231B-40D1-8B94-9531BBAB6179}"/>
              </a:ext>
            </a:extLst>
          </p:cNvPr>
          <p:cNvSpPr>
            <a:spLocks xmlns:a="http://schemas.openxmlformats.org/drawingml/2006/main" noGrp="1"/>
          </p:cNvSpPr>
          <p:nvPr/>
        </p:nvSpPr>
        <p:spPr>
          <a:xfrm xmlns:a="http://schemas.openxmlformats.org/drawingml/2006/main">
            <a:off x="6096000" y="4457700"/>
            <a:ext cx="8191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8D6BB3"/>
                </a:solidFill>
                <a:latin typeface="Helvetica Neue"/>
                <a:ea typeface="Helvetica Neue"/>
                <a:cs typeface="Helvetica Neue"/>
              </a:defRPr>
            </a:pPr>
            <a:r>
              <a:t>API</a:t>
            </a:r>
          </a:p>
        </p:txBody>
      </p:sp>
      <p:sp>
        <p:nvSpPr>
          <p:cNvPr id="31" name="">
            <a:extLst xmlns:a="http://schemas.openxmlformats.org/drawingml/2006/main">
              <a:ext uri="{FF2B5EF4-FFF2-40B4-BE49-F238E27FC236}">
                <a16:creationId xmlns:a16="http://schemas.microsoft.com/office/drawing/2014/main" id="{BEFA576A-B7ED-4B3A-A58E-62B52A9CD6BC}"/>
              </a:ext>
            </a:extLst>
          </p:cNvPr>
          <p:cNvSpPr>
            <a:spLocks xmlns:a="http://schemas.openxmlformats.org/drawingml/2006/main" noGrp="1"/>
          </p:cNvSpPr>
          <p:nvPr/>
        </p:nvSpPr>
        <p:spPr>
          <a:xfrm xmlns:a="http://schemas.openxmlformats.org/drawingml/2006/main">
            <a:off x="7010400" y="4448175"/>
            <a:ext cx="4171950" cy="2000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01820"/>
                </a:solidFill>
                <a:latin typeface="Menlo"/>
                <a:ea typeface="Menlo"/>
                <a:cs typeface="Menlo"/>
              </a:defRPr>
            </a:pPr>
            <a:r>
              <a:t>src/transaction_intelligence/api/</a:t>
            </a:r>
          </a:p>
        </p:txBody>
      </p:sp>
      <p:sp>
        <p:nvSpPr>
          <p:cNvPr id="32" name="">
            <a:extLst xmlns:a="http://schemas.openxmlformats.org/drawingml/2006/main">
              <a:ext uri="{FF2B5EF4-FFF2-40B4-BE49-F238E27FC236}">
                <a16:creationId xmlns:a16="http://schemas.microsoft.com/office/drawing/2014/main" id="{6EAF8091-E438-4D75-B2AF-3B2125395BAA}"/>
              </a:ext>
            </a:extLst>
          </p:cNvPr>
          <p:cNvSpPr>
            <a:spLocks xmlns:a="http://schemas.openxmlformats.org/drawingml/2006/main" noGrp="1"/>
          </p:cNvSpPr>
          <p:nvPr/>
        </p:nvSpPr>
        <p:spPr>
          <a:xfrm xmlns:a="http://schemas.openxmlformats.org/drawingml/2006/main">
            <a:off x="7010400" y="4667250"/>
            <a:ext cx="4171950" cy="1809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60706D"/>
                </a:solidFill>
                <a:latin typeface="Helvetica Neue"/>
                <a:ea typeface="Helvetica Neue"/>
                <a:cs typeface="Helvetica Neue"/>
              </a:defRPr>
            </a:pPr>
            <a:r>
              <a:t>Reusable read-only JSON endpoints served by FastAPI</a:t>
            </a:r>
          </a:p>
        </p:txBody>
      </p:sp>
      <p:sp>
        <p:nvSpPr>
          <p:cNvPr id="33" name="">
            <a:extLst xmlns:a="http://schemas.openxmlformats.org/drawingml/2006/main">
              <a:ext uri="{FF2B5EF4-FFF2-40B4-BE49-F238E27FC236}">
                <a16:creationId xmlns:a16="http://schemas.microsoft.com/office/drawing/2014/main" id="{9A7515A2-7E4B-40C9-906B-FF47B8090205}"/>
              </a:ext>
            </a:extLst>
          </p:cNvPr>
          <p:cNvSpPr>
            <a:spLocks xmlns:a="http://schemas.openxmlformats.org/drawingml/2006/main" noGrp="1"/>
          </p:cNvSpPr>
          <p:nvPr/>
        </p:nvSpPr>
        <p:spPr>
          <a:xfrm xmlns:a="http://schemas.openxmlformats.org/drawingml/2006/main">
            <a:off x="5943600" y="5086350"/>
            <a:ext cx="5391150" cy="53340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34" name="">
            <a:extLst xmlns:a="http://schemas.openxmlformats.org/drawingml/2006/main">
              <a:ext uri="{FF2B5EF4-FFF2-40B4-BE49-F238E27FC236}">
                <a16:creationId xmlns:a16="http://schemas.microsoft.com/office/drawing/2014/main" id="{1626040F-B442-49E9-8B14-DEAA86BD1CF8}"/>
              </a:ext>
            </a:extLst>
          </p:cNvPr>
          <p:cNvSpPr>
            <a:spLocks xmlns:a="http://schemas.openxmlformats.org/drawingml/2006/main" noGrp="1"/>
          </p:cNvSpPr>
          <p:nvPr/>
        </p:nvSpPr>
        <p:spPr>
          <a:xfrm xmlns:a="http://schemas.openxmlformats.org/drawingml/2006/main">
            <a:off x="6096000" y="5162550"/>
            <a:ext cx="8191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E36A54"/>
                </a:solidFill>
                <a:latin typeface="Helvetica Neue"/>
                <a:ea typeface="Helvetica Neue"/>
                <a:cs typeface="Helvetica Neue"/>
              </a:defRPr>
            </a:pPr>
            <a:r>
              <a:t>CLIENTS</a:t>
            </a:r>
          </a:p>
        </p:txBody>
      </p:sp>
      <p:sp>
        <p:nvSpPr>
          <p:cNvPr id="35" name="">
            <a:extLst xmlns:a="http://schemas.openxmlformats.org/drawingml/2006/main">
              <a:ext uri="{FF2B5EF4-FFF2-40B4-BE49-F238E27FC236}">
                <a16:creationId xmlns:a16="http://schemas.microsoft.com/office/drawing/2014/main" id="{7508CC10-2BE4-4409-AD53-DE36BA0C70ED}"/>
              </a:ext>
            </a:extLst>
          </p:cNvPr>
          <p:cNvSpPr>
            <a:spLocks xmlns:a="http://schemas.openxmlformats.org/drawingml/2006/main" noGrp="1"/>
          </p:cNvSpPr>
          <p:nvPr/>
        </p:nvSpPr>
        <p:spPr>
          <a:xfrm xmlns:a="http://schemas.openxmlformats.org/drawingml/2006/main">
            <a:off x="7010400" y="5153025"/>
            <a:ext cx="4171950" cy="2000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01820"/>
                </a:solidFill>
                <a:latin typeface="Helvetica Neue"/>
                <a:ea typeface="Helvetica Neue"/>
                <a:cs typeface="Helvetica Neue"/>
              </a:defRPr>
            </a:pPr>
            <a:r>
              <a:t>dashboard/ and other applications</a:t>
            </a:r>
          </a:p>
        </p:txBody>
      </p:sp>
      <p:sp>
        <p:nvSpPr>
          <p:cNvPr id="36" name="">
            <a:extLst xmlns:a="http://schemas.openxmlformats.org/drawingml/2006/main">
              <a:ext uri="{FF2B5EF4-FFF2-40B4-BE49-F238E27FC236}">
                <a16:creationId xmlns:a16="http://schemas.microsoft.com/office/drawing/2014/main" id="{3E7536AC-6876-41D9-A8B5-E76874CDCA79}"/>
              </a:ext>
            </a:extLst>
          </p:cNvPr>
          <p:cNvSpPr>
            <a:spLocks xmlns:a="http://schemas.openxmlformats.org/drawingml/2006/main" noGrp="1"/>
          </p:cNvSpPr>
          <p:nvPr/>
        </p:nvSpPr>
        <p:spPr>
          <a:xfrm xmlns:a="http://schemas.openxmlformats.org/drawingml/2006/main">
            <a:off x="7010400" y="5372100"/>
            <a:ext cx="4171950" cy="1809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60706D"/>
                </a:solidFill>
                <a:latin typeface="Helvetica Neue"/>
                <a:ea typeface="Helvetica Neue"/>
                <a:cs typeface="Helvetica Neue"/>
              </a:defRPr>
            </a:pPr>
            <a:r>
              <a:t>Angular today; other apps can use the same API</a:t>
            </a:r>
          </a:p>
        </p:txBody>
      </p:sp>
    </p:spTree>
    <p:extLst>
      <p:ext uri="{BB962C8B-B14F-4D97-AF65-F5344CB8AC3E}">
        <p14:creationId xmlns:p14="http://schemas.microsoft.com/office/powerpoint/2010/main" val="15897324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3D377F0-EDC4-42E9-8D51-6EAB12E11544}"/>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101820"/>
                </a:solidFill>
                <a:latin typeface="Helvetica Neue"/>
                <a:ea typeface="Helvetica Neue"/>
                <a:cs typeface="Helvetica Neue"/>
              </a:defRPr>
            </a:pPr>
            <a:r>
              <a:t>Portfolio totals rise with account coverage</a:t>
            </a:r>
          </a:p>
        </p:txBody>
      </p:sp>
      <p:sp>
        <p:nvSpPr>
          <p:cNvPr id="2" name="">
            <a:extLst xmlns:a="http://schemas.openxmlformats.org/drawingml/2006/main">
              <a:ext uri="{FF2B5EF4-FFF2-40B4-BE49-F238E27FC236}">
                <a16:creationId xmlns:a16="http://schemas.microsoft.com/office/drawing/2014/main" id="{A1961A0B-FBB2-4F3C-9AE5-2F081AFAF92E}"/>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Source: Notebook 2; monthly activity aggregated by calendar year, 1993–1998.</a:t>
            </a:r>
          </a:p>
        </p:txBody>
      </p:sp>
      <p:sp>
        <p:nvSpPr>
          <p:cNvPr id="3" name="">
            <a:extLst xmlns:a="http://schemas.openxmlformats.org/drawingml/2006/main">
              <a:ext uri="{FF2B5EF4-FFF2-40B4-BE49-F238E27FC236}">
                <a16:creationId xmlns:a16="http://schemas.microsoft.com/office/drawing/2014/main" id="{1EE92B28-46E5-49CB-88DF-9536BAAB9D52}"/>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6</a:t>
            </a:r>
          </a:p>
        </p:txBody>
      </p:sp>
      <p:sp>
        <p:nvSpPr>
          <p:cNvPr id="4" name="">
            <a:extLst xmlns:a="http://schemas.openxmlformats.org/drawingml/2006/main">
              <a:ext uri="{FF2B5EF4-FFF2-40B4-BE49-F238E27FC236}">
                <a16:creationId xmlns:a16="http://schemas.microsoft.com/office/drawing/2014/main" id="{9219F77E-9BC1-426F-99E5-655F25CBFACF}"/>
              </a:ext>
            </a:extLst>
          </p:cNvPr>
          <p:cNvSpPr>
            <a:spLocks xmlns:a="http://schemas.openxmlformats.org/drawingml/2006/main" noGrp="1"/>
          </p:cNvSpPr>
          <p:nvPr/>
        </p:nvSpPr>
        <p:spPr>
          <a:xfrm xmlns:a="http://schemas.openxmlformats.org/drawingml/2006/main">
            <a:off x="400050" y="1352550"/>
            <a:ext cx="7239000" cy="4610100"/>
          </a:xfrm>
          <a:prstGeom xmlns:a="http://schemas.openxmlformats.org/drawingml/2006/main" prst="rect">
            <a:avLst/>
          </a:prstGeom>
          <a:solidFill xmlns:a="http://schemas.openxmlformats.org/drawingml/2006/main">
            <a:srgbClr val="FFFFFF"/>
          </a:solidFill>
          <a:ln xmlns:a="http://schemas.openxmlformats.org/drawingml/2006/main" w="9525">
            <a:solidFill>
              <a:srgbClr val="CCD4D1"/>
            </a:solidFill>
            <a:prstDash val="solid"/>
          </a:ln>
        </p:spPr>
      </p:sp>
      <p:sp>
        <p:nvSpPr>
          <p:cNvPr id="5" name="">
            <a:extLst xmlns:a="http://schemas.openxmlformats.org/drawingml/2006/main">
              <a:ext uri="{FF2B5EF4-FFF2-40B4-BE49-F238E27FC236}">
                <a16:creationId xmlns:a16="http://schemas.microsoft.com/office/drawing/2014/main" id="{DDB7B955-D6FD-4B02-B635-E5C96F4BD432}"/>
              </a:ext>
            </a:extLst>
          </p:cNvPr>
          <p:cNvSpPr>
            <a:spLocks xmlns:a="http://schemas.openxmlformats.org/drawingml/2006/main" noGrp="1"/>
          </p:cNvSpPr>
          <p:nvPr/>
        </p:nvSpPr>
        <p:spPr>
          <a:xfrm xmlns:a="http://schemas.openxmlformats.org/drawingml/2006/main">
            <a:off x="666750" y="1581150"/>
            <a:ext cx="40957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60706D"/>
                </a:solidFill>
                <a:latin typeface="Helvetica Neue"/>
                <a:ea typeface="Helvetica Neue"/>
                <a:cs typeface="Helvetica Neue"/>
              </a:defRPr>
            </a:pPr>
            <a:r>
              <a:t>Annual transaction records</a:t>
            </a:r>
          </a:p>
        </p:txBody>
      </p:sp>
      <p:sp>
        <p:nvSpPr>
          <p:cNvPr id="6" name="">
            <a:extLst xmlns:a="http://schemas.openxmlformats.org/drawingml/2006/main">
              <a:ext uri="{FF2B5EF4-FFF2-40B4-BE49-F238E27FC236}">
                <a16:creationId xmlns:a16="http://schemas.microsoft.com/office/drawing/2014/main" id="{9901EC9E-D8C6-4C07-B010-2AC0ED0EEDEF}"/>
              </a:ext>
            </a:extLst>
          </p:cNvPr>
          <p:cNvSpPr>
            <a:spLocks xmlns:a="http://schemas.openxmlformats.org/drawingml/2006/main" noGrp="1"/>
          </p:cNvSpPr>
          <p:nvPr/>
        </p:nvSpPr>
        <p:spPr>
          <a:xfrm xmlns:a="http://schemas.openxmlformats.org/drawingml/2006/main">
            <a:off x="8020050" y="1866900"/>
            <a:ext cx="3390900" cy="146685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7" name="">
            <a:extLst xmlns:a="http://schemas.openxmlformats.org/drawingml/2006/main">
              <a:ext uri="{FF2B5EF4-FFF2-40B4-BE49-F238E27FC236}">
                <a16:creationId xmlns:a16="http://schemas.microsoft.com/office/drawing/2014/main" id="{A1619F85-1CDC-4155-879D-7AC812DD2122}"/>
              </a:ext>
            </a:extLst>
          </p:cNvPr>
          <p:cNvSpPr>
            <a:spLocks xmlns:a="http://schemas.openxmlformats.org/drawingml/2006/main" noGrp="1"/>
          </p:cNvSpPr>
          <p:nvPr/>
        </p:nvSpPr>
        <p:spPr>
          <a:xfrm xmlns:a="http://schemas.openxmlformats.org/drawingml/2006/main">
            <a:off x="8305800" y="2114550"/>
            <a:ext cx="276225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i="0">
                <a:solidFill>
                  <a:srgbClr val="3D8DFF"/>
                </a:solidFill>
                <a:latin typeface="Helvetica Neue"/>
                <a:ea typeface="Helvetica Neue"/>
                <a:cs typeface="Helvetica Neue"/>
              </a:defRPr>
            </a:pPr>
            <a:r>
              <a:t>96 → ~4,480</a:t>
            </a:r>
          </a:p>
        </p:txBody>
      </p:sp>
      <p:sp>
        <p:nvSpPr>
          <p:cNvPr id="8" name="">
            <a:extLst xmlns:a="http://schemas.openxmlformats.org/drawingml/2006/main">
              <a:ext uri="{FF2B5EF4-FFF2-40B4-BE49-F238E27FC236}">
                <a16:creationId xmlns:a16="http://schemas.microsoft.com/office/drawing/2014/main" id="{DC487858-517C-4191-B3AF-8D0B86E4DCF6}"/>
              </a:ext>
            </a:extLst>
          </p:cNvPr>
          <p:cNvSpPr>
            <a:spLocks xmlns:a="http://schemas.openxmlformats.org/drawingml/2006/main" noGrp="1"/>
          </p:cNvSpPr>
          <p:nvPr/>
        </p:nvSpPr>
        <p:spPr>
          <a:xfrm xmlns:a="http://schemas.openxmlformats.org/drawingml/2006/main">
            <a:off x="8305800" y="2724150"/>
            <a:ext cx="27622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0706D"/>
                </a:solidFill>
                <a:latin typeface="Helvetica Neue"/>
                <a:ea typeface="Helvetica Neue"/>
                <a:cs typeface="Helvetica Neue"/>
              </a:defRPr>
            </a:pPr>
            <a:r>
              <a:t>active accounts across the observation window</a:t>
            </a:r>
          </a:p>
        </p:txBody>
      </p:sp>
      <p:sp>
        <p:nvSpPr>
          <p:cNvPr id="9" name="">
            <a:extLst xmlns:a="http://schemas.openxmlformats.org/drawingml/2006/main">
              <a:ext uri="{FF2B5EF4-FFF2-40B4-BE49-F238E27FC236}">
                <a16:creationId xmlns:a16="http://schemas.microsoft.com/office/drawing/2014/main" id="{927F934C-934B-4929-ABBC-6E88107D2B99}"/>
              </a:ext>
            </a:extLst>
          </p:cNvPr>
          <p:cNvSpPr>
            <a:spLocks xmlns:a="http://schemas.openxmlformats.org/drawingml/2006/main" noGrp="1"/>
          </p:cNvSpPr>
          <p:nvPr/>
        </p:nvSpPr>
        <p:spPr>
          <a:xfrm xmlns:a="http://schemas.openxmlformats.org/drawingml/2006/main">
            <a:off x="8020050" y="3638550"/>
            <a:ext cx="3390900" cy="146685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10" name="">
            <a:extLst xmlns:a="http://schemas.openxmlformats.org/drawingml/2006/main">
              <a:ext uri="{FF2B5EF4-FFF2-40B4-BE49-F238E27FC236}">
                <a16:creationId xmlns:a16="http://schemas.microsoft.com/office/drawing/2014/main" id="{B38E1AB9-1800-4FCA-9680-CB5C79844BD1}"/>
              </a:ext>
            </a:extLst>
          </p:cNvPr>
          <p:cNvSpPr>
            <a:spLocks xmlns:a="http://schemas.openxmlformats.org/drawingml/2006/main" noGrp="1"/>
          </p:cNvSpPr>
          <p:nvPr/>
        </p:nvSpPr>
        <p:spPr>
          <a:xfrm xmlns:a="http://schemas.openxmlformats.org/drawingml/2006/main">
            <a:off x="8305800" y="3886200"/>
            <a:ext cx="276225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i="0">
                <a:solidFill>
                  <a:srgbClr val="20A894"/>
                </a:solidFill>
                <a:latin typeface="Helvetica Neue"/>
                <a:ea typeface="Helvetica Neue"/>
                <a:cs typeface="Helvetica Neue"/>
              </a:defRPr>
            </a:pPr>
            <a:r>
              <a:t>4.76 vs 2.60</a:t>
            </a:r>
          </a:p>
        </p:txBody>
      </p:sp>
      <p:sp>
        <p:nvSpPr>
          <p:cNvPr id="11" name="">
            <a:extLst xmlns:a="http://schemas.openxmlformats.org/drawingml/2006/main">
              <a:ext uri="{FF2B5EF4-FFF2-40B4-BE49-F238E27FC236}">
                <a16:creationId xmlns:a16="http://schemas.microsoft.com/office/drawing/2014/main" id="{E2A1A6A4-BD68-496E-B811-78C006197BDE}"/>
              </a:ext>
            </a:extLst>
          </p:cNvPr>
          <p:cNvSpPr>
            <a:spLocks xmlns:a="http://schemas.openxmlformats.org/drawingml/2006/main" noGrp="1"/>
          </p:cNvSpPr>
          <p:nvPr/>
        </p:nvSpPr>
        <p:spPr>
          <a:xfrm xmlns:a="http://schemas.openxmlformats.org/drawingml/2006/main">
            <a:off x="8305800" y="4495800"/>
            <a:ext cx="27622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0706D"/>
                </a:solidFill>
                <a:latin typeface="Helvetica Neue"/>
                <a:ea typeface="Helvetica Neue"/>
                <a:cs typeface="Helvetica Neue"/>
              </a:defRPr>
            </a:pPr>
            <a:r>
              <a:t>January versus December withdrawals per active account</a:t>
            </a:r>
          </a:p>
        </p:txBody>
      </p:sp>
      <p:sp>
        <p:nvSpPr>
          <p:cNvPr id="12" name="">
            <a:extLst xmlns:a="http://schemas.openxmlformats.org/drawingml/2006/main">
              <a:ext uri="{FF2B5EF4-FFF2-40B4-BE49-F238E27FC236}">
                <a16:creationId xmlns:a16="http://schemas.microsoft.com/office/drawing/2014/main" id="{891948A1-761F-4F77-AF5A-65FBC46C2803}"/>
              </a:ext>
            </a:extLst>
          </p:cNvPr>
          <p:cNvSpPr>
            <a:spLocks xmlns:a="http://schemas.openxmlformats.org/drawingml/2006/main" noGrp="1"/>
          </p:cNvSpPr>
          <p:nvPr/>
        </p:nvSpPr>
        <p:spPr>
          <a:xfrm xmlns:a="http://schemas.openxmlformats.org/drawingml/2006/main">
            <a:off x="8020050" y="5448300"/>
            <a:ext cx="3390900" cy="419100"/>
          </a:xfrm>
          <a:prstGeom xmlns:a="http://schemas.openxmlformats.org/drawingml/2006/main" prst="rect">
            <a:avLst/>
          </a:prstGeom>
        </p:spPr>
        <p:txBody>
          <a:bodyPr xmlns:a="http://schemas.openxmlformats.org/drawingml/2006/main" wrap="square" lIns="0" tIns="0" rIns="0" bIns="0" anchor="t">
            <a:normAutofit fontScale="91667"/>
          </a:bodyPr>
          <a:lstStyle xmlns:a="http://schemas.openxmlformats.org/drawingml/2006/main"/>
          <a:p xmlns:a="http://schemas.openxmlformats.org/drawingml/2006/main">
            <a:pPr algn="l">
              <a:defRPr sz="1500" b="1" i="0">
                <a:solidFill>
                  <a:srgbClr val="17324A"/>
                </a:solidFill>
                <a:latin typeface="Helvetica Neue"/>
                <a:ea typeface="Helvetica Neue"/>
                <a:cs typeface="Helvetica Neue"/>
              </a:defRPr>
            </a:pPr>
            <a:r>
              <a:t>Totals combine changing behavior with expanding account coverage.</a:t>
            </a:r>
          </a:p>
        </p:txBody>
      </p:sp>
      <p:graphicFrame>
        <p:nvGraphicFramePr>
          <p:cNvPr id="26" name="Chart"/>
          <p:cNvGraphicFramePr/>
          <p:nvPr/>
        </p:nvGraphicFramePr>
        <p:xfrm>
          <a:off xmlns:a="http://schemas.openxmlformats.org/drawingml/2006/main" x="666750" y="1952625"/>
          <a:ext xmlns:a="http://schemas.openxmlformats.org/drawingml/2006/main" cx="6705600" cy="3543300"/>
        </p:xfrm>
        <a:graphic xmlns:a="http://schemas.openxmlformats.org/drawingml/2006/main">
          <a:graphicData uri="http://schemas.openxmlformats.org/drawingml/2006/chart">
            <c:chart xmlns:r="http://schemas.openxmlformats.org/officeDocument/2006/relationships" xmlns:c="http://schemas.openxmlformats.org/drawingml/2006/chart" r:id="R9dfad64941c34cfa"/>
          </a:graphicData>
        </a:graphic>
      </p:graphicFrame>
    </p:spTree>
    <p:extLst>
      <p:ext uri="{BB962C8B-B14F-4D97-AF65-F5344CB8AC3E}">
        <p14:creationId xmlns:p14="http://schemas.microsoft.com/office/powerpoint/2010/main" val="14667345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F84E525-A3B9-4969-B687-9C01F7C044DE}"/>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101820"/>
                </a:solidFill>
                <a:latin typeface="Helvetica Neue"/>
                <a:ea typeface="Helvetica Neue"/>
                <a:cs typeface="Helvetica Neue"/>
              </a:defRPr>
            </a:pPr>
            <a:r>
              <a:t>SARIMA reduced error; service rules remain hypotheses</a:t>
            </a:r>
          </a:p>
        </p:txBody>
      </p:sp>
      <p:sp>
        <p:nvSpPr>
          <p:cNvPr id="2" name="">
            <a:extLst xmlns:a="http://schemas.openxmlformats.org/drawingml/2006/main">
              <a:ext uri="{FF2B5EF4-FFF2-40B4-BE49-F238E27FC236}">
                <a16:creationId xmlns:a16="http://schemas.microsoft.com/office/drawing/2014/main" id="{749034E0-453B-4AA9-9474-77979C7233C3}"/>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Source: Notebook 2; chronological 1998 holdout and filtered Apriori rules.</a:t>
            </a:r>
          </a:p>
        </p:txBody>
      </p:sp>
      <p:sp>
        <p:nvSpPr>
          <p:cNvPr id="3" name="">
            <a:extLst xmlns:a="http://schemas.openxmlformats.org/drawingml/2006/main">
              <a:ext uri="{FF2B5EF4-FFF2-40B4-BE49-F238E27FC236}">
                <a16:creationId xmlns:a16="http://schemas.microsoft.com/office/drawing/2014/main" id="{6C1B3B33-137B-424A-81E6-64574BEEDD3A}"/>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7</a:t>
            </a:r>
          </a:p>
        </p:txBody>
      </p:sp>
      <p:sp>
        <p:nvSpPr>
          <p:cNvPr id="4" name="">
            <a:extLst xmlns:a="http://schemas.openxmlformats.org/drawingml/2006/main">
              <a:ext uri="{FF2B5EF4-FFF2-40B4-BE49-F238E27FC236}">
                <a16:creationId xmlns:a16="http://schemas.microsoft.com/office/drawing/2014/main" id="{2110C98E-A298-4542-8799-F569E6599ECC}"/>
              </a:ext>
            </a:extLst>
          </p:cNvPr>
          <p:cNvSpPr>
            <a:spLocks xmlns:a="http://schemas.openxmlformats.org/drawingml/2006/main" noGrp="1"/>
          </p:cNvSpPr>
          <p:nvPr/>
        </p:nvSpPr>
        <p:spPr>
          <a:xfrm xmlns:a="http://schemas.openxmlformats.org/drawingml/2006/main">
            <a:off x="400050" y="1352550"/>
            <a:ext cx="5238750" cy="4762500"/>
          </a:xfrm>
          <a:prstGeom xmlns:a="http://schemas.openxmlformats.org/drawingml/2006/main" prst="rect">
            <a:avLst/>
          </a:prstGeom>
          <a:solidFill xmlns:a="http://schemas.openxmlformats.org/drawingml/2006/main">
            <a:srgbClr val="FFFFFF"/>
          </a:solidFill>
          <a:ln xmlns:a="http://schemas.openxmlformats.org/drawingml/2006/main" w="9525">
            <a:solidFill>
              <a:srgbClr val="CCD4D1"/>
            </a:solidFill>
            <a:prstDash val="solid"/>
          </a:ln>
        </p:spPr>
      </p:sp>
      <p:sp>
        <p:nvSpPr>
          <p:cNvPr id="5" name="">
            <a:extLst xmlns:a="http://schemas.openxmlformats.org/drawingml/2006/main">
              <a:ext uri="{FF2B5EF4-FFF2-40B4-BE49-F238E27FC236}">
                <a16:creationId xmlns:a16="http://schemas.microsoft.com/office/drawing/2014/main" id="{066C5F87-7875-485B-AC39-69D1F1446AF3}"/>
              </a:ext>
            </a:extLst>
          </p:cNvPr>
          <p:cNvSpPr>
            <a:spLocks xmlns:a="http://schemas.openxmlformats.org/drawingml/2006/main" noGrp="1"/>
          </p:cNvSpPr>
          <p:nvPr/>
        </p:nvSpPr>
        <p:spPr>
          <a:xfrm xmlns:a="http://schemas.openxmlformats.org/drawingml/2006/main">
            <a:off x="666750" y="1581150"/>
            <a:ext cx="4000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60706D"/>
                </a:solidFill>
                <a:latin typeface="Helvetica Neue"/>
                <a:ea typeface="Helvetica Neue"/>
                <a:cs typeface="Helvetica Neue"/>
              </a:defRPr>
            </a:pPr>
            <a:r>
              <a:t>Forecast MAE — fewer is better</a:t>
            </a:r>
          </a:p>
        </p:txBody>
      </p:sp>
      <p:sp>
        <p:nvSpPr>
          <p:cNvPr id="6" name="">
            <a:extLst xmlns:a="http://schemas.openxmlformats.org/drawingml/2006/main">
              <a:ext uri="{FF2B5EF4-FFF2-40B4-BE49-F238E27FC236}">
                <a16:creationId xmlns:a16="http://schemas.microsoft.com/office/drawing/2014/main" id="{96A4B508-6BD0-4FF3-BFE4-668560152945}"/>
              </a:ext>
            </a:extLst>
          </p:cNvPr>
          <p:cNvSpPr>
            <a:spLocks xmlns:a="http://schemas.openxmlformats.org/drawingml/2006/main" noGrp="1"/>
          </p:cNvSpPr>
          <p:nvPr/>
        </p:nvSpPr>
        <p:spPr>
          <a:xfrm xmlns:a="http://schemas.openxmlformats.org/drawingml/2006/main">
            <a:off x="6019800" y="1352550"/>
            <a:ext cx="5772150" cy="135255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7" name="">
            <a:extLst xmlns:a="http://schemas.openxmlformats.org/drawingml/2006/main">
              <a:ext uri="{FF2B5EF4-FFF2-40B4-BE49-F238E27FC236}">
                <a16:creationId xmlns:a16="http://schemas.microsoft.com/office/drawing/2014/main" id="{33D26469-94F9-47E5-A3E6-D3AEACFADD02}"/>
              </a:ext>
            </a:extLst>
          </p:cNvPr>
          <p:cNvSpPr>
            <a:spLocks xmlns:a="http://schemas.openxmlformats.org/drawingml/2006/main" noGrp="1"/>
          </p:cNvSpPr>
          <p:nvPr/>
        </p:nvSpPr>
        <p:spPr>
          <a:xfrm xmlns:a="http://schemas.openxmlformats.org/drawingml/2006/main">
            <a:off x="6343650" y="1581150"/>
            <a:ext cx="5048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i="0">
                <a:solidFill>
                  <a:srgbClr val="3D8DFF"/>
                </a:solidFill>
                <a:latin typeface="Helvetica Neue"/>
                <a:ea typeface="Helvetica Neue"/>
                <a:cs typeface="Helvetica Neue"/>
              </a:defRPr>
            </a:pPr>
            <a:r>
              <a:t>2,321</a:t>
            </a:r>
          </a:p>
        </p:txBody>
      </p:sp>
      <p:sp>
        <p:nvSpPr>
          <p:cNvPr id="8" name="">
            <a:extLst xmlns:a="http://schemas.openxmlformats.org/drawingml/2006/main">
              <a:ext uri="{FF2B5EF4-FFF2-40B4-BE49-F238E27FC236}">
                <a16:creationId xmlns:a16="http://schemas.microsoft.com/office/drawing/2014/main" id="{29F35695-F431-4C1A-81BB-3649CAF071B8}"/>
              </a:ext>
            </a:extLst>
          </p:cNvPr>
          <p:cNvSpPr>
            <a:spLocks xmlns:a="http://schemas.openxmlformats.org/drawingml/2006/main" noGrp="1"/>
          </p:cNvSpPr>
          <p:nvPr/>
        </p:nvSpPr>
        <p:spPr>
          <a:xfrm xmlns:a="http://schemas.openxmlformats.org/drawingml/2006/main">
            <a:off x="6343650" y="2076450"/>
            <a:ext cx="504825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0706D"/>
                </a:solidFill>
                <a:latin typeface="Helvetica Neue"/>
                <a:ea typeface="Helvetica Neue"/>
                <a:cs typeface="Helvetica Neue"/>
              </a:defRPr>
            </a:pPr>
            <a:r>
              <a:t>SARIMA holdout MAE</a:t>
            </a:r>
          </a:p>
        </p:txBody>
      </p:sp>
      <p:sp>
        <p:nvSpPr>
          <p:cNvPr id="9" name="">
            <a:extLst xmlns:a="http://schemas.openxmlformats.org/drawingml/2006/main">
              <a:ext uri="{FF2B5EF4-FFF2-40B4-BE49-F238E27FC236}">
                <a16:creationId xmlns:a16="http://schemas.microsoft.com/office/drawing/2014/main" id="{6CF9CD63-61EE-4BB2-BD55-466F87C71C83}"/>
              </a:ext>
            </a:extLst>
          </p:cNvPr>
          <p:cNvSpPr>
            <a:spLocks xmlns:a="http://schemas.openxmlformats.org/drawingml/2006/main" noGrp="1"/>
          </p:cNvSpPr>
          <p:nvPr/>
        </p:nvSpPr>
        <p:spPr>
          <a:xfrm xmlns:a="http://schemas.openxmlformats.org/drawingml/2006/main">
            <a:off x="6019800" y="2933700"/>
            <a:ext cx="5772150" cy="135255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10" name="">
            <a:extLst xmlns:a="http://schemas.openxmlformats.org/drawingml/2006/main">
              <a:ext uri="{FF2B5EF4-FFF2-40B4-BE49-F238E27FC236}">
                <a16:creationId xmlns:a16="http://schemas.microsoft.com/office/drawing/2014/main" id="{24F1C11B-CEB8-409F-B945-08C9271F63F5}"/>
              </a:ext>
            </a:extLst>
          </p:cNvPr>
          <p:cNvSpPr>
            <a:spLocks xmlns:a="http://schemas.openxmlformats.org/drawingml/2006/main" noGrp="1"/>
          </p:cNvSpPr>
          <p:nvPr/>
        </p:nvSpPr>
        <p:spPr>
          <a:xfrm xmlns:a="http://schemas.openxmlformats.org/drawingml/2006/main">
            <a:off x="6343650" y="3162300"/>
            <a:ext cx="5048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i="0">
                <a:solidFill>
                  <a:srgbClr val="60706D"/>
                </a:solidFill>
                <a:latin typeface="Helvetica Neue"/>
                <a:ea typeface="Helvetica Neue"/>
                <a:cs typeface="Helvetica Neue"/>
              </a:defRPr>
            </a:pPr>
            <a:r>
              <a:t>3,858 / 3,942</a:t>
            </a:r>
          </a:p>
        </p:txBody>
      </p:sp>
      <p:sp>
        <p:nvSpPr>
          <p:cNvPr id="11" name="">
            <a:extLst xmlns:a="http://schemas.openxmlformats.org/drawingml/2006/main">
              <a:ext uri="{FF2B5EF4-FFF2-40B4-BE49-F238E27FC236}">
                <a16:creationId xmlns:a16="http://schemas.microsoft.com/office/drawing/2014/main" id="{B4EF502C-62B2-4A6C-B6C0-821D86B8A955}"/>
              </a:ext>
            </a:extLst>
          </p:cNvPr>
          <p:cNvSpPr>
            <a:spLocks xmlns:a="http://schemas.openxmlformats.org/drawingml/2006/main" noGrp="1"/>
          </p:cNvSpPr>
          <p:nvPr/>
        </p:nvSpPr>
        <p:spPr>
          <a:xfrm xmlns:a="http://schemas.openxmlformats.org/drawingml/2006/main">
            <a:off x="6343650" y="3657600"/>
            <a:ext cx="504825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0706D"/>
                </a:solidFill>
                <a:latin typeface="Helvetica Neue"/>
                <a:ea typeface="Helvetica Neue"/>
                <a:cs typeface="Helvetica Neue"/>
              </a:defRPr>
            </a:pPr>
            <a:r>
              <a:t>Last-value / seasonal-naive MAE</a:t>
            </a:r>
          </a:p>
        </p:txBody>
      </p:sp>
      <p:sp>
        <p:nvSpPr>
          <p:cNvPr id="12" name="">
            <a:extLst xmlns:a="http://schemas.openxmlformats.org/drawingml/2006/main">
              <a:ext uri="{FF2B5EF4-FFF2-40B4-BE49-F238E27FC236}">
                <a16:creationId xmlns:a16="http://schemas.microsoft.com/office/drawing/2014/main" id="{488E1FCB-B61C-44E2-B0C2-732F1B3F534C}"/>
              </a:ext>
            </a:extLst>
          </p:cNvPr>
          <p:cNvSpPr>
            <a:spLocks xmlns:a="http://schemas.openxmlformats.org/drawingml/2006/main" noGrp="1"/>
          </p:cNvSpPr>
          <p:nvPr/>
        </p:nvSpPr>
        <p:spPr>
          <a:xfrm xmlns:a="http://schemas.openxmlformats.org/drawingml/2006/main">
            <a:off x="6019800" y="4514850"/>
            <a:ext cx="5772150" cy="135255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13" name="">
            <a:extLst xmlns:a="http://schemas.openxmlformats.org/drawingml/2006/main">
              <a:ext uri="{FF2B5EF4-FFF2-40B4-BE49-F238E27FC236}">
                <a16:creationId xmlns:a16="http://schemas.microsoft.com/office/drawing/2014/main" id="{A5743A99-2E85-4F27-8C32-02C4FE98BFE1}"/>
              </a:ext>
            </a:extLst>
          </p:cNvPr>
          <p:cNvSpPr>
            <a:spLocks xmlns:a="http://schemas.openxmlformats.org/drawingml/2006/main" noGrp="1"/>
          </p:cNvSpPr>
          <p:nvPr/>
        </p:nvSpPr>
        <p:spPr>
          <a:xfrm xmlns:a="http://schemas.openxmlformats.org/drawingml/2006/main">
            <a:off x="6343650" y="4743450"/>
            <a:ext cx="5048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i="0">
                <a:solidFill>
                  <a:srgbClr val="20A894"/>
                </a:solidFill>
                <a:latin typeface="Helvetica Neue"/>
                <a:ea typeface="Helvetica Neue"/>
                <a:cs typeface="Helvetica Neue"/>
              </a:defRPr>
            </a:pPr>
            <a:r>
              <a:t>Lift 3.60</a:t>
            </a:r>
          </a:p>
        </p:txBody>
      </p:sp>
      <p:sp>
        <p:nvSpPr>
          <p:cNvPr id="14" name="">
            <a:extLst xmlns:a="http://schemas.openxmlformats.org/drawingml/2006/main">
              <a:ext uri="{FF2B5EF4-FFF2-40B4-BE49-F238E27FC236}">
                <a16:creationId xmlns:a16="http://schemas.microsoft.com/office/drawing/2014/main" id="{520BCD42-1CAB-4474-B161-53BF6D9085CB}"/>
              </a:ext>
            </a:extLst>
          </p:cNvPr>
          <p:cNvSpPr>
            <a:spLocks xmlns:a="http://schemas.openxmlformats.org/drawingml/2006/main" noGrp="1"/>
          </p:cNvSpPr>
          <p:nvPr/>
        </p:nvSpPr>
        <p:spPr>
          <a:xfrm xmlns:a="http://schemas.openxmlformats.org/drawingml/2006/main">
            <a:off x="6343650" y="5238750"/>
            <a:ext cx="504825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0706D"/>
                </a:solidFill>
                <a:latin typeface="Helvetica Neue"/>
                <a:ea typeface="Helvetica Neue"/>
                <a:cs typeface="Helvetica Neue"/>
              </a:defRPr>
            </a:pPr>
            <a:r>
              <a:t>Household payments + salary-like deposits → loan
Support 3.1%  •  Confidence 54.5%</a:t>
            </a:r>
          </a:p>
        </p:txBody>
      </p:sp>
      <p:sp>
        <p:nvSpPr>
          <p:cNvPr id="15" name="">
            <a:extLst xmlns:a="http://schemas.openxmlformats.org/drawingml/2006/main">
              <a:ext uri="{FF2B5EF4-FFF2-40B4-BE49-F238E27FC236}">
                <a16:creationId xmlns:a16="http://schemas.microsoft.com/office/drawing/2014/main" id="{5F90D155-ADD4-41D7-A8F0-BF2B3F9FEC27}"/>
              </a:ext>
            </a:extLst>
          </p:cNvPr>
          <p:cNvSpPr>
            <a:spLocks xmlns:a="http://schemas.openxmlformats.org/drawingml/2006/main" noGrp="1"/>
          </p:cNvSpPr>
          <p:nvPr/>
        </p:nvSpPr>
        <p:spPr>
          <a:xfrm xmlns:a="http://schemas.openxmlformats.org/drawingml/2006/main">
            <a:off x="6019800" y="6191250"/>
            <a:ext cx="57721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7324A"/>
                </a:solidFill>
                <a:latin typeface="Helvetica Neue"/>
                <a:ea typeface="Helvetica Neue"/>
                <a:cs typeface="Helvetica Neue"/>
              </a:defRPr>
            </a:pPr>
            <a:r>
              <a:t>The service rule is a co-occurrence question—not a personalized recommendation.</a:t>
            </a:r>
          </a:p>
        </p:txBody>
      </p:sp>
      <p:graphicFrame>
        <p:nvGraphicFramePr>
          <p:cNvPr id="32" name="Chart"/>
          <p:cNvGraphicFramePr/>
          <p:nvPr/>
        </p:nvGraphicFramePr>
        <p:xfrm>
          <a:off xmlns:a="http://schemas.openxmlformats.org/drawingml/2006/main" x="685800" y="2038350"/>
          <a:ext xmlns:a="http://schemas.openxmlformats.org/drawingml/2006/main" cx="4619625" cy="3581400"/>
        </p:xfrm>
        <a:graphic xmlns:a="http://schemas.openxmlformats.org/drawingml/2006/main">
          <a:graphicData uri="http://schemas.openxmlformats.org/drawingml/2006/chart">
            <c:chart xmlns:r="http://schemas.openxmlformats.org/officeDocument/2006/relationships" xmlns:c="http://schemas.openxmlformats.org/drawingml/2006/chart" r:id="R589d9e58a1434371"/>
          </a:graphicData>
        </a:graphic>
      </p:graphicFrame>
    </p:spTree>
    <p:extLst>
      <p:ext uri="{BB962C8B-B14F-4D97-AF65-F5344CB8AC3E}">
        <p14:creationId xmlns:p14="http://schemas.microsoft.com/office/powerpoint/2010/main" val="13922610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75CAEBC-DE60-4352-A7B7-06CA151CFDE7}"/>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101820"/>
                </a:solidFill>
                <a:latin typeface="Helvetica Neue"/>
                <a:ea typeface="Helvetica Neue"/>
                <a:cs typeface="Helvetica Neue"/>
              </a:defRPr>
            </a:pPr>
            <a:r>
              <a:t>Five clusters balance separation and interpretation</a:t>
            </a:r>
          </a:p>
        </p:txBody>
      </p:sp>
      <p:sp>
        <p:nvSpPr>
          <p:cNvPr id="2" name="">
            <a:extLst xmlns:a="http://schemas.openxmlformats.org/drawingml/2006/main">
              <a:ext uri="{FF2B5EF4-FFF2-40B4-BE49-F238E27FC236}">
                <a16:creationId xmlns:a16="http://schemas.microsoft.com/office/drawing/2014/main" id="{8A9C8CC2-96FE-4510-ABD2-B3FF14EFE11C}"/>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Source: Notebook 3; 4,500 accounts and nine modeled behavioral features.</a:t>
            </a:r>
          </a:p>
        </p:txBody>
      </p:sp>
      <p:sp>
        <p:nvSpPr>
          <p:cNvPr id="3" name="">
            <a:extLst xmlns:a="http://schemas.openxmlformats.org/drawingml/2006/main">
              <a:ext uri="{FF2B5EF4-FFF2-40B4-BE49-F238E27FC236}">
                <a16:creationId xmlns:a16="http://schemas.microsoft.com/office/drawing/2014/main" id="{8B0DECA9-83F4-4054-9EBA-D69DE51CC005}"/>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8</a:t>
            </a:r>
          </a:p>
        </p:txBody>
      </p:sp>
      <p:sp>
        <p:nvSpPr>
          <p:cNvPr id="4" name="">
            <a:extLst xmlns:a="http://schemas.openxmlformats.org/drawingml/2006/main">
              <a:ext uri="{FF2B5EF4-FFF2-40B4-BE49-F238E27FC236}">
                <a16:creationId xmlns:a16="http://schemas.microsoft.com/office/drawing/2014/main" id="{DB3CF7A2-A917-4495-924C-23B05437B8AE}"/>
              </a:ext>
            </a:extLst>
          </p:cNvPr>
          <p:cNvSpPr>
            <a:spLocks xmlns:a="http://schemas.openxmlformats.org/drawingml/2006/main" noGrp="1"/>
          </p:cNvSpPr>
          <p:nvPr/>
        </p:nvSpPr>
        <p:spPr>
          <a:xfrm xmlns:a="http://schemas.openxmlformats.org/drawingml/2006/main">
            <a:off x="400050" y="1352550"/>
            <a:ext cx="5905500" cy="4762500"/>
          </a:xfrm>
          <a:prstGeom xmlns:a="http://schemas.openxmlformats.org/drawingml/2006/main" prst="rect">
            <a:avLst/>
          </a:prstGeom>
          <a:solidFill xmlns:a="http://schemas.openxmlformats.org/drawingml/2006/main">
            <a:srgbClr val="FFFFFF"/>
          </a:solidFill>
          <a:ln xmlns:a="http://schemas.openxmlformats.org/drawingml/2006/main" w="9525">
            <a:solidFill>
              <a:srgbClr val="CCD4D1"/>
            </a:solidFill>
            <a:prstDash val="solid"/>
          </a:ln>
        </p:spPr>
      </p:sp>
      <p:sp>
        <p:nvSpPr>
          <p:cNvPr id="5" name="">
            <a:extLst xmlns:a="http://schemas.openxmlformats.org/drawingml/2006/main">
              <a:ext uri="{FF2B5EF4-FFF2-40B4-BE49-F238E27FC236}">
                <a16:creationId xmlns:a16="http://schemas.microsoft.com/office/drawing/2014/main" id="{2983DA76-4B63-485E-9B38-5FC03B5B7846}"/>
              </a:ext>
            </a:extLst>
          </p:cNvPr>
          <p:cNvSpPr>
            <a:spLocks xmlns:a="http://schemas.openxmlformats.org/drawingml/2006/main" noGrp="1"/>
          </p:cNvSpPr>
          <p:nvPr/>
        </p:nvSpPr>
        <p:spPr>
          <a:xfrm xmlns:a="http://schemas.openxmlformats.org/drawingml/2006/main">
            <a:off x="666750" y="1581150"/>
            <a:ext cx="38100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60706D"/>
                </a:solidFill>
                <a:latin typeface="Helvetica Neue"/>
                <a:ea typeface="Helvetica Neue"/>
                <a:cs typeface="Helvetica Neue"/>
              </a:defRPr>
            </a:pPr>
            <a:r>
              <a:t>K-means silhouette score</a:t>
            </a:r>
          </a:p>
        </p:txBody>
      </p:sp>
      <p:sp>
        <p:nvSpPr>
          <p:cNvPr id="6" name="">
            <a:extLst xmlns:a="http://schemas.openxmlformats.org/drawingml/2006/main">
              <a:ext uri="{FF2B5EF4-FFF2-40B4-BE49-F238E27FC236}">
                <a16:creationId xmlns:a16="http://schemas.microsoft.com/office/drawing/2014/main" id="{9E344BF0-A3D6-406F-A36E-A5FF91A3615B}"/>
              </a:ext>
            </a:extLst>
          </p:cNvPr>
          <p:cNvSpPr>
            <a:spLocks xmlns:a="http://schemas.openxmlformats.org/drawingml/2006/main" noGrp="1"/>
          </p:cNvSpPr>
          <p:nvPr/>
        </p:nvSpPr>
        <p:spPr>
          <a:xfrm xmlns:a="http://schemas.openxmlformats.org/drawingml/2006/main">
            <a:off x="6762750" y="1695450"/>
            <a:ext cx="200025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i="0">
                <a:solidFill>
                  <a:srgbClr val="3D8DFF"/>
                </a:solidFill>
                <a:latin typeface="Helvetica Neue"/>
                <a:ea typeface="Helvetica Neue"/>
                <a:cs typeface="Helvetica Neue"/>
              </a:defRPr>
            </a:pPr>
            <a:r>
              <a:t>K = 5</a:t>
            </a:r>
          </a:p>
        </p:txBody>
      </p:sp>
      <p:sp>
        <p:nvSpPr>
          <p:cNvPr id="7" name="">
            <a:extLst xmlns:a="http://schemas.openxmlformats.org/drawingml/2006/main">
              <a:ext uri="{FF2B5EF4-FFF2-40B4-BE49-F238E27FC236}">
                <a16:creationId xmlns:a16="http://schemas.microsoft.com/office/drawing/2014/main" id="{2EEF05E4-F368-4139-AD2B-FA46FEDD3533}"/>
              </a:ext>
            </a:extLst>
          </p:cNvPr>
          <p:cNvSpPr>
            <a:spLocks xmlns:a="http://schemas.openxmlformats.org/drawingml/2006/main" noGrp="1"/>
          </p:cNvSpPr>
          <p:nvPr/>
        </p:nvSpPr>
        <p:spPr>
          <a:xfrm xmlns:a="http://schemas.openxmlformats.org/drawingml/2006/main">
            <a:off x="6762750" y="2209800"/>
            <a:ext cx="4629150" cy="838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101820"/>
                </a:solidFill>
                <a:latin typeface="Helvetica Neue"/>
                <a:ea typeface="Helvetica Neue"/>
                <a:cs typeface="Helvetica Neue"/>
              </a:defRPr>
            </a:pPr>
            <a:r>
              <a:t>Strongest tested K-means silhouette score with workable group sizes.</a:t>
            </a:r>
          </a:p>
        </p:txBody>
      </p:sp>
      <p:sp>
        <p:nvSpPr>
          <p:cNvPr id="8" name="">
            <a:extLst xmlns:a="http://schemas.openxmlformats.org/drawingml/2006/main">
              <a:ext uri="{FF2B5EF4-FFF2-40B4-BE49-F238E27FC236}">
                <a16:creationId xmlns:a16="http://schemas.microsoft.com/office/drawing/2014/main" id="{4E8D5F04-D4DE-48FB-B734-AE36CABFDBBF}"/>
              </a:ext>
            </a:extLst>
          </p:cNvPr>
          <p:cNvSpPr>
            <a:spLocks xmlns:a="http://schemas.openxmlformats.org/drawingml/2006/main" noGrp="1"/>
          </p:cNvSpPr>
          <p:nvPr/>
        </p:nvSpPr>
        <p:spPr>
          <a:xfrm xmlns:a="http://schemas.openxmlformats.org/drawingml/2006/main">
            <a:off x="6762750" y="3505200"/>
            <a:ext cx="247650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625" b="1" i="0">
                <a:solidFill>
                  <a:srgbClr val="20A894"/>
                </a:solidFill>
                <a:latin typeface="Helvetica Neue"/>
                <a:ea typeface="Helvetica Neue"/>
                <a:cs typeface="Helvetica Neue"/>
              </a:defRPr>
            </a:pPr>
            <a:r>
              <a:t>0.995–0.998</a:t>
            </a:r>
          </a:p>
        </p:txBody>
      </p:sp>
      <p:sp>
        <p:nvSpPr>
          <p:cNvPr id="9" name="">
            <a:extLst xmlns:a="http://schemas.openxmlformats.org/drawingml/2006/main">
              <a:ext uri="{FF2B5EF4-FFF2-40B4-BE49-F238E27FC236}">
                <a16:creationId xmlns:a16="http://schemas.microsoft.com/office/drawing/2014/main" id="{92F65872-F280-4248-883D-24C7CF84146C}"/>
              </a:ext>
            </a:extLst>
          </p:cNvPr>
          <p:cNvSpPr>
            <a:spLocks xmlns:a="http://schemas.openxmlformats.org/drawingml/2006/main" noGrp="1"/>
          </p:cNvSpPr>
          <p:nvPr/>
        </p:nvSpPr>
        <p:spPr>
          <a:xfrm xmlns:a="http://schemas.openxmlformats.org/drawingml/2006/main">
            <a:off x="6762750" y="4019550"/>
            <a:ext cx="323850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0706D"/>
                </a:solidFill>
                <a:latin typeface="Helvetica Neue"/>
                <a:ea typeface="Helvetica Neue"/>
                <a:cs typeface="Helvetica Neue"/>
              </a:defRPr>
            </a:pPr>
            <a:r>
              <a:t>Adjusted Rand Index across random starts</a:t>
            </a:r>
          </a:p>
        </p:txBody>
      </p:sp>
      <p:sp>
        <p:nvSpPr>
          <p:cNvPr id="10" name="">
            <a:extLst xmlns:a="http://schemas.openxmlformats.org/drawingml/2006/main">
              <a:ext uri="{FF2B5EF4-FFF2-40B4-BE49-F238E27FC236}">
                <a16:creationId xmlns:a16="http://schemas.microsoft.com/office/drawing/2014/main" id="{65856D32-8315-4872-8E63-DF78B0505C1D}"/>
              </a:ext>
            </a:extLst>
          </p:cNvPr>
          <p:cNvSpPr>
            <a:spLocks xmlns:a="http://schemas.openxmlformats.org/drawingml/2006/main" noGrp="1"/>
          </p:cNvSpPr>
          <p:nvPr/>
        </p:nvSpPr>
        <p:spPr>
          <a:xfrm xmlns:a="http://schemas.openxmlformats.org/drawingml/2006/main">
            <a:off x="9810750" y="3505200"/>
            <a:ext cx="152400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625" b="1" i="0">
                <a:solidFill>
                  <a:srgbClr val="DDAA32"/>
                </a:solidFill>
                <a:latin typeface="Helvetica Neue"/>
                <a:ea typeface="Helvetica Neue"/>
                <a:cs typeface="Helvetica Neue"/>
              </a:defRPr>
            </a:pPr>
            <a:r>
              <a:t>86%</a:t>
            </a:r>
          </a:p>
        </p:txBody>
      </p:sp>
      <p:sp>
        <p:nvSpPr>
          <p:cNvPr id="11" name="">
            <a:extLst xmlns:a="http://schemas.openxmlformats.org/drawingml/2006/main">
              <a:ext uri="{FF2B5EF4-FFF2-40B4-BE49-F238E27FC236}">
                <a16:creationId xmlns:a16="http://schemas.microsoft.com/office/drawing/2014/main" id="{B1A5AE37-39AD-44E5-81A1-B694F24B690F}"/>
              </a:ext>
            </a:extLst>
          </p:cNvPr>
          <p:cNvSpPr>
            <a:spLocks xmlns:a="http://schemas.openxmlformats.org/drawingml/2006/main" noGrp="1"/>
          </p:cNvSpPr>
          <p:nvPr/>
        </p:nvSpPr>
        <p:spPr>
          <a:xfrm xmlns:a="http://schemas.openxmlformats.org/drawingml/2006/main">
            <a:off x="9810750" y="4019550"/>
            <a:ext cx="1714500" cy="647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0706D"/>
                </a:solidFill>
                <a:latin typeface="Helvetica Neue"/>
                <a:ea typeface="Helvetica Neue"/>
                <a:cs typeface="Helvetica Neue"/>
              </a:defRPr>
            </a:pPr>
            <a:r>
              <a:t>variance explained by the first four PCs</a:t>
            </a:r>
          </a:p>
        </p:txBody>
      </p:sp>
      <p:sp>
        <p:nvSpPr>
          <p:cNvPr id="12" name="">
            <a:extLst xmlns:a="http://schemas.openxmlformats.org/drawingml/2006/main">
              <a:ext uri="{FF2B5EF4-FFF2-40B4-BE49-F238E27FC236}">
                <a16:creationId xmlns:a16="http://schemas.microsoft.com/office/drawing/2014/main" id="{C2656904-D201-4480-90E1-118601F6D490}"/>
              </a:ext>
            </a:extLst>
          </p:cNvPr>
          <p:cNvSpPr>
            <a:spLocks xmlns:a="http://schemas.openxmlformats.org/drawingml/2006/main" noGrp="1"/>
          </p:cNvSpPr>
          <p:nvPr/>
        </p:nvSpPr>
        <p:spPr>
          <a:xfrm xmlns:a="http://schemas.openxmlformats.org/drawingml/2006/main">
            <a:off x="6762750" y="5238750"/>
            <a:ext cx="462915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7324A"/>
                </a:solidFill>
                <a:latin typeface="Helvetica Neue"/>
                <a:ea typeface="Helvetica Neue"/>
                <a:cs typeface="Helvetica Neue"/>
              </a:defRPr>
            </a:pPr>
            <a:r>
              <a:t>The matched five-component GMM separated the accounts less clearly.</a:t>
            </a:r>
          </a:p>
        </p:txBody>
      </p:sp>
      <p:graphicFrame>
        <p:nvGraphicFramePr>
          <p:cNvPr id="26" name="Chart"/>
          <p:cNvGraphicFramePr/>
          <p:nvPr/>
        </p:nvGraphicFramePr>
        <p:xfrm>
          <a:off xmlns:a="http://schemas.openxmlformats.org/drawingml/2006/main" x="685800" y="2038350"/>
          <a:ext xmlns:a="http://schemas.openxmlformats.org/drawingml/2006/main" cx="5276850" cy="3581400"/>
        </p:xfrm>
        <a:graphic xmlns:a="http://schemas.openxmlformats.org/drawingml/2006/main">
          <a:graphicData uri="http://schemas.openxmlformats.org/drawingml/2006/chart">
            <c:chart xmlns:r="http://schemas.openxmlformats.org/officeDocument/2006/relationships" xmlns:c="http://schemas.openxmlformats.org/drawingml/2006/chart" r:id="R4ff5d21d33154d25"/>
          </a:graphicData>
        </a:graphic>
      </p:graphicFrame>
    </p:spTree>
    <p:extLst>
      <p:ext uri="{BB962C8B-B14F-4D97-AF65-F5344CB8AC3E}">
        <p14:creationId xmlns:p14="http://schemas.microsoft.com/office/powerpoint/2010/main" val="19027524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C117A06-4C00-4BEE-91E0-B2C3D1FA8817}"/>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101820"/>
                </a:solidFill>
                <a:latin typeface="Helvetica Neue"/>
                <a:ea typeface="Helvetica Neue"/>
                <a:cs typeface="Helvetica Neue"/>
              </a:defRPr>
            </a:pPr>
            <a:r>
              <a:t>Five patterns summarize how accounts were used</a:t>
            </a:r>
          </a:p>
        </p:txBody>
      </p:sp>
      <p:sp>
        <p:nvSpPr>
          <p:cNvPr id="2" name="">
            <a:extLst xmlns:a="http://schemas.openxmlformats.org/drawingml/2006/main">
              <a:ext uri="{FF2B5EF4-FFF2-40B4-BE49-F238E27FC236}">
                <a16:creationId xmlns:a16="http://schemas.microsoft.com/office/drawing/2014/main" id="{97C918E4-0A2C-4292-BD33-6EAD78B85AE5}"/>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Source: Notebook 3; selected five-segment K-means solution.</a:t>
            </a:r>
          </a:p>
        </p:txBody>
      </p:sp>
      <p:sp>
        <p:nvSpPr>
          <p:cNvPr id="3" name="">
            <a:extLst xmlns:a="http://schemas.openxmlformats.org/drawingml/2006/main">
              <a:ext uri="{FF2B5EF4-FFF2-40B4-BE49-F238E27FC236}">
                <a16:creationId xmlns:a16="http://schemas.microsoft.com/office/drawing/2014/main" id="{94FF5578-8601-47BB-9C0A-18411E998C4A}"/>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9</a:t>
            </a:r>
          </a:p>
        </p:txBody>
      </p:sp>
      <p:sp>
        <p:nvSpPr>
          <p:cNvPr id="4" name="">
            <a:extLst xmlns:a="http://schemas.openxmlformats.org/drawingml/2006/main">
              <a:ext uri="{FF2B5EF4-FFF2-40B4-BE49-F238E27FC236}">
                <a16:creationId xmlns:a16="http://schemas.microsoft.com/office/drawing/2014/main" id="{FFE29FC9-C918-46D8-8931-BC72E5168E0A}"/>
              </a:ext>
            </a:extLst>
          </p:cNvPr>
          <p:cNvSpPr>
            <a:spLocks xmlns:a="http://schemas.openxmlformats.org/drawingml/2006/main" noGrp="1"/>
          </p:cNvSpPr>
          <p:nvPr/>
        </p:nvSpPr>
        <p:spPr>
          <a:xfrm xmlns:a="http://schemas.openxmlformats.org/drawingml/2006/main">
            <a:off x="400050" y="1352550"/>
            <a:ext cx="7677150" cy="4762500"/>
          </a:xfrm>
          <a:prstGeom xmlns:a="http://schemas.openxmlformats.org/drawingml/2006/main" prst="rect">
            <a:avLst/>
          </a:prstGeom>
          <a:solidFill xmlns:a="http://schemas.openxmlformats.org/drawingml/2006/main">
            <a:srgbClr val="FFFFFF"/>
          </a:solidFill>
          <a:ln xmlns:a="http://schemas.openxmlformats.org/drawingml/2006/main" w="9525">
            <a:solidFill>
              <a:srgbClr val="CCD4D1"/>
            </a:solidFill>
            <a:prstDash val="solid"/>
          </a:ln>
        </p:spPr>
      </p:sp>
      <p:sp>
        <p:nvSpPr>
          <p:cNvPr id="5" name="">
            <a:extLst xmlns:a="http://schemas.openxmlformats.org/drawingml/2006/main">
              <a:ext uri="{FF2B5EF4-FFF2-40B4-BE49-F238E27FC236}">
                <a16:creationId xmlns:a16="http://schemas.microsoft.com/office/drawing/2014/main" id="{6246FA0C-604F-4D0D-A96E-519FD98B1F46}"/>
              </a:ext>
            </a:extLst>
          </p:cNvPr>
          <p:cNvSpPr>
            <a:spLocks xmlns:a="http://schemas.openxmlformats.org/drawingml/2006/main" noGrp="1"/>
          </p:cNvSpPr>
          <p:nvPr/>
        </p:nvSpPr>
        <p:spPr>
          <a:xfrm xmlns:a="http://schemas.openxmlformats.org/drawingml/2006/main">
            <a:off x="666750" y="1581150"/>
            <a:ext cx="34290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60706D"/>
                </a:solidFill>
                <a:latin typeface="Helvetica Neue"/>
                <a:ea typeface="Helvetica Neue"/>
                <a:cs typeface="Helvetica Neue"/>
              </a:defRPr>
            </a:pPr>
            <a:r>
              <a:t>Accounts per segment</a:t>
            </a:r>
          </a:p>
        </p:txBody>
      </p:sp>
      <p:sp>
        <p:nvSpPr>
          <p:cNvPr id="6" name="">
            <a:extLst xmlns:a="http://schemas.openxmlformats.org/drawingml/2006/main">
              <a:ext uri="{FF2B5EF4-FFF2-40B4-BE49-F238E27FC236}">
                <a16:creationId xmlns:a16="http://schemas.microsoft.com/office/drawing/2014/main" id="{90BF0795-44AE-4B11-81CC-6651048C054F}"/>
              </a:ext>
            </a:extLst>
          </p:cNvPr>
          <p:cNvSpPr>
            <a:spLocks xmlns:a="http://schemas.openxmlformats.org/drawingml/2006/main" noGrp="1"/>
          </p:cNvSpPr>
          <p:nvPr/>
        </p:nvSpPr>
        <p:spPr>
          <a:xfrm xmlns:a="http://schemas.openxmlformats.org/drawingml/2006/main">
            <a:off x="8572500" y="1676400"/>
            <a:ext cx="21907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0A894"/>
                </a:solidFill>
                <a:latin typeface="Helvetica Neue"/>
                <a:ea typeface="Helvetica Neue"/>
                <a:cs typeface="Helvetica Neue"/>
              </a:defRPr>
            </a:pPr>
            <a:r>
              <a:t>Largest group</a:t>
            </a:r>
          </a:p>
        </p:txBody>
      </p:sp>
      <p:sp>
        <p:nvSpPr>
          <p:cNvPr id="7" name="">
            <a:extLst xmlns:a="http://schemas.openxmlformats.org/drawingml/2006/main">
              <a:ext uri="{FF2B5EF4-FFF2-40B4-BE49-F238E27FC236}">
                <a16:creationId xmlns:a16="http://schemas.microsoft.com/office/drawing/2014/main" id="{3AF36D7D-8710-4CBB-8CF3-87558542114B}"/>
              </a:ext>
            </a:extLst>
          </p:cNvPr>
          <p:cNvSpPr>
            <a:spLocks xmlns:a="http://schemas.openxmlformats.org/drawingml/2006/main" noGrp="1"/>
          </p:cNvSpPr>
          <p:nvPr/>
        </p:nvSpPr>
        <p:spPr>
          <a:xfrm xmlns:a="http://schemas.openxmlformats.org/drawingml/2006/main">
            <a:off x="8572500" y="1962150"/>
            <a:ext cx="2381250" cy="523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01820"/>
                </a:solidFill>
                <a:latin typeface="Helvetica Neue"/>
                <a:ea typeface="Helvetica Neue"/>
                <a:cs typeface="Helvetica Neue"/>
              </a:defRPr>
            </a:pPr>
            <a:r>
              <a:t>1,519</a:t>
            </a:r>
          </a:p>
        </p:txBody>
      </p:sp>
      <p:sp>
        <p:nvSpPr>
          <p:cNvPr id="8" name="">
            <a:extLst xmlns:a="http://schemas.openxmlformats.org/drawingml/2006/main">
              <a:ext uri="{FF2B5EF4-FFF2-40B4-BE49-F238E27FC236}">
                <a16:creationId xmlns:a16="http://schemas.microsoft.com/office/drawing/2014/main" id="{E609BEDF-66AB-43F5-BC97-432A8E22741D}"/>
              </a:ext>
            </a:extLst>
          </p:cNvPr>
          <p:cNvSpPr>
            <a:spLocks xmlns:a="http://schemas.openxmlformats.org/drawingml/2006/main" noGrp="1"/>
          </p:cNvSpPr>
          <p:nvPr/>
        </p:nvSpPr>
        <p:spPr>
          <a:xfrm xmlns:a="http://schemas.openxmlformats.org/drawingml/2006/main">
            <a:off x="8572500" y="2571750"/>
            <a:ext cx="2857500" cy="647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60706D"/>
                </a:solidFill>
                <a:latin typeface="Helvetica Neue"/>
                <a:ea typeface="Helvetica Neue"/>
                <a:cs typeface="Helvetica Neue"/>
              </a:defRPr>
            </a:pPr>
            <a:r>
              <a:t>Established household users
33.8% of accounts</a:t>
            </a:r>
          </a:p>
        </p:txBody>
      </p:sp>
      <p:sp>
        <p:nvSpPr>
          <p:cNvPr id="9" name="">
            <a:extLst xmlns:a="http://schemas.openxmlformats.org/drawingml/2006/main">
              <a:ext uri="{FF2B5EF4-FFF2-40B4-BE49-F238E27FC236}">
                <a16:creationId xmlns:a16="http://schemas.microsoft.com/office/drawing/2014/main" id="{7D21EE9C-BCC0-4505-9A57-31D1F59942C6}"/>
              </a:ext>
            </a:extLst>
          </p:cNvPr>
          <p:cNvSpPr>
            <a:spLocks xmlns:a="http://schemas.openxmlformats.org/drawingml/2006/main" noGrp="1"/>
          </p:cNvSpPr>
          <p:nvPr/>
        </p:nvSpPr>
        <p:spPr>
          <a:xfrm xmlns:a="http://schemas.openxmlformats.org/drawingml/2006/main">
            <a:off x="8572500" y="3486150"/>
            <a:ext cx="2838450" cy="952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0" name="">
            <a:extLst xmlns:a="http://schemas.openxmlformats.org/drawingml/2006/main">
              <a:ext uri="{FF2B5EF4-FFF2-40B4-BE49-F238E27FC236}">
                <a16:creationId xmlns:a16="http://schemas.microsoft.com/office/drawing/2014/main" id="{A8BDC077-CF27-4ED1-A3EF-CCAA63B06142}"/>
              </a:ext>
            </a:extLst>
          </p:cNvPr>
          <p:cNvSpPr>
            <a:spLocks xmlns:a="http://schemas.openxmlformats.org/drawingml/2006/main" noGrp="1"/>
          </p:cNvSpPr>
          <p:nvPr/>
        </p:nvSpPr>
        <p:spPr>
          <a:xfrm xmlns:a="http://schemas.openxmlformats.org/drawingml/2006/main">
            <a:off x="8572500" y="3771900"/>
            <a:ext cx="2667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E36A54"/>
                </a:solidFill>
                <a:latin typeface="Helvetica Neue"/>
                <a:ea typeface="Helvetica Neue"/>
                <a:cs typeface="Helvetica Neue"/>
              </a:defRPr>
            </a:pPr>
            <a:r>
              <a:t>Interpretation boundary</a:t>
            </a:r>
          </a:p>
        </p:txBody>
      </p:sp>
      <p:sp>
        <p:nvSpPr>
          <p:cNvPr id="11" name="">
            <a:extLst xmlns:a="http://schemas.openxmlformats.org/drawingml/2006/main">
              <a:ext uri="{FF2B5EF4-FFF2-40B4-BE49-F238E27FC236}">
                <a16:creationId xmlns:a16="http://schemas.microsoft.com/office/drawing/2014/main" id="{8D0E735B-1917-43B6-953C-A274B7E6E0C8}"/>
              </a:ext>
            </a:extLst>
          </p:cNvPr>
          <p:cNvSpPr>
            <a:spLocks xmlns:a="http://schemas.openxmlformats.org/drawingml/2006/main" noGrp="1"/>
          </p:cNvSpPr>
          <p:nvPr/>
        </p:nvSpPr>
        <p:spPr>
          <a:xfrm xmlns:a="http://schemas.openxmlformats.org/drawingml/2006/main">
            <a:off x="8572500" y="4095750"/>
            <a:ext cx="2838450" cy="1428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101820"/>
                </a:solidFill>
                <a:latin typeface="Helvetica Neue"/>
                <a:ea typeface="Helvetica Neue"/>
                <a:cs typeface="Helvetica Neue"/>
              </a:defRPr>
            </a:pPr>
            <a:r>
              <a:t>Names summarize observed historical behavior. They are not customer identities, permanent labels, or eligibility categories.</a:t>
            </a:r>
          </a:p>
        </p:txBody>
      </p:sp>
      <p:graphicFrame>
        <p:nvGraphicFramePr>
          <p:cNvPr id="24" name="Chart"/>
          <p:cNvGraphicFramePr/>
          <p:nvPr/>
        </p:nvGraphicFramePr>
        <p:xfrm>
          <a:off xmlns:a="http://schemas.openxmlformats.org/drawingml/2006/main" x="666750" y="2038350"/>
          <a:ext xmlns:a="http://schemas.openxmlformats.org/drawingml/2006/main" cx="7067550" cy="3581400"/>
        </p:xfrm>
        <a:graphic xmlns:a="http://schemas.openxmlformats.org/drawingml/2006/main">
          <a:graphicData uri="http://schemas.openxmlformats.org/drawingml/2006/chart">
            <c:chart xmlns:r="http://schemas.openxmlformats.org/officeDocument/2006/relationships" xmlns:c="http://schemas.openxmlformats.org/drawingml/2006/chart" r:id="R354b197693334e6b"/>
          </a:graphicData>
        </a:graphic>
      </p:graphicFrame>
    </p:spTree>
    <p:extLst>
      <p:ext uri="{BB962C8B-B14F-4D97-AF65-F5344CB8AC3E}">
        <p14:creationId xmlns:p14="http://schemas.microsoft.com/office/powerpoint/2010/main" val="12244379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C709AB4-D5BF-4AB2-88A8-8C430E4B582A}"/>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101820"/>
                </a:solidFill>
                <a:latin typeface="Helvetica Neue"/>
                <a:ea typeface="Helvetica Neue"/>
                <a:cs typeface="Helvetica Neue"/>
              </a:defRPr>
            </a:pPr>
            <a:r>
              <a:t>Only 16 accounts were unusual by multiple signals</a:t>
            </a:r>
          </a:p>
        </p:txBody>
      </p:sp>
      <p:sp>
        <p:nvSpPr>
          <p:cNvPr id="2" name="">
            <a:extLst xmlns:a="http://schemas.openxmlformats.org/drawingml/2006/main">
              <a:ext uri="{FF2B5EF4-FFF2-40B4-BE49-F238E27FC236}">
                <a16:creationId xmlns:a16="http://schemas.microsoft.com/office/drawing/2014/main" id="{FA167044-10BB-427C-99BC-28A49D9A4995}"/>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Source: Notebook 3; consensus of four complementary behavioral-outlier signals.</a:t>
            </a:r>
          </a:p>
        </p:txBody>
      </p:sp>
      <p:sp>
        <p:nvSpPr>
          <p:cNvPr id="3" name="">
            <a:extLst xmlns:a="http://schemas.openxmlformats.org/drawingml/2006/main">
              <a:ext uri="{FF2B5EF4-FFF2-40B4-BE49-F238E27FC236}">
                <a16:creationId xmlns:a16="http://schemas.microsoft.com/office/drawing/2014/main" id="{AE1E3D99-CF84-4A00-8504-5F607FE0AA10}"/>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10</a:t>
            </a:r>
          </a:p>
        </p:txBody>
      </p:sp>
      <p:sp>
        <p:nvSpPr>
          <p:cNvPr id="4" name="">
            <a:extLst xmlns:a="http://schemas.openxmlformats.org/drawingml/2006/main">
              <a:ext uri="{FF2B5EF4-FFF2-40B4-BE49-F238E27FC236}">
                <a16:creationId xmlns:a16="http://schemas.microsoft.com/office/drawing/2014/main" id="{7C7621DF-8248-4EAB-89B0-339FC42634E2}"/>
              </a:ext>
            </a:extLst>
          </p:cNvPr>
          <p:cNvSpPr>
            <a:spLocks xmlns:a="http://schemas.openxmlformats.org/drawingml/2006/main" noGrp="1"/>
          </p:cNvSpPr>
          <p:nvPr/>
        </p:nvSpPr>
        <p:spPr>
          <a:xfrm xmlns:a="http://schemas.openxmlformats.org/drawingml/2006/main">
            <a:off x="400050" y="1314450"/>
            <a:ext cx="10668000" cy="800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101820"/>
                </a:solidFill>
                <a:latin typeface="Helvetica Neue"/>
                <a:ea typeface="Helvetica Neue"/>
                <a:cs typeface="Helvetica Neue"/>
              </a:defRPr>
            </a:pPr>
            <a:r>
              <a:t>An account was selected only when at least two methods agreed. Each method captures a different kind of unusual behavior.</a:t>
            </a:r>
          </a:p>
        </p:txBody>
      </p:sp>
      <p:sp>
        <p:nvSpPr>
          <p:cNvPr id="5" name="">
            <a:extLst xmlns:a="http://schemas.openxmlformats.org/drawingml/2006/main">
              <a:ext uri="{FF2B5EF4-FFF2-40B4-BE49-F238E27FC236}">
                <a16:creationId xmlns:a16="http://schemas.microsoft.com/office/drawing/2014/main" id="{0E8315A6-BE3B-4221-AFB0-4F91D442034A}"/>
              </a:ext>
            </a:extLst>
          </p:cNvPr>
          <p:cNvSpPr>
            <a:spLocks xmlns:a="http://schemas.openxmlformats.org/drawingml/2006/main" noGrp="1"/>
          </p:cNvSpPr>
          <p:nvPr/>
        </p:nvSpPr>
        <p:spPr>
          <a:xfrm xmlns:a="http://schemas.openxmlformats.org/drawingml/2006/main">
            <a:off x="400050" y="2724150"/>
            <a:ext cx="3562350" cy="274320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6" name="">
            <a:extLst xmlns:a="http://schemas.openxmlformats.org/drawingml/2006/main">
              <a:ext uri="{FF2B5EF4-FFF2-40B4-BE49-F238E27FC236}">
                <a16:creationId xmlns:a16="http://schemas.microsoft.com/office/drawing/2014/main" id="{CCC1B04C-3020-48B0-B3C2-246E35D28694}"/>
              </a:ext>
            </a:extLst>
          </p:cNvPr>
          <p:cNvSpPr>
            <a:spLocks xmlns:a="http://schemas.openxmlformats.org/drawingml/2006/main" noGrp="1"/>
          </p:cNvSpPr>
          <p:nvPr/>
        </p:nvSpPr>
        <p:spPr>
          <a:xfrm xmlns:a="http://schemas.openxmlformats.org/drawingml/2006/main">
            <a:off x="723900" y="3086100"/>
            <a:ext cx="2857500" cy="704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i="0">
                <a:solidFill>
                  <a:srgbClr val="3D8DFF"/>
                </a:solidFill>
                <a:latin typeface="Helvetica Neue"/>
                <a:ea typeface="Helvetica Neue"/>
                <a:cs typeface="Helvetica Neue"/>
              </a:defRPr>
            </a:pPr>
            <a:r>
              <a:t>4</a:t>
            </a:r>
          </a:p>
        </p:txBody>
      </p:sp>
      <p:sp>
        <p:nvSpPr>
          <p:cNvPr id="7" name="">
            <a:extLst xmlns:a="http://schemas.openxmlformats.org/drawingml/2006/main">
              <a:ext uri="{FF2B5EF4-FFF2-40B4-BE49-F238E27FC236}">
                <a16:creationId xmlns:a16="http://schemas.microsoft.com/office/drawing/2014/main" id="{B43D1FED-5E35-4788-A4C1-2434FBDD9DEF}"/>
              </a:ext>
            </a:extLst>
          </p:cNvPr>
          <p:cNvSpPr>
            <a:spLocks xmlns:a="http://schemas.openxmlformats.org/drawingml/2006/main" noGrp="1"/>
          </p:cNvSpPr>
          <p:nvPr/>
        </p:nvSpPr>
        <p:spPr>
          <a:xfrm xmlns:a="http://schemas.openxmlformats.org/drawingml/2006/main">
            <a:off x="723900" y="3886200"/>
            <a:ext cx="28575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01820"/>
                </a:solidFill>
                <a:latin typeface="Helvetica Neue"/>
                <a:ea typeface="Helvetica Neue"/>
                <a:cs typeface="Helvetica Neue"/>
              </a:defRPr>
            </a:pPr>
            <a:r>
              <a:t>independent signals</a:t>
            </a:r>
          </a:p>
        </p:txBody>
      </p:sp>
      <p:sp>
        <p:nvSpPr>
          <p:cNvPr id="8" name="">
            <a:extLst xmlns:a="http://schemas.openxmlformats.org/drawingml/2006/main">
              <a:ext uri="{FF2B5EF4-FFF2-40B4-BE49-F238E27FC236}">
                <a16:creationId xmlns:a16="http://schemas.microsoft.com/office/drawing/2014/main" id="{70ED4485-FED6-4B63-8FA2-4920E4A44AB9}"/>
              </a:ext>
            </a:extLst>
          </p:cNvPr>
          <p:cNvSpPr>
            <a:spLocks xmlns:a="http://schemas.openxmlformats.org/drawingml/2006/main" noGrp="1"/>
          </p:cNvSpPr>
          <p:nvPr/>
        </p:nvSpPr>
        <p:spPr>
          <a:xfrm xmlns:a="http://schemas.openxmlformats.org/drawingml/2006/main">
            <a:off x="723900" y="4362450"/>
            <a:ext cx="2914650"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0706D"/>
                </a:solidFill>
                <a:latin typeface="Helvetica Neue"/>
                <a:ea typeface="Helvetica Neue"/>
                <a:cs typeface="Helvetica Neue"/>
              </a:defRPr>
            </a:pPr>
            <a:r>
              <a:t>Centroid distance, low GMM membership, robust within-segment deviation, and Isolation Forest.</a:t>
            </a:r>
          </a:p>
        </p:txBody>
      </p:sp>
      <p:sp>
        <p:nvSpPr>
          <p:cNvPr id="9" name="">
            <a:extLst xmlns:a="http://schemas.openxmlformats.org/drawingml/2006/main">
              <a:ext uri="{FF2B5EF4-FFF2-40B4-BE49-F238E27FC236}">
                <a16:creationId xmlns:a16="http://schemas.microsoft.com/office/drawing/2014/main" id="{C58F843B-2E02-49C4-A71B-EE69030F9966}"/>
              </a:ext>
            </a:extLst>
          </p:cNvPr>
          <p:cNvSpPr>
            <a:spLocks xmlns:a="http://schemas.openxmlformats.org/drawingml/2006/main" noGrp="1"/>
          </p:cNvSpPr>
          <p:nvPr/>
        </p:nvSpPr>
        <p:spPr>
          <a:xfrm xmlns:a="http://schemas.openxmlformats.org/drawingml/2006/main">
            <a:off x="4314825" y="2724150"/>
            <a:ext cx="3562350" cy="274320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10" name="">
            <a:extLst xmlns:a="http://schemas.openxmlformats.org/drawingml/2006/main">
              <a:ext uri="{FF2B5EF4-FFF2-40B4-BE49-F238E27FC236}">
                <a16:creationId xmlns:a16="http://schemas.microsoft.com/office/drawing/2014/main" id="{B21072F0-6764-47F8-AA0A-054C89D6A0AD}"/>
              </a:ext>
            </a:extLst>
          </p:cNvPr>
          <p:cNvSpPr>
            <a:spLocks xmlns:a="http://schemas.openxmlformats.org/drawingml/2006/main" noGrp="1"/>
          </p:cNvSpPr>
          <p:nvPr/>
        </p:nvSpPr>
        <p:spPr>
          <a:xfrm xmlns:a="http://schemas.openxmlformats.org/drawingml/2006/main">
            <a:off x="4638675" y="3086100"/>
            <a:ext cx="2857500" cy="704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i="0">
                <a:solidFill>
                  <a:srgbClr val="20A894"/>
                </a:solidFill>
                <a:latin typeface="Helvetica Neue"/>
                <a:ea typeface="Helvetica Neue"/>
                <a:cs typeface="Helvetica Neue"/>
              </a:defRPr>
            </a:pPr>
            <a:r>
              <a:t>16</a:t>
            </a:r>
          </a:p>
        </p:txBody>
      </p:sp>
      <p:sp>
        <p:nvSpPr>
          <p:cNvPr id="11" name="">
            <a:extLst xmlns:a="http://schemas.openxmlformats.org/drawingml/2006/main">
              <a:ext uri="{FF2B5EF4-FFF2-40B4-BE49-F238E27FC236}">
                <a16:creationId xmlns:a16="http://schemas.microsoft.com/office/drawing/2014/main" id="{7C8DADA4-438C-42F1-AA90-BC71868D49B7}"/>
              </a:ext>
            </a:extLst>
          </p:cNvPr>
          <p:cNvSpPr>
            <a:spLocks xmlns:a="http://schemas.openxmlformats.org/drawingml/2006/main" noGrp="1"/>
          </p:cNvSpPr>
          <p:nvPr/>
        </p:nvSpPr>
        <p:spPr>
          <a:xfrm xmlns:a="http://schemas.openxmlformats.org/drawingml/2006/main">
            <a:off x="4638675" y="3886200"/>
            <a:ext cx="28575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01820"/>
                </a:solidFill>
                <a:latin typeface="Helvetica Neue"/>
                <a:ea typeface="Helvetica Neue"/>
                <a:cs typeface="Helvetica Neue"/>
              </a:defRPr>
            </a:pPr>
            <a:r>
              <a:t>consensus outliers</a:t>
            </a:r>
          </a:p>
        </p:txBody>
      </p:sp>
      <p:sp>
        <p:nvSpPr>
          <p:cNvPr id="12" name="">
            <a:extLst xmlns:a="http://schemas.openxmlformats.org/drawingml/2006/main">
              <a:ext uri="{FF2B5EF4-FFF2-40B4-BE49-F238E27FC236}">
                <a16:creationId xmlns:a16="http://schemas.microsoft.com/office/drawing/2014/main" id="{CE4A2F2F-0216-4B93-9A71-D3FBA16C4128}"/>
              </a:ext>
            </a:extLst>
          </p:cNvPr>
          <p:cNvSpPr>
            <a:spLocks xmlns:a="http://schemas.openxmlformats.org/drawingml/2006/main" noGrp="1"/>
          </p:cNvSpPr>
          <p:nvPr/>
        </p:nvSpPr>
        <p:spPr>
          <a:xfrm xmlns:a="http://schemas.openxmlformats.org/drawingml/2006/main">
            <a:off x="4638675" y="4362450"/>
            <a:ext cx="2914650"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0706D"/>
                </a:solidFill>
                <a:latin typeface="Helvetica Neue"/>
                <a:ea typeface="Helvetica Neue"/>
                <a:cs typeface="Helvetica Neue"/>
              </a:defRPr>
            </a:pPr>
            <a:r>
              <a:t>A conservative two-signal rule reduced thousands of scores to a small review set.</a:t>
            </a:r>
          </a:p>
        </p:txBody>
      </p:sp>
      <p:sp>
        <p:nvSpPr>
          <p:cNvPr id="13" name="">
            <a:extLst xmlns:a="http://schemas.openxmlformats.org/drawingml/2006/main">
              <a:ext uri="{FF2B5EF4-FFF2-40B4-BE49-F238E27FC236}">
                <a16:creationId xmlns:a16="http://schemas.microsoft.com/office/drawing/2014/main" id="{F334D628-C497-40CC-9346-F23795831860}"/>
              </a:ext>
            </a:extLst>
          </p:cNvPr>
          <p:cNvSpPr>
            <a:spLocks xmlns:a="http://schemas.openxmlformats.org/drawingml/2006/main" noGrp="1"/>
          </p:cNvSpPr>
          <p:nvPr/>
        </p:nvSpPr>
        <p:spPr>
          <a:xfrm xmlns:a="http://schemas.openxmlformats.org/drawingml/2006/main">
            <a:off x="8229600" y="2724150"/>
            <a:ext cx="3562350" cy="274320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14" name="">
            <a:extLst xmlns:a="http://schemas.openxmlformats.org/drawingml/2006/main">
              <a:ext uri="{FF2B5EF4-FFF2-40B4-BE49-F238E27FC236}">
                <a16:creationId xmlns:a16="http://schemas.microsoft.com/office/drawing/2014/main" id="{F41B672E-3DC3-41BD-9B6C-D0236E5D4AFC}"/>
              </a:ext>
            </a:extLst>
          </p:cNvPr>
          <p:cNvSpPr>
            <a:spLocks xmlns:a="http://schemas.openxmlformats.org/drawingml/2006/main" noGrp="1"/>
          </p:cNvSpPr>
          <p:nvPr/>
        </p:nvSpPr>
        <p:spPr>
          <a:xfrm xmlns:a="http://schemas.openxmlformats.org/drawingml/2006/main">
            <a:off x="8553450" y="3086100"/>
            <a:ext cx="2857500" cy="704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i="0">
                <a:solidFill>
                  <a:srgbClr val="DDAA32"/>
                </a:solidFill>
                <a:latin typeface="Helvetica Neue"/>
                <a:ea typeface="Helvetica Neue"/>
                <a:cs typeface="Helvetica Neue"/>
              </a:defRPr>
            </a:pPr>
            <a:r>
              <a:t>0.36%</a:t>
            </a:r>
          </a:p>
        </p:txBody>
      </p:sp>
      <p:sp>
        <p:nvSpPr>
          <p:cNvPr id="15" name="">
            <a:extLst xmlns:a="http://schemas.openxmlformats.org/drawingml/2006/main">
              <a:ext uri="{FF2B5EF4-FFF2-40B4-BE49-F238E27FC236}">
                <a16:creationId xmlns:a16="http://schemas.microsoft.com/office/drawing/2014/main" id="{00BE5C37-8751-44B1-ACF0-F1931E53E81A}"/>
              </a:ext>
            </a:extLst>
          </p:cNvPr>
          <p:cNvSpPr>
            <a:spLocks xmlns:a="http://schemas.openxmlformats.org/drawingml/2006/main" noGrp="1"/>
          </p:cNvSpPr>
          <p:nvPr/>
        </p:nvSpPr>
        <p:spPr>
          <a:xfrm xmlns:a="http://schemas.openxmlformats.org/drawingml/2006/main">
            <a:off x="8553450" y="3886200"/>
            <a:ext cx="28575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01820"/>
                </a:solidFill>
                <a:latin typeface="Helvetica Neue"/>
                <a:ea typeface="Helvetica Neue"/>
                <a:cs typeface="Helvetica Neue"/>
              </a:defRPr>
            </a:pPr>
            <a:r>
              <a:t>of all accounts</a:t>
            </a:r>
          </a:p>
        </p:txBody>
      </p:sp>
      <p:sp>
        <p:nvSpPr>
          <p:cNvPr id="16" name="">
            <a:extLst xmlns:a="http://schemas.openxmlformats.org/drawingml/2006/main">
              <a:ext uri="{FF2B5EF4-FFF2-40B4-BE49-F238E27FC236}">
                <a16:creationId xmlns:a16="http://schemas.microsoft.com/office/drawing/2014/main" id="{828D16B6-DF55-4C4A-991D-F13F46B581BB}"/>
              </a:ext>
            </a:extLst>
          </p:cNvPr>
          <p:cNvSpPr>
            <a:spLocks xmlns:a="http://schemas.openxmlformats.org/drawingml/2006/main" noGrp="1"/>
          </p:cNvSpPr>
          <p:nvPr/>
        </p:nvSpPr>
        <p:spPr>
          <a:xfrm xmlns:a="http://schemas.openxmlformats.org/drawingml/2006/main">
            <a:off x="8553450" y="4362450"/>
            <a:ext cx="2914650"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0706D"/>
                </a:solidFill>
                <a:latin typeface="Helvetica Neue"/>
                <a:ea typeface="Helvetica Neue"/>
                <a:cs typeface="Helvetica Neue"/>
              </a:defRPr>
            </a:pPr>
            <a:r>
              <a:t>The selected cases are rare relative to the 4,500-account analytical population.</a:t>
            </a:r>
          </a:p>
        </p:txBody>
      </p:sp>
      <p:sp>
        <p:nvSpPr>
          <p:cNvPr id="17" name="">
            <a:extLst xmlns:a="http://schemas.openxmlformats.org/drawingml/2006/main">
              <a:ext uri="{FF2B5EF4-FFF2-40B4-BE49-F238E27FC236}">
                <a16:creationId xmlns:a16="http://schemas.microsoft.com/office/drawing/2014/main" id="{CDC8ACBA-D2B5-4735-841A-4AD3D547D9CD}"/>
              </a:ext>
            </a:extLst>
          </p:cNvPr>
          <p:cNvSpPr>
            <a:spLocks xmlns:a="http://schemas.openxmlformats.org/drawingml/2006/main" noGrp="1"/>
          </p:cNvSpPr>
          <p:nvPr/>
        </p:nvSpPr>
        <p:spPr>
          <a:xfrm xmlns:a="http://schemas.openxmlformats.org/drawingml/2006/main">
            <a:off x="400050" y="5829300"/>
            <a:ext cx="1066800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E36A54"/>
                </a:solidFill>
                <a:latin typeface="Helvetica Neue"/>
                <a:ea typeface="Helvetica Neue"/>
                <a:cs typeface="Helvetica Neue"/>
              </a:defRPr>
            </a:pPr>
            <a:r>
              <a:t>Unusual behavior is not evidence of fraud, error, distress, or misconduct.</a:t>
            </a:r>
          </a:p>
        </p:txBody>
      </p:sp>
    </p:spTree>
    <p:extLst>
      <p:ext uri="{BB962C8B-B14F-4D97-AF65-F5344CB8AC3E}">
        <p14:creationId xmlns:p14="http://schemas.microsoft.com/office/powerpoint/2010/main" val="14760422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509CBDC-E863-4A93-B23C-DD7087790EC7}"/>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97716"/>
          </a:bodyPr>
          <a:lstStyle xmlns:a="http://schemas.openxmlformats.org/drawingml/2006/main"/>
          <a:p xmlns:a="http://schemas.openxmlformats.org/drawingml/2006/main">
            <a:pPr algn="l">
              <a:defRPr sz="3000" b="1" i="0">
                <a:solidFill>
                  <a:srgbClr val="101820"/>
                </a:solidFill>
                <a:latin typeface="Helvetica Neue"/>
                <a:ea typeface="Helvetica Neue"/>
                <a:cs typeface="Helvetica Neue"/>
              </a:defRPr>
            </a:pPr>
            <a:r>
              <a:t>The loan case improved on the baseline—but evidence is limited</a:t>
            </a:r>
          </a:p>
        </p:txBody>
      </p:sp>
      <p:sp>
        <p:nvSpPr>
          <p:cNvPr id="2" name="">
            <a:extLst xmlns:a="http://schemas.openxmlformats.org/drawingml/2006/main">
              <a:ext uri="{FF2B5EF4-FFF2-40B4-BE49-F238E27FC236}">
                <a16:creationId xmlns:a16="http://schemas.microsoft.com/office/drawing/2014/main" id="{DC0EBB08-E0CB-4447-81FF-4B645205A039}"/>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Source: Notebook 4; completed loans only and a fixed historical train/test split.</a:t>
            </a:r>
          </a:p>
        </p:txBody>
      </p:sp>
      <p:sp>
        <p:nvSpPr>
          <p:cNvPr id="3" name="">
            <a:extLst xmlns:a="http://schemas.openxmlformats.org/drawingml/2006/main">
              <a:ext uri="{FF2B5EF4-FFF2-40B4-BE49-F238E27FC236}">
                <a16:creationId xmlns:a16="http://schemas.microsoft.com/office/drawing/2014/main" id="{0E5D8EF1-1FE2-4A56-9E37-04CEBEDB4F9F}"/>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11</a:t>
            </a:r>
          </a:p>
        </p:txBody>
      </p:sp>
      <p:sp>
        <p:nvSpPr>
          <p:cNvPr id="4" name="">
            <a:extLst xmlns:a="http://schemas.openxmlformats.org/drawingml/2006/main">
              <a:ext uri="{FF2B5EF4-FFF2-40B4-BE49-F238E27FC236}">
                <a16:creationId xmlns:a16="http://schemas.microsoft.com/office/drawing/2014/main" id="{13E97177-82DA-441A-8F6D-3557B9B8BDC0}"/>
              </a:ext>
            </a:extLst>
          </p:cNvPr>
          <p:cNvSpPr>
            <a:spLocks xmlns:a="http://schemas.openxmlformats.org/drawingml/2006/main" noGrp="1"/>
          </p:cNvSpPr>
          <p:nvPr/>
        </p:nvSpPr>
        <p:spPr>
          <a:xfrm xmlns:a="http://schemas.openxmlformats.org/drawingml/2006/main">
            <a:off x="400050" y="1428750"/>
            <a:ext cx="6934200" cy="4343400"/>
          </a:xfrm>
          <a:prstGeom xmlns:a="http://schemas.openxmlformats.org/drawingml/2006/main" prst="rect">
            <a:avLst/>
          </a:prstGeom>
          <a:solidFill xmlns:a="http://schemas.openxmlformats.org/drawingml/2006/main">
            <a:srgbClr val="FFFFFF"/>
          </a:solidFill>
          <a:ln xmlns:a="http://schemas.openxmlformats.org/drawingml/2006/main" w="9525">
            <a:solidFill>
              <a:srgbClr val="CCD4D1"/>
            </a:solidFill>
            <a:prstDash val="solid"/>
          </a:ln>
        </p:spPr>
      </p:sp>
      <p:sp>
        <p:nvSpPr>
          <p:cNvPr id="5" name="">
            <a:extLst xmlns:a="http://schemas.openxmlformats.org/drawingml/2006/main">
              <a:ext uri="{FF2B5EF4-FFF2-40B4-BE49-F238E27FC236}">
                <a16:creationId xmlns:a16="http://schemas.microsoft.com/office/drawing/2014/main" id="{5CD82DD7-7290-4515-8B72-3A65D613D92E}"/>
              </a:ext>
            </a:extLst>
          </p:cNvPr>
          <p:cNvSpPr>
            <a:spLocks xmlns:a="http://schemas.openxmlformats.org/drawingml/2006/main" noGrp="1"/>
          </p:cNvSpPr>
          <p:nvPr/>
        </p:nvSpPr>
        <p:spPr>
          <a:xfrm xmlns:a="http://schemas.openxmlformats.org/drawingml/2006/main">
            <a:off x="7810500" y="1524000"/>
            <a:ext cx="33337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3D8DFF"/>
                </a:solidFill>
                <a:latin typeface="Helvetica Neue"/>
                <a:ea typeface="Helvetica Neue"/>
                <a:cs typeface="Helvetica Neue"/>
              </a:defRPr>
            </a:pPr>
            <a:r>
              <a:t>234 completed loans</a:t>
            </a:r>
          </a:p>
        </p:txBody>
      </p:sp>
      <p:sp>
        <p:nvSpPr>
          <p:cNvPr id="6" name="">
            <a:extLst xmlns:a="http://schemas.openxmlformats.org/drawingml/2006/main">
              <a:ext uri="{FF2B5EF4-FFF2-40B4-BE49-F238E27FC236}">
                <a16:creationId xmlns:a16="http://schemas.microsoft.com/office/drawing/2014/main" id="{1419D9E8-488C-4FDF-9CEA-2B8D51998A18}"/>
              </a:ext>
            </a:extLst>
          </p:cNvPr>
          <p:cNvSpPr>
            <a:spLocks xmlns:a="http://schemas.openxmlformats.org/drawingml/2006/main" noGrp="1"/>
          </p:cNvSpPr>
          <p:nvPr/>
        </p:nvSpPr>
        <p:spPr>
          <a:xfrm xmlns:a="http://schemas.openxmlformats.org/drawingml/2006/main">
            <a:off x="7810500" y="1962150"/>
            <a:ext cx="33337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60706D"/>
                </a:solidFill>
                <a:latin typeface="Helvetica Neue"/>
                <a:ea typeface="Helvetica Neue"/>
                <a:cs typeface="Helvetica Neue"/>
              </a:defRPr>
            </a:pPr>
            <a:r>
              <a:t>31 recorded problem loans</a:t>
            </a:r>
          </a:p>
        </p:txBody>
      </p:sp>
      <p:sp>
        <p:nvSpPr>
          <p:cNvPr id="7" name="">
            <a:extLst xmlns:a="http://schemas.openxmlformats.org/drawingml/2006/main">
              <a:ext uri="{FF2B5EF4-FFF2-40B4-BE49-F238E27FC236}">
                <a16:creationId xmlns:a16="http://schemas.microsoft.com/office/drawing/2014/main" id="{4161B112-9C5C-4E9E-A992-496F2C8CF0ED}"/>
              </a:ext>
            </a:extLst>
          </p:cNvPr>
          <p:cNvSpPr>
            <a:spLocks xmlns:a="http://schemas.openxmlformats.org/drawingml/2006/main" noGrp="1"/>
          </p:cNvSpPr>
          <p:nvPr/>
        </p:nvSpPr>
        <p:spPr>
          <a:xfrm xmlns:a="http://schemas.openxmlformats.org/drawingml/2006/main">
            <a:off x="7810500" y="2781300"/>
            <a:ext cx="32385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0A894"/>
                </a:solidFill>
                <a:latin typeface="Helvetica Neue"/>
                <a:ea typeface="Helvetica Neue"/>
                <a:cs typeface="Helvetica Neue"/>
              </a:defRPr>
            </a:pPr>
            <a:r>
              <a:t>LOGISTIC REGRESSION</a:t>
            </a:r>
          </a:p>
        </p:txBody>
      </p:sp>
      <p:sp>
        <p:nvSpPr>
          <p:cNvPr id="8" name="">
            <a:extLst xmlns:a="http://schemas.openxmlformats.org/drawingml/2006/main">
              <a:ext uri="{FF2B5EF4-FFF2-40B4-BE49-F238E27FC236}">
                <a16:creationId xmlns:a16="http://schemas.microsoft.com/office/drawing/2014/main" id="{B6655A5A-6052-49AD-B182-D08894596837}"/>
              </a:ext>
            </a:extLst>
          </p:cNvPr>
          <p:cNvSpPr>
            <a:spLocks xmlns:a="http://schemas.openxmlformats.org/drawingml/2006/main" noGrp="1"/>
          </p:cNvSpPr>
          <p:nvPr/>
        </p:nvSpPr>
        <p:spPr>
          <a:xfrm xmlns:a="http://schemas.openxmlformats.org/drawingml/2006/main">
            <a:off x="7810500" y="3105150"/>
            <a:ext cx="3048000" cy="1257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101820"/>
                </a:solidFill>
                <a:latin typeface="Helvetica Neue"/>
                <a:ea typeface="Helvetica Neue"/>
                <a:cs typeface="Helvetica Neue"/>
              </a:defRPr>
            </a:pPr>
            <a:r>
              <a:t>F1  0.55
PR-AUC  0.47
Recall  0.67</a:t>
            </a:r>
          </a:p>
        </p:txBody>
      </p:sp>
      <p:sp>
        <p:nvSpPr>
          <p:cNvPr id="9" name="">
            <a:extLst xmlns:a="http://schemas.openxmlformats.org/drawingml/2006/main">
              <a:ext uri="{FF2B5EF4-FFF2-40B4-BE49-F238E27FC236}">
                <a16:creationId xmlns:a16="http://schemas.microsoft.com/office/drawing/2014/main" id="{1ADF9A1F-6AF9-4F04-8DA3-619674D43C22}"/>
              </a:ext>
            </a:extLst>
          </p:cNvPr>
          <p:cNvSpPr>
            <a:spLocks xmlns:a="http://schemas.openxmlformats.org/drawingml/2006/main" noGrp="1"/>
          </p:cNvSpPr>
          <p:nvPr/>
        </p:nvSpPr>
        <p:spPr>
          <a:xfrm xmlns:a="http://schemas.openxmlformats.org/drawingml/2006/main">
            <a:off x="7810500" y="4629150"/>
            <a:ext cx="3333750" cy="952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10" name="">
            <a:extLst xmlns:a="http://schemas.openxmlformats.org/drawingml/2006/main">
              <a:ext uri="{FF2B5EF4-FFF2-40B4-BE49-F238E27FC236}">
                <a16:creationId xmlns:a16="http://schemas.microsoft.com/office/drawing/2014/main" id="{84B8A5D6-82AF-4B76-BD2A-374CACD43A7B}"/>
              </a:ext>
            </a:extLst>
          </p:cNvPr>
          <p:cNvSpPr>
            <a:spLocks xmlns:a="http://schemas.openxmlformats.org/drawingml/2006/main" noGrp="1"/>
          </p:cNvSpPr>
          <p:nvPr/>
        </p:nvSpPr>
        <p:spPr>
          <a:xfrm xmlns:a="http://schemas.openxmlformats.org/drawingml/2006/main">
            <a:off x="7810500" y="4914900"/>
            <a:ext cx="333375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101820"/>
                </a:solidFill>
                <a:latin typeface="Helvetica Neue"/>
                <a:ea typeface="Helvetica Neue"/>
                <a:cs typeface="Helvetica Neue"/>
              </a:defRPr>
            </a:pPr>
            <a:r>
              <a:t>On 71 test loans, the model identified 6 of 9 problem cases, produced 7 false alarms, and missed 3.</a:t>
            </a:r>
          </a:p>
        </p:txBody>
      </p:sp>
      <p:sp>
        <p:nvSpPr>
          <p:cNvPr id="11" name="">
            <a:extLst xmlns:a="http://schemas.openxmlformats.org/drawingml/2006/main">
              <a:ext uri="{FF2B5EF4-FFF2-40B4-BE49-F238E27FC236}">
                <a16:creationId xmlns:a16="http://schemas.microsoft.com/office/drawing/2014/main" id="{6082FD63-6B37-4EC1-A759-2D38B5C4A63F}"/>
              </a:ext>
            </a:extLst>
          </p:cNvPr>
          <p:cNvSpPr>
            <a:spLocks xmlns:a="http://schemas.openxmlformats.org/drawingml/2006/main" noGrp="1"/>
          </p:cNvSpPr>
          <p:nvPr/>
        </p:nvSpPr>
        <p:spPr>
          <a:xfrm xmlns:a="http://schemas.openxmlformats.org/drawingml/2006/main">
            <a:off x="7810500" y="5905500"/>
            <a:ext cx="3714750" cy="247650"/>
          </a:xfrm>
          <a:prstGeom xmlns:a="http://schemas.openxmlformats.org/drawingml/2006/main" prst="rect">
            <a:avLst/>
          </a:prstGeom>
        </p:spPr>
        <p:txBody>
          <a:bodyPr xmlns:a="http://schemas.openxmlformats.org/drawingml/2006/main" wrap="square" lIns="0" tIns="0" rIns="0" bIns="0" anchor="t">
            <a:normAutofit fontScale="78337"/>
          </a:bodyPr>
          <a:lstStyle xmlns:a="http://schemas.openxmlformats.org/drawingml/2006/main"/>
          <a:p xmlns:a="http://schemas.openxmlformats.org/drawingml/2006/main">
            <a:pPr algn="l">
              <a:defRPr sz="1125" b="1" i="0">
                <a:solidFill>
                  <a:srgbClr val="E36A54"/>
                </a:solidFill>
                <a:latin typeface="Helvetica Neue"/>
                <a:ea typeface="Helvetica Neue"/>
                <a:cs typeface="Helvetica Neue"/>
              </a:defRPr>
            </a:pPr>
            <a:r>
              <a:t>Course-method demonstration only—not a production lending model.</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4c3e14d63f142d0"/>
          <a:stretch xmlns:a="http://schemas.openxmlformats.org/drawingml/2006/main"/>
        </p:blipFill>
        <p:spPr>
          <a:xfrm xmlns:a="http://schemas.openxmlformats.org/drawingml/2006/main">
            <a:off x="628650" y="1993880"/>
            <a:ext cx="6477000" cy="3194090"/>
          </a:xfrm>
          <a:prstGeom xmlns:a="http://schemas.openxmlformats.org/drawingml/2006/main" prst="rect">
            <a:avLst/>
          </a:prstGeom>
        </p:spPr>
      </p:pic>
    </p:spTree>
    <p:extLst>
      <p:ext uri="{BB962C8B-B14F-4D97-AF65-F5344CB8AC3E}">
        <p14:creationId xmlns:p14="http://schemas.microsoft.com/office/powerpoint/2010/main" val="158965389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23B842-77A4-4E07-9BDF-E4278A2BF60F}"/>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101820"/>
                </a:solidFill>
                <a:latin typeface="Helvetica Neue"/>
                <a:ea typeface="Helvetica Neue"/>
                <a:cs typeface="Helvetica Neue"/>
              </a:defRPr>
            </a:pPr>
            <a:r>
              <a:t>Angular is one client of the FastAPI endpoints</a:t>
            </a:r>
          </a:p>
        </p:txBody>
      </p:sp>
      <p:sp>
        <p:nvSpPr>
          <p:cNvPr id="2" name="">
            <a:extLst xmlns:a="http://schemas.openxmlformats.org/drawingml/2006/main">
              <a:ext uri="{FF2B5EF4-FFF2-40B4-BE49-F238E27FC236}">
                <a16:creationId xmlns:a16="http://schemas.microsoft.com/office/drawing/2014/main" id="{AEC54E8C-2A84-4CAA-9A3C-B5334CD78671}"/>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Source: live local application and FastAPI OpenAPI schema.</a:t>
            </a:r>
          </a:p>
        </p:txBody>
      </p:sp>
      <p:sp>
        <p:nvSpPr>
          <p:cNvPr id="3" name="">
            <a:extLst xmlns:a="http://schemas.openxmlformats.org/drawingml/2006/main">
              <a:ext uri="{FF2B5EF4-FFF2-40B4-BE49-F238E27FC236}">
                <a16:creationId xmlns:a16="http://schemas.microsoft.com/office/drawing/2014/main" id="{40E6F0D6-1265-41B9-AD90-763FDD2DB070}"/>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12</a:t>
            </a:r>
          </a:p>
        </p:txBody>
      </p:sp>
      <p:sp>
        <p:nvSpPr>
          <p:cNvPr id="4" name="">
            <a:extLst xmlns:a="http://schemas.openxmlformats.org/drawingml/2006/main">
              <a:ext uri="{FF2B5EF4-FFF2-40B4-BE49-F238E27FC236}">
                <a16:creationId xmlns:a16="http://schemas.microsoft.com/office/drawing/2014/main" id="{7A227DBA-4471-4C7D-B15F-6D2B4EE4A906}"/>
              </a:ext>
            </a:extLst>
          </p:cNvPr>
          <p:cNvSpPr>
            <a:spLocks xmlns:a="http://schemas.openxmlformats.org/drawingml/2006/main" noGrp="1"/>
          </p:cNvSpPr>
          <p:nvPr/>
        </p:nvSpPr>
        <p:spPr>
          <a:xfrm xmlns:a="http://schemas.openxmlformats.org/drawingml/2006/main">
            <a:off x="400050" y="1714500"/>
            <a:ext cx="6477000" cy="3648075"/>
          </a:xfrm>
          <a:prstGeom xmlns:a="http://schemas.openxmlformats.org/drawingml/2006/main" prst="rect">
            <a:avLst/>
          </a:prstGeom>
          <a:solidFill xmlns:a="http://schemas.openxmlformats.org/drawingml/2006/main">
            <a:srgbClr val="FFFFFF"/>
          </a:solidFill>
          <a:ln xmlns:a="http://schemas.openxmlformats.org/drawingml/2006/main" w="9525">
            <a:solidFill>
              <a:srgbClr val="CCD4D1"/>
            </a:solidFill>
            <a:prstDash val="solid"/>
          </a:ln>
        </p:spPr>
      </p:sp>
      <p:sp>
        <p:nvSpPr>
          <p:cNvPr id="5" name="">
            <a:extLst xmlns:a="http://schemas.openxmlformats.org/drawingml/2006/main">
              <a:ext uri="{FF2B5EF4-FFF2-40B4-BE49-F238E27FC236}">
                <a16:creationId xmlns:a16="http://schemas.microsoft.com/office/drawing/2014/main" id="{6BB4A013-95D1-462A-9FAB-C6D0B26CFBD9}"/>
              </a:ext>
            </a:extLst>
          </p:cNvPr>
          <p:cNvSpPr>
            <a:spLocks xmlns:a="http://schemas.openxmlformats.org/drawingml/2006/main" noGrp="1"/>
          </p:cNvSpPr>
          <p:nvPr/>
        </p:nvSpPr>
        <p:spPr>
          <a:xfrm xmlns:a="http://schemas.openxmlformats.org/drawingml/2006/main">
            <a:off x="7239000" y="1428750"/>
            <a:ext cx="42862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0A894"/>
                </a:solidFill>
                <a:latin typeface="Helvetica Neue"/>
                <a:ea typeface="Helvetica Neue"/>
                <a:cs typeface="Helvetica Neue"/>
              </a:defRPr>
            </a:pPr>
            <a:r>
              <a:t>CURRENT READ-ONLY GET ENDPOINTS</a:t>
            </a:r>
          </a:p>
        </p:txBody>
      </p:sp>
      <p:sp>
        <p:nvSpPr>
          <p:cNvPr id="6" name="">
            <a:extLst xmlns:a="http://schemas.openxmlformats.org/drawingml/2006/main">
              <a:ext uri="{FF2B5EF4-FFF2-40B4-BE49-F238E27FC236}">
                <a16:creationId xmlns:a16="http://schemas.microsoft.com/office/drawing/2014/main" id="{3A52634F-938E-4B87-9806-0278AA0B2934}"/>
              </a:ext>
            </a:extLst>
          </p:cNvPr>
          <p:cNvSpPr>
            <a:spLocks xmlns:a="http://schemas.openxmlformats.org/drawingml/2006/main" noGrp="1"/>
          </p:cNvSpPr>
          <p:nvPr/>
        </p:nvSpPr>
        <p:spPr>
          <a:xfrm xmlns:a="http://schemas.openxmlformats.org/drawingml/2006/main">
            <a:off x="7239000" y="1790700"/>
            <a:ext cx="4286250" cy="3143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17324A"/>
                </a:solidFill>
                <a:latin typeface="Menlo"/>
                <a:ea typeface="Menlo"/>
                <a:cs typeface="Menlo"/>
              </a:defRPr>
            </a:pPr>
            <a:r>
              <a:t>/api/v1/health
/api/v1/summary
/api/v1/activity
/api/v1/segments
/api/v1/segments/points
/api/v1/segments/{segment_id}
/api/v1/outliers
/api/v1/service-rules
/api/v1/validation
/api/v1/figures/{filename}</a:t>
            </a:r>
          </a:p>
        </p:txBody>
      </p:sp>
      <p:sp>
        <p:nvSpPr>
          <p:cNvPr id="7" name="">
            <a:extLst xmlns:a="http://schemas.openxmlformats.org/drawingml/2006/main">
              <a:ext uri="{FF2B5EF4-FFF2-40B4-BE49-F238E27FC236}">
                <a16:creationId xmlns:a16="http://schemas.microsoft.com/office/drawing/2014/main" id="{C107DE3C-55F2-408D-8A46-EB41B80CE3D8}"/>
              </a:ext>
            </a:extLst>
          </p:cNvPr>
          <p:cNvSpPr>
            <a:spLocks xmlns:a="http://schemas.openxmlformats.org/drawingml/2006/main" noGrp="1"/>
          </p:cNvSpPr>
          <p:nvPr/>
        </p:nvSpPr>
        <p:spPr>
          <a:xfrm xmlns:a="http://schemas.openxmlformats.org/drawingml/2006/main">
            <a:off x="7239000" y="5048250"/>
            <a:ext cx="4286250" cy="952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8" name="">
            <a:extLst xmlns:a="http://schemas.openxmlformats.org/drawingml/2006/main">
              <a:ext uri="{FF2B5EF4-FFF2-40B4-BE49-F238E27FC236}">
                <a16:creationId xmlns:a16="http://schemas.microsoft.com/office/drawing/2014/main" id="{07F11CC4-FEF9-448A-A1D4-3D27BE1D6DE2}"/>
              </a:ext>
            </a:extLst>
          </p:cNvPr>
          <p:cNvSpPr>
            <a:spLocks xmlns:a="http://schemas.openxmlformats.org/drawingml/2006/main" noGrp="1"/>
          </p:cNvSpPr>
          <p:nvPr/>
        </p:nvSpPr>
        <p:spPr>
          <a:xfrm xmlns:a="http://schemas.openxmlformats.org/drawingml/2006/main">
            <a:off x="7239000" y="5276850"/>
            <a:ext cx="4286250" cy="590550"/>
          </a:xfrm>
          <a:prstGeom xmlns:a="http://schemas.openxmlformats.org/drawingml/2006/main" prst="rect">
            <a:avLst/>
          </a:prstGeom>
        </p:spPr>
        <p:txBody>
          <a:bodyPr xmlns:a="http://schemas.openxmlformats.org/drawingml/2006/main" wrap="square" lIns="0" tIns="0" rIns="0" bIns="0" anchor="t">
            <a:normAutofit fontScale="96850"/>
          </a:bodyPr>
          <a:lstStyle xmlns:a="http://schemas.openxmlformats.org/drawingml/2006/main"/>
          <a:p xmlns:a="http://schemas.openxmlformats.org/drawingml/2006/main">
            <a:pPr algn="l">
              <a:defRPr sz="1425" b="1" i="0">
                <a:solidFill>
                  <a:srgbClr val="101820"/>
                </a:solidFill>
                <a:latin typeface="Helvetica Neue"/>
                <a:ea typeface="Helvetica Neue"/>
                <a:cs typeface="Helvetica Neue"/>
              </a:defRPr>
            </a:pPr>
            <a:r>
              <a:t>Any other application can consume the same JSON endpoints when the API is deployed and reachable.</a:t>
            </a:r>
          </a:p>
        </p:txBody>
      </p:sp>
      <p:sp>
        <p:nvSpPr>
          <p:cNvPr id="9" name="">
            <a:extLst xmlns:a="http://schemas.openxmlformats.org/drawingml/2006/main">
              <a:ext uri="{FF2B5EF4-FFF2-40B4-BE49-F238E27FC236}">
                <a16:creationId xmlns:a16="http://schemas.microsoft.com/office/drawing/2014/main" id="{819FEE92-DC7E-4A0D-A5D9-8D15A6E5E375}"/>
              </a:ext>
            </a:extLst>
          </p:cNvPr>
          <p:cNvSpPr>
            <a:spLocks xmlns:a="http://schemas.openxmlformats.org/drawingml/2006/main" noGrp="1"/>
          </p:cNvSpPr>
          <p:nvPr/>
        </p:nvSpPr>
        <p:spPr>
          <a:xfrm xmlns:a="http://schemas.openxmlformats.org/drawingml/2006/main">
            <a:off x="7239000" y="5905500"/>
            <a:ext cx="4286250" cy="342900"/>
          </a:xfrm>
          <a:prstGeom xmlns:a="http://schemas.openxmlformats.org/drawingml/2006/main" prst="rect">
            <a:avLst/>
          </a:prstGeom>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defRPr sz="1200" b="0" i="0">
                <a:solidFill>
                  <a:srgbClr val="60706D"/>
                </a:solidFill>
                <a:latin typeface="Helvetica Neue"/>
                <a:ea typeface="Helvetica Neue"/>
                <a:cs typeface="Helvetica Neue"/>
              </a:defRPr>
            </a:pPr>
            <a:r>
              <a:t>Examples: another web app, mobile app, BI tool, notebook, or internal service.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6030ca2c68e4005"/>
          <a:srcRect xmlns:a="http://schemas.openxmlformats.org/drawingml/2006/main" l="0" t="49" r="0" b="49"/>
          <a:stretch xmlns:a="http://schemas.openxmlformats.org/drawingml/2006/main">
            <a:fillRect l="0" t="0" r="0" b="0"/>
          </a:stretch>
        </p:blipFill>
        <p:spPr>
          <a:xfrm xmlns:a="http://schemas.openxmlformats.org/drawingml/2006/main">
            <a:off x="409575" y="1724025"/>
            <a:ext cx="6457950" cy="3629025"/>
          </a:xfrm>
          <a:prstGeom xmlns:a="http://schemas.openxmlformats.org/drawingml/2006/main" prst="rect">
            <a:avLst/>
          </a:prstGeom>
        </p:spPr>
      </p:pic>
    </p:spTree>
    <p:extLst>
      <p:ext uri="{BB962C8B-B14F-4D97-AF65-F5344CB8AC3E}">
        <p14:creationId xmlns:p14="http://schemas.microsoft.com/office/powerpoint/2010/main" val="159632887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57872E2-D112-444E-9791-F98AD7CE73E4}"/>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99506"/>
          </a:bodyPr>
          <a:lstStyle xmlns:a="http://schemas.openxmlformats.org/drawingml/2006/main"/>
          <a:p xmlns:a="http://schemas.openxmlformats.org/drawingml/2006/main">
            <a:pPr algn="l">
              <a:defRPr sz="3300" b="1" i="0">
                <a:solidFill>
                  <a:srgbClr val="101820"/>
                </a:solidFill>
                <a:latin typeface="Helvetica Neue"/>
                <a:ea typeface="Helvetica Neue"/>
                <a:cs typeface="Helvetica Neue"/>
              </a:defRPr>
            </a:pPr>
            <a:r>
              <a:t>The dashboard makes segment results easier to interpret</a:t>
            </a:r>
          </a:p>
        </p:txBody>
      </p:sp>
      <p:sp>
        <p:nvSpPr>
          <p:cNvPr id="2" name="">
            <a:extLst xmlns:a="http://schemas.openxmlformats.org/drawingml/2006/main">
              <a:ext uri="{FF2B5EF4-FFF2-40B4-BE49-F238E27FC236}">
                <a16:creationId xmlns:a16="http://schemas.microsoft.com/office/drawing/2014/main" id="{2210A500-936D-471A-8C77-91DE76CF25C5}"/>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Source: live Angular segment explorer backed by Notebook 3 outputs.</a:t>
            </a:r>
          </a:p>
        </p:txBody>
      </p:sp>
      <p:sp>
        <p:nvSpPr>
          <p:cNvPr id="3" name="">
            <a:extLst xmlns:a="http://schemas.openxmlformats.org/drawingml/2006/main">
              <a:ext uri="{FF2B5EF4-FFF2-40B4-BE49-F238E27FC236}">
                <a16:creationId xmlns:a16="http://schemas.microsoft.com/office/drawing/2014/main" id="{811D10F5-973F-4AA6-9506-92BAF0E2949C}"/>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13</a:t>
            </a:r>
          </a:p>
        </p:txBody>
      </p:sp>
      <p:sp>
        <p:nvSpPr>
          <p:cNvPr id="4" name="">
            <a:extLst xmlns:a="http://schemas.openxmlformats.org/drawingml/2006/main">
              <a:ext uri="{FF2B5EF4-FFF2-40B4-BE49-F238E27FC236}">
                <a16:creationId xmlns:a16="http://schemas.microsoft.com/office/drawing/2014/main" id="{5CBCF59E-9F54-43C4-926F-078DB4077055}"/>
              </a:ext>
            </a:extLst>
          </p:cNvPr>
          <p:cNvSpPr>
            <a:spLocks xmlns:a="http://schemas.openxmlformats.org/drawingml/2006/main" noGrp="1"/>
          </p:cNvSpPr>
          <p:nvPr/>
        </p:nvSpPr>
        <p:spPr>
          <a:xfrm xmlns:a="http://schemas.openxmlformats.org/drawingml/2006/main">
            <a:off x="400050" y="1714500"/>
            <a:ext cx="7810500" cy="4391025"/>
          </a:xfrm>
          <a:prstGeom xmlns:a="http://schemas.openxmlformats.org/drawingml/2006/main" prst="rect">
            <a:avLst/>
          </a:prstGeom>
          <a:solidFill xmlns:a="http://schemas.openxmlformats.org/drawingml/2006/main">
            <a:srgbClr val="FFFFFF"/>
          </a:solidFill>
          <a:ln xmlns:a="http://schemas.openxmlformats.org/drawingml/2006/main" w="9525">
            <a:solidFill>
              <a:srgbClr val="CCD4D1"/>
            </a:solidFill>
            <a:prstDash val="solid"/>
          </a:ln>
        </p:spPr>
      </p:sp>
      <p:sp>
        <p:nvSpPr>
          <p:cNvPr id="5" name="">
            <a:extLst xmlns:a="http://schemas.openxmlformats.org/drawingml/2006/main">
              <a:ext uri="{FF2B5EF4-FFF2-40B4-BE49-F238E27FC236}">
                <a16:creationId xmlns:a16="http://schemas.microsoft.com/office/drawing/2014/main" id="{B843E10B-A934-4A6E-88D4-23C06C55328C}"/>
              </a:ext>
            </a:extLst>
          </p:cNvPr>
          <p:cNvSpPr>
            <a:spLocks xmlns:a="http://schemas.openxmlformats.org/drawingml/2006/main" noGrp="1"/>
          </p:cNvSpPr>
          <p:nvPr/>
        </p:nvSpPr>
        <p:spPr>
          <a:xfrm xmlns:a="http://schemas.openxmlformats.org/drawingml/2006/main">
            <a:off x="8572500" y="1657350"/>
            <a:ext cx="3048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0A894"/>
                </a:solidFill>
                <a:latin typeface="Helvetica Neue"/>
                <a:ea typeface="Helvetica Neue"/>
                <a:cs typeface="Helvetica Neue"/>
              </a:defRPr>
            </a:pPr>
            <a:r>
              <a:t>THE PAGE COMBINES</a:t>
            </a:r>
          </a:p>
        </p:txBody>
      </p:sp>
      <p:sp>
        <p:nvSpPr>
          <p:cNvPr id="6" name="">
            <a:extLst xmlns:a="http://schemas.openxmlformats.org/drawingml/2006/main">
              <a:ext uri="{FF2B5EF4-FFF2-40B4-BE49-F238E27FC236}">
                <a16:creationId xmlns:a16="http://schemas.microsoft.com/office/drawing/2014/main" id="{44FB0965-B481-4C00-AEE8-540886D845F6}"/>
              </a:ext>
            </a:extLst>
          </p:cNvPr>
          <p:cNvSpPr>
            <a:spLocks xmlns:a="http://schemas.openxmlformats.org/drawingml/2006/main" noGrp="1"/>
          </p:cNvSpPr>
          <p:nvPr/>
        </p:nvSpPr>
        <p:spPr>
          <a:xfrm xmlns:a="http://schemas.openxmlformats.org/drawingml/2006/main">
            <a:off x="8572500" y="2019300"/>
            <a:ext cx="3048000" cy="1809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101820"/>
                </a:solidFill>
                <a:latin typeface="Helvetica Neue"/>
                <a:ea typeface="Helvetica Neue"/>
                <a:cs typeface="Helvetica Neue"/>
              </a:defRPr>
            </a:pPr>
            <a:r>
              <a:t>• Segment population shares
• Original-unit activity metrics
• Service-use rates
• Plain-language profiles
• Interpretation limits</a:t>
            </a:r>
          </a:p>
        </p:txBody>
      </p:sp>
      <p:sp>
        <p:nvSpPr>
          <p:cNvPr id="7" name="">
            <a:extLst xmlns:a="http://schemas.openxmlformats.org/drawingml/2006/main">
              <a:ext uri="{FF2B5EF4-FFF2-40B4-BE49-F238E27FC236}">
                <a16:creationId xmlns:a16="http://schemas.microsoft.com/office/drawing/2014/main" id="{02BDAB14-12BE-449F-8088-BEA89B9A55AE}"/>
              </a:ext>
            </a:extLst>
          </p:cNvPr>
          <p:cNvSpPr>
            <a:spLocks xmlns:a="http://schemas.openxmlformats.org/drawingml/2006/main" noGrp="1"/>
          </p:cNvSpPr>
          <p:nvPr/>
        </p:nvSpPr>
        <p:spPr>
          <a:xfrm xmlns:a="http://schemas.openxmlformats.org/drawingml/2006/main">
            <a:off x="8572500" y="4000500"/>
            <a:ext cx="2952750" cy="952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8" name="">
            <a:extLst xmlns:a="http://schemas.openxmlformats.org/drawingml/2006/main">
              <a:ext uri="{FF2B5EF4-FFF2-40B4-BE49-F238E27FC236}">
                <a16:creationId xmlns:a16="http://schemas.microsoft.com/office/drawing/2014/main" id="{B134ECF4-FB04-48D5-96A2-9B9B6E0C138F}"/>
              </a:ext>
            </a:extLst>
          </p:cNvPr>
          <p:cNvSpPr>
            <a:spLocks xmlns:a="http://schemas.openxmlformats.org/drawingml/2006/main" noGrp="1"/>
          </p:cNvSpPr>
          <p:nvPr/>
        </p:nvSpPr>
        <p:spPr>
          <a:xfrm xmlns:a="http://schemas.openxmlformats.org/drawingml/2006/main">
            <a:off x="8572500" y="4267200"/>
            <a:ext cx="29527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3D8DFF"/>
                </a:solidFill>
                <a:latin typeface="Helvetica Neue"/>
                <a:ea typeface="Helvetica Neue"/>
                <a:cs typeface="Helvetica Neue"/>
              </a:defRPr>
            </a:pPr>
            <a:r>
              <a:t>DATA ENDPOINTS</a:t>
            </a:r>
          </a:p>
        </p:txBody>
      </p:sp>
      <p:sp>
        <p:nvSpPr>
          <p:cNvPr id="9" name="">
            <a:extLst xmlns:a="http://schemas.openxmlformats.org/drawingml/2006/main">
              <a:ext uri="{FF2B5EF4-FFF2-40B4-BE49-F238E27FC236}">
                <a16:creationId xmlns:a16="http://schemas.microsoft.com/office/drawing/2014/main" id="{654503F8-A4CF-45D2-BED9-3B11A3637C22}"/>
              </a:ext>
            </a:extLst>
          </p:cNvPr>
          <p:cNvSpPr>
            <a:spLocks xmlns:a="http://schemas.openxmlformats.org/drawingml/2006/main" noGrp="1"/>
          </p:cNvSpPr>
          <p:nvPr/>
        </p:nvSpPr>
        <p:spPr>
          <a:xfrm xmlns:a="http://schemas.openxmlformats.org/drawingml/2006/main">
            <a:off x="8572500" y="4629150"/>
            <a:ext cx="3048000" cy="1066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17324A"/>
                </a:solidFill>
                <a:latin typeface="Menlo"/>
                <a:ea typeface="Menlo"/>
                <a:cs typeface="Menlo"/>
              </a:defRPr>
            </a:pPr>
            <a:r>
              <a:t>/api/v1/segments
/api/v1/segments/{segment_id}
/api/v1/segments/points</a:t>
            </a:r>
          </a:p>
        </p:txBody>
      </p:sp>
      <p:sp>
        <p:nvSpPr>
          <p:cNvPr id="10" name="">
            <a:extLst xmlns:a="http://schemas.openxmlformats.org/drawingml/2006/main">
              <a:ext uri="{FF2B5EF4-FFF2-40B4-BE49-F238E27FC236}">
                <a16:creationId xmlns:a16="http://schemas.microsoft.com/office/drawing/2014/main" id="{648954AB-3AE6-4BB2-BB13-B67941C1EC28}"/>
              </a:ext>
            </a:extLst>
          </p:cNvPr>
          <p:cNvSpPr>
            <a:spLocks xmlns:a="http://schemas.openxmlformats.org/drawingml/2006/main" noGrp="1"/>
          </p:cNvSpPr>
          <p:nvPr/>
        </p:nvSpPr>
        <p:spPr>
          <a:xfrm xmlns:a="http://schemas.openxmlformats.org/drawingml/2006/main">
            <a:off x="8572500" y="5772150"/>
            <a:ext cx="3048000" cy="381000"/>
          </a:xfrm>
          <a:prstGeom xmlns:a="http://schemas.openxmlformats.org/drawingml/2006/main" prst="rect">
            <a:avLst/>
          </a:prstGeom>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defRPr sz="1275" b="1" i="0">
                <a:solidFill>
                  <a:srgbClr val="E36A54"/>
                </a:solidFill>
                <a:latin typeface="Helvetica Neue"/>
                <a:ea typeface="Helvetica Neue"/>
                <a:cs typeface="Helvetica Neue"/>
              </a:defRPr>
            </a:pPr>
            <a:r>
              <a:t>The page explains patterns; it does not assign risk scores.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03b35b422d844d3"/>
          <a:srcRect xmlns:a="http://schemas.openxmlformats.org/drawingml/2006/main" l="0" t="122" r="0" b="122"/>
          <a:stretch xmlns:a="http://schemas.openxmlformats.org/drawingml/2006/main">
            <a:fillRect l="0" t="0" r="0" b="0"/>
          </a:stretch>
        </p:blipFill>
        <p:spPr>
          <a:xfrm xmlns:a="http://schemas.openxmlformats.org/drawingml/2006/main">
            <a:off x="409575" y="1724025"/>
            <a:ext cx="7791450" cy="4371975"/>
          </a:xfrm>
          <a:prstGeom xmlns:a="http://schemas.openxmlformats.org/drawingml/2006/main" prst="rect">
            <a:avLst/>
          </a:prstGeom>
        </p:spPr>
      </p:pic>
    </p:spTree>
    <p:extLst>
      <p:ext uri="{BB962C8B-B14F-4D97-AF65-F5344CB8AC3E}">
        <p14:creationId xmlns:p14="http://schemas.microsoft.com/office/powerpoint/2010/main" val="307919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3C59CA-C15B-4783-89B2-929B0712678B}"/>
              </a:ext>
            </a:extLst>
          </p:cNvPr>
          <p:cNvSpPr>
            <a:spLocks xmlns:a="http://schemas.openxmlformats.org/drawingml/2006/main" noGrp="1"/>
          </p:cNvSpPr>
          <p:nvPr/>
        </p:nvSpPr>
        <p:spPr>
          <a:xfrm xmlns:a="http://schemas.openxmlformats.org/drawingml/2006/main">
            <a:off x="400050" y="381000"/>
            <a:ext cx="20955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20A894"/>
                </a:solidFill>
                <a:latin typeface="Helvetica Neue"/>
                <a:ea typeface="Helvetica Neue"/>
                <a:cs typeface="Helvetica Neue"/>
              </a:defRPr>
            </a:pPr>
            <a:r>
              <a:t>CONCLUSION</a:t>
            </a:r>
          </a:p>
        </p:txBody>
      </p:sp>
      <p:sp>
        <p:nvSpPr>
          <p:cNvPr id="2" name="">
            <a:extLst xmlns:a="http://schemas.openxmlformats.org/drawingml/2006/main">
              <a:ext uri="{FF2B5EF4-FFF2-40B4-BE49-F238E27FC236}">
                <a16:creationId xmlns:a16="http://schemas.microsoft.com/office/drawing/2014/main" id="{8312D253-0AED-4221-9FB5-6DE0D0F8FF6A}"/>
              </a:ext>
            </a:extLst>
          </p:cNvPr>
          <p:cNvSpPr>
            <a:spLocks xmlns:a="http://schemas.openxmlformats.org/drawingml/2006/main" noGrp="1"/>
          </p:cNvSpPr>
          <p:nvPr/>
        </p:nvSpPr>
        <p:spPr>
          <a:xfrm xmlns:a="http://schemas.openxmlformats.org/drawingml/2006/main">
            <a:off x="400050" y="1562100"/>
            <a:ext cx="9525000" cy="21907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5700" b="1" i="0">
                <a:solidFill>
                  <a:srgbClr val="101820"/>
                </a:solidFill>
                <a:latin typeface="Helvetica Neue"/>
                <a:ea typeface="Helvetica Neue"/>
                <a:cs typeface="Helvetica Neue"/>
              </a:defRPr>
            </a:pPr>
            <a:r>
              <a:t>Useful patterns,
bounded claims</a:t>
            </a:r>
          </a:p>
        </p:txBody>
      </p:sp>
      <p:sp>
        <p:nvSpPr>
          <p:cNvPr id="3" name="">
            <a:extLst xmlns:a="http://schemas.openxmlformats.org/drawingml/2006/main">
              <a:ext uri="{FF2B5EF4-FFF2-40B4-BE49-F238E27FC236}">
                <a16:creationId xmlns:a16="http://schemas.microsoft.com/office/drawing/2014/main" id="{693EDC01-3815-4EDD-9080-651A54E53A22}"/>
              </a:ext>
            </a:extLst>
          </p:cNvPr>
          <p:cNvSpPr>
            <a:spLocks xmlns:a="http://schemas.openxmlformats.org/drawingml/2006/main" noGrp="1"/>
          </p:cNvSpPr>
          <p:nvPr/>
        </p:nvSpPr>
        <p:spPr>
          <a:xfrm xmlns:a="http://schemas.openxmlformats.org/drawingml/2006/main">
            <a:off x="400050" y="4171950"/>
            <a:ext cx="161925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4" name="">
            <a:extLst xmlns:a="http://schemas.openxmlformats.org/drawingml/2006/main">
              <a:ext uri="{FF2B5EF4-FFF2-40B4-BE49-F238E27FC236}">
                <a16:creationId xmlns:a16="http://schemas.microsoft.com/office/drawing/2014/main" id="{4D0096DA-FB8D-4D10-8B14-11D850B7386A}"/>
              </a:ext>
            </a:extLst>
          </p:cNvPr>
          <p:cNvSpPr>
            <a:spLocks xmlns:a="http://schemas.openxmlformats.org/drawingml/2006/main" noGrp="1"/>
          </p:cNvSpPr>
          <p:nvPr/>
        </p:nvSpPr>
        <p:spPr>
          <a:xfrm xmlns:a="http://schemas.openxmlformats.org/drawingml/2006/main">
            <a:off x="400050" y="4610100"/>
            <a:ext cx="419100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101820"/>
                </a:solidFill>
                <a:latin typeface="Helvetica Neue"/>
                <a:ea typeface="Helvetica Neue"/>
                <a:cs typeface="Helvetica Neue"/>
              </a:defRPr>
            </a:pPr>
            <a:r>
              <a:t>Five stable behavioral segments</a:t>
            </a:r>
          </a:p>
        </p:txBody>
      </p:sp>
      <p:sp>
        <p:nvSpPr>
          <p:cNvPr id="5" name="">
            <a:extLst xmlns:a="http://schemas.openxmlformats.org/drawingml/2006/main">
              <a:ext uri="{FF2B5EF4-FFF2-40B4-BE49-F238E27FC236}">
                <a16:creationId xmlns:a16="http://schemas.microsoft.com/office/drawing/2014/main" id="{8933B8FD-6485-4BC2-8335-350E3883AA0E}"/>
              </a:ext>
            </a:extLst>
          </p:cNvPr>
          <p:cNvSpPr>
            <a:spLocks xmlns:a="http://schemas.openxmlformats.org/drawingml/2006/main" noGrp="1"/>
          </p:cNvSpPr>
          <p:nvPr/>
        </p:nvSpPr>
        <p:spPr>
          <a:xfrm xmlns:a="http://schemas.openxmlformats.org/drawingml/2006/main">
            <a:off x="400050" y="5067300"/>
            <a:ext cx="533400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101820"/>
                </a:solidFill>
                <a:latin typeface="Helvetica Neue"/>
                <a:ea typeface="Helvetica Neue"/>
                <a:cs typeface="Helvetica Neue"/>
              </a:defRPr>
            </a:pPr>
            <a:r>
              <a:t>Aggregate forecasts and service hypotheses</a:t>
            </a:r>
          </a:p>
        </p:txBody>
      </p:sp>
      <p:sp>
        <p:nvSpPr>
          <p:cNvPr id="6" name="">
            <a:extLst xmlns:a="http://schemas.openxmlformats.org/drawingml/2006/main">
              <a:ext uri="{FF2B5EF4-FFF2-40B4-BE49-F238E27FC236}">
                <a16:creationId xmlns:a16="http://schemas.microsoft.com/office/drawing/2014/main" id="{BEC88AA6-B466-482B-9D86-6C80167D4365}"/>
              </a:ext>
            </a:extLst>
          </p:cNvPr>
          <p:cNvSpPr>
            <a:spLocks xmlns:a="http://schemas.openxmlformats.org/drawingml/2006/main" noGrp="1"/>
          </p:cNvSpPr>
          <p:nvPr/>
        </p:nvSpPr>
        <p:spPr>
          <a:xfrm xmlns:a="http://schemas.openxmlformats.org/drawingml/2006/main">
            <a:off x="400050" y="5524500"/>
            <a:ext cx="533400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101820"/>
                </a:solidFill>
                <a:latin typeface="Helvetica Neue"/>
                <a:ea typeface="Helvetica Neue"/>
                <a:cs typeface="Helvetica Neue"/>
              </a:defRPr>
            </a:pPr>
            <a:r>
              <a:t>Curated results through FastAPI and Angular</a:t>
            </a:r>
          </a:p>
        </p:txBody>
      </p:sp>
      <p:sp>
        <p:nvSpPr>
          <p:cNvPr id="7" name="">
            <a:extLst xmlns:a="http://schemas.openxmlformats.org/drawingml/2006/main">
              <a:ext uri="{FF2B5EF4-FFF2-40B4-BE49-F238E27FC236}">
                <a16:creationId xmlns:a16="http://schemas.microsoft.com/office/drawing/2014/main" id="{ACF54F88-5664-4E8B-957F-333C0F32A024}"/>
              </a:ext>
            </a:extLst>
          </p:cNvPr>
          <p:cNvSpPr>
            <a:spLocks xmlns:a="http://schemas.openxmlformats.org/drawingml/2006/main" noGrp="1"/>
          </p:cNvSpPr>
          <p:nvPr/>
        </p:nvSpPr>
        <p:spPr>
          <a:xfrm xmlns:a="http://schemas.openxmlformats.org/drawingml/2006/main">
            <a:off x="6191250" y="4762500"/>
            <a:ext cx="4953000" cy="11811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175" b="1" i="0">
                <a:solidFill>
                  <a:srgbClr val="17324A"/>
                </a:solidFill>
                <a:latin typeface="Helvetica Neue"/>
                <a:ea typeface="Helvetica Neue"/>
                <a:cs typeface="Helvetica Neue"/>
              </a:defRPr>
            </a:pPr>
            <a:r>
              <a:t>Historical evidence supports investigation and planning—not automated customer treatment.</a:t>
            </a:r>
          </a:p>
        </p:txBody>
      </p:sp>
    </p:spTree>
    <p:extLst>
      <p:ext uri="{BB962C8B-B14F-4D97-AF65-F5344CB8AC3E}">
        <p14:creationId xmlns:p14="http://schemas.microsoft.com/office/powerpoint/2010/main" val="12079153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9129F5-D43E-4CAD-8AFC-0025F17EA85B}"/>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101820"/>
                </a:solidFill>
                <a:latin typeface="Helvetica Neue"/>
                <a:ea typeface="Helvetica Neue"/>
                <a:cs typeface="Helvetica Neue"/>
              </a:defRPr>
            </a:pPr>
            <a:r>
              <a:t>Backup — preprocessing mattered</a:t>
            </a:r>
          </a:p>
        </p:txBody>
      </p:sp>
      <p:sp>
        <p:nvSpPr>
          <p:cNvPr id="2" name="">
            <a:extLst xmlns:a="http://schemas.openxmlformats.org/drawingml/2006/main">
              <a:ext uri="{FF2B5EF4-FFF2-40B4-BE49-F238E27FC236}">
                <a16:creationId xmlns:a16="http://schemas.microsoft.com/office/drawing/2014/main" id="{20E851CD-E461-4920-AF65-7B66ACD9B706}"/>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Source: Notebook 4; repeated K-means fits and preprocessing sensitivity check.</a:t>
            </a:r>
          </a:p>
        </p:txBody>
      </p:sp>
      <p:sp>
        <p:nvSpPr>
          <p:cNvPr id="3" name="">
            <a:extLst xmlns:a="http://schemas.openxmlformats.org/drawingml/2006/main">
              <a:ext uri="{FF2B5EF4-FFF2-40B4-BE49-F238E27FC236}">
                <a16:creationId xmlns:a16="http://schemas.microsoft.com/office/drawing/2014/main" id="{BFE69D95-CD50-4A04-8D46-D2CDDFD90061}"/>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15</a:t>
            </a:r>
          </a:p>
        </p:txBody>
      </p:sp>
      <p:sp>
        <p:nvSpPr>
          <p:cNvPr id="4" name="">
            <a:extLst xmlns:a="http://schemas.openxmlformats.org/drawingml/2006/main">
              <a:ext uri="{FF2B5EF4-FFF2-40B4-BE49-F238E27FC236}">
                <a16:creationId xmlns:a16="http://schemas.microsoft.com/office/drawing/2014/main" id="{AD01953A-7647-46DE-B430-D85195AC5FF5}"/>
              </a:ext>
            </a:extLst>
          </p:cNvPr>
          <p:cNvSpPr>
            <a:spLocks xmlns:a="http://schemas.openxmlformats.org/drawingml/2006/main" noGrp="1"/>
          </p:cNvSpPr>
          <p:nvPr/>
        </p:nvSpPr>
        <p:spPr>
          <a:xfrm xmlns:a="http://schemas.openxmlformats.org/drawingml/2006/main">
            <a:off x="400050" y="1409700"/>
            <a:ext cx="11391900" cy="4476750"/>
          </a:xfrm>
          <a:prstGeom xmlns:a="http://schemas.openxmlformats.org/drawingml/2006/main" prst="rect">
            <a:avLst/>
          </a:prstGeom>
          <a:solidFill xmlns:a="http://schemas.openxmlformats.org/drawingml/2006/main">
            <a:srgbClr val="FFFFFF"/>
          </a:solidFill>
          <a:ln xmlns:a="http://schemas.openxmlformats.org/drawingml/2006/main" w="9525">
            <a:solidFill>
              <a:srgbClr val="CCD4D1"/>
            </a:solidFill>
            <a:prstDash val="solid"/>
          </a:ln>
        </p:spPr>
      </p:sp>
      <p:sp>
        <p:nvSpPr>
          <p:cNvPr id="5" name="">
            <a:extLst xmlns:a="http://schemas.openxmlformats.org/drawingml/2006/main">
              <a:ext uri="{FF2B5EF4-FFF2-40B4-BE49-F238E27FC236}">
                <a16:creationId xmlns:a16="http://schemas.microsoft.com/office/drawing/2014/main" id="{7BB956CD-F03C-431D-8489-97E15FFBD976}"/>
              </a:ext>
            </a:extLst>
          </p:cNvPr>
          <p:cNvSpPr>
            <a:spLocks xmlns:a="http://schemas.openxmlformats.org/drawingml/2006/main" noGrp="1"/>
          </p:cNvSpPr>
          <p:nvPr/>
        </p:nvSpPr>
        <p:spPr>
          <a:xfrm xmlns:a="http://schemas.openxmlformats.org/drawingml/2006/main">
            <a:off x="685800" y="5905500"/>
            <a:ext cx="102870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7324A"/>
                </a:solidFill>
                <a:latin typeface="Helvetica Neue"/>
                <a:ea typeface="Helvetica Neue"/>
                <a:cs typeface="Helvetica Neue"/>
              </a:defRPr>
            </a:pPr>
            <a:r>
              <a:t>Random-start ARI stayed near 1.0, while removing skewness treatment reduced ARI to 0.469 and produced a two-account cluster.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0ffccd17af1481d"/>
          <a:stretch xmlns:a="http://schemas.openxmlformats.org/drawingml/2006/main"/>
        </p:blipFill>
        <p:spPr>
          <a:xfrm xmlns:a="http://schemas.openxmlformats.org/drawingml/2006/main">
            <a:off x="2103587" y="1657350"/>
            <a:ext cx="7984825" cy="4000500"/>
          </a:xfrm>
          <a:prstGeom xmlns:a="http://schemas.openxmlformats.org/drawingml/2006/main" prst="rect">
            <a:avLst/>
          </a:prstGeom>
        </p:spPr>
      </p:pic>
    </p:spTree>
    <p:extLst>
      <p:ext uri="{BB962C8B-B14F-4D97-AF65-F5344CB8AC3E}">
        <p14:creationId xmlns:p14="http://schemas.microsoft.com/office/powerpoint/2010/main" val="5825914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489257A-3D88-4704-A382-AAD38AB4779B}"/>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01820"/>
                </a:solidFill>
                <a:latin typeface="Helvetica Neue"/>
                <a:ea typeface="Helvetica Neue"/>
                <a:cs typeface="Helvetica Neue"/>
              </a:defRPr>
            </a:pPr>
            <a:r>
              <a:t>Backup — test errors and coefficients clarify the loan model</a:t>
            </a:r>
          </a:p>
        </p:txBody>
      </p:sp>
      <p:sp>
        <p:nvSpPr>
          <p:cNvPr id="2" name="">
            <a:extLst xmlns:a="http://schemas.openxmlformats.org/drawingml/2006/main">
              <a:ext uri="{FF2B5EF4-FFF2-40B4-BE49-F238E27FC236}">
                <a16:creationId xmlns:a16="http://schemas.microsoft.com/office/drawing/2014/main" id="{D8FA40CC-E38B-44C3-895D-CA2D5A8AD54F}"/>
              </a:ext>
            </a:extLst>
          </p:cNvPr>
          <p:cNvSpPr>
            <a:spLocks xmlns:a="http://schemas.openxmlformats.org/drawingml/2006/main" noGrp="1"/>
          </p:cNvSpPr>
          <p:nvPr/>
        </p:nvSpPr>
        <p:spPr>
          <a:xfrm xmlns:a="http://schemas.openxmlformats.org/drawingml/2006/main">
            <a:off x="400050" y="6343650"/>
            <a:ext cx="9525000" cy="2095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863" b="0" i="0">
                <a:solidFill>
                  <a:srgbClr val="60706D"/>
                </a:solidFill>
                <a:latin typeface="Helvetica Neue"/>
                <a:ea typeface="Helvetica Neue"/>
                <a:cs typeface="Helvetica Neue"/>
              </a:defRPr>
            </a:pPr>
            <a:r>
              <a:t>Source: Notebook 4; 71-loan historical test set.</a:t>
            </a:r>
          </a:p>
        </p:txBody>
      </p:sp>
      <p:sp>
        <p:nvSpPr>
          <p:cNvPr id="3" name="">
            <a:extLst xmlns:a="http://schemas.openxmlformats.org/drawingml/2006/main">
              <a:ext uri="{FF2B5EF4-FFF2-40B4-BE49-F238E27FC236}">
                <a16:creationId xmlns:a16="http://schemas.microsoft.com/office/drawing/2014/main" id="{6B050AE7-AD58-4320-BF8B-45B2A03EABAD}"/>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16</a:t>
            </a:r>
          </a:p>
        </p:txBody>
      </p:sp>
      <p:sp>
        <p:nvSpPr>
          <p:cNvPr id="4" name="">
            <a:extLst xmlns:a="http://schemas.openxmlformats.org/drawingml/2006/main">
              <a:ext uri="{FF2B5EF4-FFF2-40B4-BE49-F238E27FC236}">
                <a16:creationId xmlns:a16="http://schemas.microsoft.com/office/drawing/2014/main" id="{41A05356-5F6F-4CC9-A1C9-F221F1D8C211}"/>
              </a:ext>
            </a:extLst>
          </p:cNvPr>
          <p:cNvSpPr>
            <a:spLocks xmlns:a="http://schemas.openxmlformats.org/drawingml/2006/main" noGrp="1"/>
          </p:cNvSpPr>
          <p:nvPr/>
        </p:nvSpPr>
        <p:spPr>
          <a:xfrm xmlns:a="http://schemas.openxmlformats.org/drawingml/2006/main">
            <a:off x="400050" y="1409700"/>
            <a:ext cx="5143500" cy="4648200"/>
          </a:xfrm>
          <a:prstGeom xmlns:a="http://schemas.openxmlformats.org/drawingml/2006/main" prst="rect">
            <a:avLst/>
          </a:prstGeom>
          <a:solidFill xmlns:a="http://schemas.openxmlformats.org/drawingml/2006/main">
            <a:srgbClr val="FFFFFF"/>
          </a:solidFill>
          <a:ln xmlns:a="http://schemas.openxmlformats.org/drawingml/2006/main" w="9525">
            <a:solidFill>
              <a:srgbClr val="CCD4D1"/>
            </a:solidFill>
            <a:prstDash val="solid"/>
          </a:ln>
        </p:spPr>
      </p:sp>
      <p:sp>
        <p:nvSpPr>
          <p:cNvPr id="5" name="">
            <a:extLst xmlns:a="http://schemas.openxmlformats.org/drawingml/2006/main">
              <a:ext uri="{FF2B5EF4-FFF2-40B4-BE49-F238E27FC236}">
                <a16:creationId xmlns:a16="http://schemas.microsoft.com/office/drawing/2014/main" id="{25D4EB1F-242E-4145-A3FC-6D2B7BC2804F}"/>
              </a:ext>
            </a:extLst>
          </p:cNvPr>
          <p:cNvSpPr>
            <a:spLocks xmlns:a="http://schemas.openxmlformats.org/drawingml/2006/main" noGrp="1"/>
          </p:cNvSpPr>
          <p:nvPr/>
        </p:nvSpPr>
        <p:spPr>
          <a:xfrm xmlns:a="http://schemas.openxmlformats.org/drawingml/2006/main">
            <a:off x="6019800" y="1562100"/>
            <a:ext cx="2667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3D8DFF"/>
                </a:solidFill>
                <a:latin typeface="Helvetica Neue"/>
                <a:ea typeface="Helvetica Neue"/>
                <a:cs typeface="Helvetica Neue"/>
              </a:defRPr>
            </a:pPr>
            <a:r>
              <a:t>TEST OUTCOMES</a:t>
            </a:r>
          </a:p>
        </p:txBody>
      </p:sp>
      <p:sp>
        <p:nvSpPr>
          <p:cNvPr id="6" name="">
            <a:extLst xmlns:a="http://schemas.openxmlformats.org/drawingml/2006/main">
              <a:ext uri="{FF2B5EF4-FFF2-40B4-BE49-F238E27FC236}">
                <a16:creationId xmlns:a16="http://schemas.microsoft.com/office/drawing/2014/main" id="{35C6621B-CE37-4D51-8FAA-A72C6C2FED44}"/>
              </a:ext>
            </a:extLst>
          </p:cNvPr>
          <p:cNvSpPr>
            <a:spLocks xmlns:a="http://schemas.openxmlformats.org/drawingml/2006/main" noGrp="1"/>
          </p:cNvSpPr>
          <p:nvPr/>
        </p:nvSpPr>
        <p:spPr>
          <a:xfrm xmlns:a="http://schemas.openxmlformats.org/drawingml/2006/main">
            <a:off x="6019800" y="1924050"/>
            <a:ext cx="3429000" cy="1314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101820"/>
                </a:solidFill>
                <a:latin typeface="Helvetica Neue"/>
                <a:ea typeface="Helvetica Neue"/>
                <a:cs typeface="Helvetica Neue"/>
              </a:defRPr>
            </a:pPr>
            <a:r>
              <a:t>55 correct non-problem
6 correct problem
7 false alarms
3 missed problems</a:t>
            </a:r>
          </a:p>
        </p:txBody>
      </p:sp>
      <p:sp>
        <p:nvSpPr>
          <p:cNvPr id="7" name="">
            <a:extLst xmlns:a="http://schemas.openxmlformats.org/drawingml/2006/main">
              <a:ext uri="{FF2B5EF4-FFF2-40B4-BE49-F238E27FC236}">
                <a16:creationId xmlns:a16="http://schemas.microsoft.com/office/drawing/2014/main" id="{8DCF1FDE-762D-432B-A06D-AAB631F58714}"/>
              </a:ext>
            </a:extLst>
          </p:cNvPr>
          <p:cNvSpPr>
            <a:spLocks xmlns:a="http://schemas.openxmlformats.org/drawingml/2006/main" noGrp="1"/>
          </p:cNvSpPr>
          <p:nvPr/>
        </p:nvSpPr>
        <p:spPr>
          <a:xfrm xmlns:a="http://schemas.openxmlformats.org/drawingml/2006/main">
            <a:off x="6019800" y="3524250"/>
            <a:ext cx="5181600" cy="9525"/>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8" name="">
            <a:extLst xmlns:a="http://schemas.openxmlformats.org/drawingml/2006/main">
              <a:ext uri="{FF2B5EF4-FFF2-40B4-BE49-F238E27FC236}">
                <a16:creationId xmlns:a16="http://schemas.microsoft.com/office/drawing/2014/main" id="{5E68FCF4-1AA5-45EA-A588-C54B49B12B7B}"/>
              </a:ext>
            </a:extLst>
          </p:cNvPr>
          <p:cNvSpPr>
            <a:spLocks xmlns:a="http://schemas.openxmlformats.org/drawingml/2006/main" noGrp="1"/>
          </p:cNvSpPr>
          <p:nvPr/>
        </p:nvSpPr>
        <p:spPr>
          <a:xfrm xmlns:a="http://schemas.openxmlformats.org/drawingml/2006/main">
            <a:off x="6019800" y="3810000"/>
            <a:ext cx="4000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0A894"/>
                </a:solidFill>
                <a:latin typeface="Helvetica Neue"/>
                <a:ea typeface="Helvetica Neue"/>
                <a:cs typeface="Helvetica Neue"/>
              </a:defRPr>
            </a:pPr>
            <a:r>
              <a:t>LARGEST ABSOLUTE COEFFICIENTS</a:t>
            </a:r>
          </a:p>
        </p:txBody>
      </p:sp>
      <p:sp>
        <p:nvSpPr>
          <p:cNvPr id="9" name="">
            <a:extLst xmlns:a="http://schemas.openxmlformats.org/drawingml/2006/main">
              <a:ext uri="{FF2B5EF4-FFF2-40B4-BE49-F238E27FC236}">
                <a16:creationId xmlns:a16="http://schemas.microsoft.com/office/drawing/2014/main" id="{D77E7D9D-D14E-483B-8DE9-25B8D317FA24}"/>
              </a:ext>
            </a:extLst>
          </p:cNvPr>
          <p:cNvSpPr>
            <a:spLocks xmlns:a="http://schemas.openxmlformats.org/drawingml/2006/main" noGrp="1"/>
          </p:cNvSpPr>
          <p:nvPr/>
        </p:nvSpPr>
        <p:spPr>
          <a:xfrm xmlns:a="http://schemas.openxmlformats.org/drawingml/2006/main">
            <a:off x="6019800" y="4171950"/>
            <a:ext cx="4476750" cy="1066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101820"/>
                </a:solidFill>
                <a:latin typeface="Helvetica Neue"/>
                <a:ea typeface="Helvetica Neue"/>
                <a:cs typeface="Helvetica Neue"/>
              </a:defRPr>
            </a:pPr>
            <a:r>
              <a:t>Negative-balance share  +1.861
Operation diversity  −1.481
Average balance  −0.956</a:t>
            </a:r>
          </a:p>
        </p:txBody>
      </p:sp>
      <p:sp>
        <p:nvSpPr>
          <p:cNvPr id="10" name="">
            <a:extLst xmlns:a="http://schemas.openxmlformats.org/drawingml/2006/main">
              <a:ext uri="{FF2B5EF4-FFF2-40B4-BE49-F238E27FC236}">
                <a16:creationId xmlns:a16="http://schemas.microsoft.com/office/drawing/2014/main" id="{6A15CD4E-8BAB-45E5-A5D8-3C91FA40D694}"/>
              </a:ext>
            </a:extLst>
          </p:cNvPr>
          <p:cNvSpPr>
            <a:spLocks xmlns:a="http://schemas.openxmlformats.org/drawingml/2006/main" noGrp="1"/>
          </p:cNvSpPr>
          <p:nvPr/>
        </p:nvSpPr>
        <p:spPr>
          <a:xfrm xmlns:a="http://schemas.openxmlformats.org/drawingml/2006/main">
            <a:off x="6019800" y="5505450"/>
            <a:ext cx="49530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E36A54"/>
                </a:solidFill>
                <a:latin typeface="Helvetica Neue"/>
                <a:ea typeface="Helvetica Neue"/>
                <a:cs typeface="Helvetica Neue"/>
              </a:defRPr>
            </a:pPr>
            <a:r>
              <a:t>Coefficients describe the fitted model; they do not establish cause.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7537ea3dfbc4bb9"/>
          <a:stretch xmlns:a="http://schemas.openxmlformats.org/drawingml/2006/main"/>
        </p:blipFill>
        <p:spPr>
          <a:xfrm xmlns:a="http://schemas.openxmlformats.org/drawingml/2006/main">
            <a:off x="685800" y="1756586"/>
            <a:ext cx="4572000" cy="3840127"/>
          </a:xfrm>
          <a:prstGeom xmlns:a="http://schemas.openxmlformats.org/drawingml/2006/main" prst="rect">
            <a:avLst/>
          </a:prstGeom>
        </p:spPr>
      </p:pic>
    </p:spTree>
    <p:extLst>
      <p:ext uri="{BB962C8B-B14F-4D97-AF65-F5344CB8AC3E}">
        <p14:creationId xmlns:p14="http://schemas.microsoft.com/office/powerpoint/2010/main" val="13693378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4BCF67-7561-4971-A985-091C72959C48}"/>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101820"/>
                </a:solidFill>
                <a:latin typeface="Helvetica Neue"/>
                <a:ea typeface="Helvetica Neue"/>
                <a:cs typeface="Helvetica Neue"/>
              </a:defRPr>
            </a:pPr>
            <a:r>
              <a:t>References and disclosure</a:t>
            </a:r>
          </a:p>
        </p:txBody>
      </p:sp>
      <p:sp>
        <p:nvSpPr>
          <p:cNvPr id="2" name="">
            <a:extLst xmlns:a="http://schemas.openxmlformats.org/drawingml/2006/main">
              <a:ext uri="{FF2B5EF4-FFF2-40B4-BE49-F238E27FC236}">
                <a16:creationId xmlns:a16="http://schemas.microsoft.com/office/drawing/2014/main" id="{EB2F3E8D-05CB-4A7A-8499-87B22A91EA8C}"/>
              </a:ext>
            </a:extLst>
          </p:cNvPr>
          <p:cNvSpPr>
            <a:spLocks xmlns:a="http://schemas.openxmlformats.org/drawingml/2006/main" noGrp="1"/>
          </p:cNvSpPr>
          <p:nvPr/>
        </p:nvSpPr>
        <p:spPr>
          <a:xfrm xmlns:a="http://schemas.openxmlformats.org/drawingml/2006/main">
            <a:off x="11010900" y="6267450"/>
            <a:ext cx="781050" cy="2476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1" i="0">
                <a:solidFill>
                  <a:srgbClr val="60706D"/>
                </a:solidFill>
                <a:latin typeface="Helvetica Neue"/>
                <a:ea typeface="Helvetica Neue"/>
                <a:cs typeface="Helvetica Neue"/>
              </a:defRPr>
            </a:pPr>
            <a:r>
              <a:t>17</a:t>
            </a:r>
          </a:p>
        </p:txBody>
      </p:sp>
      <p:sp>
        <p:nvSpPr>
          <p:cNvPr id="3" name="">
            <a:extLst xmlns:a="http://schemas.openxmlformats.org/drawingml/2006/main">
              <a:ext uri="{FF2B5EF4-FFF2-40B4-BE49-F238E27FC236}">
                <a16:creationId xmlns:a16="http://schemas.microsoft.com/office/drawing/2014/main" id="{937A52A3-9356-4F52-A24A-8F467CFB1362}"/>
              </a:ext>
            </a:extLst>
          </p:cNvPr>
          <p:cNvSpPr>
            <a:spLocks xmlns:a="http://schemas.openxmlformats.org/drawingml/2006/main" noGrp="1"/>
          </p:cNvSpPr>
          <p:nvPr/>
        </p:nvSpPr>
        <p:spPr>
          <a:xfrm xmlns:a="http://schemas.openxmlformats.org/drawingml/2006/main">
            <a:off x="400050" y="1428750"/>
            <a:ext cx="5334000" cy="409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101820"/>
                </a:solidFill>
                <a:latin typeface="Helvetica Neue"/>
                <a:ea typeface="Helvetica Neue"/>
                <a:cs typeface="Helvetica Neue"/>
              </a:defRPr>
            </a:pPr>
            <a:r>
              <a:t>DATA AND CLUSTER VALIDATION
CTU Prague. Financial — PKDD'99 Financial Dataset.
relational.fel.cvut.cz/dataset/Financial
Rousseeuw, P. J. (1987). Silhouettes: A graphical aid to the interpretation and validation of cluster analysis. Journal of Computational and Applied Mathematics, 20, 53–65. DOI: 10.1016/0377-0427(87)90125-7
Davies, D. L., &amp; Bouldin, D. W. (1979). A Cluster Separation Measure. IEEE TPAMI, 1(2), 224–227. DOI: 10.1109/TPAMI.1979.4766909</a:t>
            </a:r>
          </a:p>
        </p:txBody>
      </p:sp>
      <p:sp>
        <p:nvSpPr>
          <p:cNvPr id="4" name="">
            <a:extLst xmlns:a="http://schemas.openxmlformats.org/drawingml/2006/main">
              <a:ext uri="{FF2B5EF4-FFF2-40B4-BE49-F238E27FC236}">
                <a16:creationId xmlns:a16="http://schemas.microsoft.com/office/drawing/2014/main" id="{CD80841E-C471-4571-97B2-6B2C30C3E7D1}"/>
              </a:ext>
            </a:extLst>
          </p:cNvPr>
          <p:cNvSpPr>
            <a:spLocks xmlns:a="http://schemas.openxmlformats.org/drawingml/2006/main" noGrp="1"/>
          </p:cNvSpPr>
          <p:nvPr/>
        </p:nvSpPr>
        <p:spPr>
          <a:xfrm xmlns:a="http://schemas.openxmlformats.org/drawingml/2006/main">
            <a:off x="5943600" y="1428750"/>
            <a:ext cx="9525" cy="4095750"/>
          </a:xfrm>
          <a:prstGeom xmlns:a="http://schemas.openxmlformats.org/drawingml/2006/main" prst="rect">
            <a:avLst/>
          </a:prstGeom>
          <a:solidFill xmlns:a="http://schemas.openxmlformats.org/drawingml/2006/main">
            <a:srgbClr val="CCD4D1"/>
          </a:solidFill>
          <a:ln xmlns:a="http://schemas.openxmlformats.org/drawingml/2006/main" w="0">
            <a:solidFill>
              <a:srgbClr val="CCD4D1"/>
            </a:solidFill>
            <a:prstDash val="solid"/>
          </a:ln>
        </p:spPr>
      </p:sp>
      <p:sp>
        <p:nvSpPr>
          <p:cNvPr id="5" name="">
            <a:extLst xmlns:a="http://schemas.openxmlformats.org/drawingml/2006/main">
              <a:ext uri="{FF2B5EF4-FFF2-40B4-BE49-F238E27FC236}">
                <a16:creationId xmlns:a16="http://schemas.microsoft.com/office/drawing/2014/main" id="{5A81453C-FCC2-4EAF-8327-A30E19806AE6}"/>
              </a:ext>
            </a:extLst>
          </p:cNvPr>
          <p:cNvSpPr>
            <a:spLocks xmlns:a="http://schemas.openxmlformats.org/drawingml/2006/main" noGrp="1"/>
          </p:cNvSpPr>
          <p:nvPr/>
        </p:nvSpPr>
        <p:spPr>
          <a:xfrm xmlns:a="http://schemas.openxmlformats.org/drawingml/2006/main">
            <a:off x="6248400" y="1428750"/>
            <a:ext cx="5334000" cy="409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101820"/>
                </a:solidFill>
                <a:latin typeface="Helvetica Neue"/>
                <a:ea typeface="Helvetica Neue"/>
                <a:cs typeface="Helvetica Neue"/>
              </a:defRPr>
            </a:pPr>
            <a:r>
              <a:t>FORECASTING AND ASSOCIATION RULES
Hyndman, R. J., &amp; Athanasopoulos, G. (2021). Forecasting: Principles and Practice, 3rd ed. otexts.com/fpp3/
Agrawal, R., &amp; Srikant, R. (1994). Fast Algorithms for Mining Association Rules in Large Databases. VLDB, 487–499.
PROJECT REPOSITORY
github.com/antonsoss/transaction-intelligence-customer-analytics</a:t>
            </a:r>
          </a:p>
        </p:txBody>
      </p:sp>
      <p:sp>
        <p:nvSpPr>
          <p:cNvPr id="6" name="">
            <a:extLst xmlns:a="http://schemas.openxmlformats.org/drawingml/2006/main">
              <a:ext uri="{FF2B5EF4-FFF2-40B4-BE49-F238E27FC236}">
                <a16:creationId xmlns:a16="http://schemas.microsoft.com/office/drawing/2014/main" id="{B20330E5-D3CB-43B2-9D83-18FDC8C03C65}"/>
              </a:ext>
            </a:extLst>
          </p:cNvPr>
          <p:cNvSpPr>
            <a:spLocks xmlns:a="http://schemas.openxmlformats.org/drawingml/2006/main" noGrp="1"/>
          </p:cNvSpPr>
          <p:nvPr/>
        </p:nvSpPr>
        <p:spPr>
          <a:xfrm xmlns:a="http://schemas.openxmlformats.org/drawingml/2006/main">
            <a:off x="400050" y="5753100"/>
            <a:ext cx="11182350" cy="590550"/>
          </a:xfrm>
          <a:prstGeom xmlns:a="http://schemas.openxmlformats.org/drawingml/2006/main" prst="rect">
            <a:avLst/>
          </a:prstGeom>
          <a:solidFill xmlns:a="http://schemas.openxmlformats.org/drawingml/2006/main">
            <a:srgbClr val="F1F3F2"/>
          </a:solidFill>
          <a:ln xmlns:a="http://schemas.openxmlformats.org/drawingml/2006/main" w="0">
            <a:solidFill>
              <a:srgbClr val="F1F3F2"/>
            </a:solidFill>
            <a:prstDash val="solid"/>
          </a:ln>
        </p:spPr>
      </p:sp>
      <p:sp>
        <p:nvSpPr>
          <p:cNvPr id="7" name="">
            <a:extLst xmlns:a="http://schemas.openxmlformats.org/drawingml/2006/main">
              <a:ext uri="{FF2B5EF4-FFF2-40B4-BE49-F238E27FC236}">
                <a16:creationId xmlns:a16="http://schemas.microsoft.com/office/drawing/2014/main" id="{F5D5807E-25CF-40C9-ABB4-D91A8A185F13}"/>
              </a:ext>
            </a:extLst>
          </p:cNvPr>
          <p:cNvSpPr>
            <a:spLocks xmlns:a="http://schemas.openxmlformats.org/drawingml/2006/main" noGrp="1"/>
          </p:cNvSpPr>
          <p:nvPr/>
        </p:nvSpPr>
        <p:spPr>
          <a:xfrm xmlns:a="http://schemas.openxmlformats.org/drawingml/2006/main">
            <a:off x="609600" y="5895975"/>
            <a:ext cx="10763250" cy="3429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i="0">
                <a:solidFill>
                  <a:srgbClr val="17324A"/>
                </a:solidFill>
                <a:latin typeface="Helvetica Neue"/>
                <a:ea typeface="Helvetica Neue"/>
                <a:cs typeface="Helvetica Neue"/>
              </a:defRPr>
            </a:pPr>
            <a:r>
              <a:t>AI assistance disclosure: AI was used as an engineering productivity tool for brainstorming, troubleshooting, and documentation. The author remains responsible for all technical decisions, implementation, validation, and conclusions.</a:t>
            </a:r>
          </a:p>
        </p:txBody>
      </p:sp>
    </p:spTree>
    <p:extLst>
      <p:ext uri="{BB962C8B-B14F-4D97-AF65-F5344CB8AC3E}">
        <p14:creationId xmlns:p14="http://schemas.microsoft.com/office/powerpoint/2010/main" val="789971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2026-07-23T02:27:35.1700000Z</dcterms:created>
  <dcterms:modified xsi:type="dcterms:W3CDTF">2026-07-23T02:27:35.1700000Z</dcterms:modified>
</coreProperties>
</file>